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</p:sldIdLst>
  <p:sldSz cy="8229600" cx="14630400"/>
  <p:notesSz cx="8229600" cy="14630400"/>
  <p:embeddedFontLst>
    <p:embeddedFont>
      <p:font typeface="Inter"/>
      <p:regular r:id="rId51"/>
      <p:bold r:id="rId52"/>
      <p:italic r:id="rId53"/>
      <p:boldItalic r:id="rId54"/>
    </p:embeddedFont>
    <p:embeddedFont>
      <p:font typeface="Petrona"/>
      <p:regular r:id="rId55"/>
      <p:bold r:id="rId56"/>
      <p:italic r:id="rId57"/>
      <p:boldItalic r:id="rId5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font" Target="fonts/Inter-regular.fntdata"/><Relationship Id="rId50" Type="http://schemas.openxmlformats.org/officeDocument/2006/relationships/slide" Target="slides/slide46.xml"/><Relationship Id="rId53" Type="http://schemas.openxmlformats.org/officeDocument/2006/relationships/font" Target="fonts/Inter-italic.fntdata"/><Relationship Id="rId52" Type="http://schemas.openxmlformats.org/officeDocument/2006/relationships/font" Target="fonts/Inter-bold.fntdata"/><Relationship Id="rId11" Type="http://schemas.openxmlformats.org/officeDocument/2006/relationships/slide" Target="slides/slide7.xml"/><Relationship Id="rId55" Type="http://schemas.openxmlformats.org/officeDocument/2006/relationships/font" Target="fonts/Petrona-regular.fntdata"/><Relationship Id="rId10" Type="http://schemas.openxmlformats.org/officeDocument/2006/relationships/slide" Target="slides/slide6.xml"/><Relationship Id="rId54" Type="http://schemas.openxmlformats.org/officeDocument/2006/relationships/font" Target="fonts/Inter-boldItalic.fntdata"/><Relationship Id="rId13" Type="http://schemas.openxmlformats.org/officeDocument/2006/relationships/slide" Target="slides/slide9.xml"/><Relationship Id="rId57" Type="http://schemas.openxmlformats.org/officeDocument/2006/relationships/font" Target="fonts/Petrona-italic.fntdata"/><Relationship Id="rId12" Type="http://schemas.openxmlformats.org/officeDocument/2006/relationships/slide" Target="slides/slide8.xml"/><Relationship Id="rId56" Type="http://schemas.openxmlformats.org/officeDocument/2006/relationships/font" Target="fonts/Petrona-bold.fntdata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58" Type="http://schemas.openxmlformats.org/officeDocument/2006/relationships/font" Target="fonts/Petrona-boldItalic.fnt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5" name="Google Shape;30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e6db6238bc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6" name="Google Shape;326;g3e6db6238bc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g3e6db6238bc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e6db6238bc_0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1" name="Google Shape;341;g3e6db6238bc_0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g3e6db6238bc_0_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e6db6238bc_0_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8" name="Google Shape;398;g3e6db6238bc_0_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g3e6db6238bc_0_6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e6db6238bc_0_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1" name="Google Shape;421;g3e6db6238bc_0_8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g3e6db6238bc_0_8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e6db6238bc_0_9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3" name="Google Shape;433;g3e6db6238bc_0_9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g3e6db6238bc_0_9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e6db6238bc_0_1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1" name="Google Shape;511;g3e6db6238bc_0_17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g3e6db6238bc_0_17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3e6db6238bc_0_2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0" name="Google Shape;540;g3e6db6238bc_0_20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g3e6db6238bc_0_20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g3e6db6238bc_0_2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5" name="Google Shape;595;g3e6db6238bc_0_2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g3e6db6238bc_0_25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3e6db6238bc_0_2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7" name="Google Shape;617;g3e6db6238bc_0_27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g3e6db6238bc_0_27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3e6db6238bc_0_3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1" name="Google Shape;671;g3e6db6238bc_0_3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g3e6db6238bc_0_3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g3e6db6238bc_0_5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5" name="Google Shape;715;g3e6db6238bc_0_5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g3e6db6238bc_0_53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g3e6db6238bc_0_5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3" name="Google Shape;743;g3e6db6238bc_0_5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" name="Google Shape;744;g3e6db6238bc_0_56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3e6db6238bc_0_5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4" name="Google Shape;764;g3e6db6238bc_0_57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5" name="Google Shape;765;g3e6db6238bc_0_57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g3e6db6238bc_0_16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5" name="Google Shape;785;g3e6db6238bc_0_168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6" name="Google Shape;786;g3e6db6238bc_0_168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g3e6db6238bc_0_16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6" name="Google Shape;806;g3e6db6238bc_0_16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7" name="Google Shape;807;g3e6db6238bc_0_16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g3e6db6238bc_0_59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6" name="Google Shape;826;g3e6db6238bc_0_59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Part 1 of 2. Continue with the remaining three steps on the next card.</a:t>
            </a:r>
            <a:endParaRPr/>
          </a:p>
        </p:txBody>
      </p:sp>
      <p:sp>
        <p:nvSpPr>
          <p:cNvPr id="827" name="Google Shape;827;g3e6db6238bc_0_59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g3e6db6238bc_0_6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6" name="Google Shape;846;g3e6db6238bc_0_6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7" name="Google Shape;847;g3e6db6238bc_0_6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g3e6db6238bc_0_6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9" name="Google Shape;869;g3e6db6238bc_0_65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0" name="Google Shape;870;g3e6db6238bc_0_65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g3e6db6238bc_0_69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7" name="Google Shape;907;g3e6db6238bc_0_69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8" name="Google Shape;908;g3e6db6238bc_0_69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g3e6db6238bc_0_7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1" name="Google Shape;931;g3e6db6238bc_0_7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2" name="Google Shape;932;g3e6db6238bc_0_7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g3e6db6238bc_0_7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5" name="Google Shape;985;g3e6db6238bc_0_7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6" name="Google Shape;986;g3e6db6238bc_0_76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3e6db6238bc_0_8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1" name="Google Shape;1021;g3e6db6238bc_0_80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2" name="Google Shape;1022;g3e6db6238bc_0_80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6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g3e6db6238bc_0_8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8" name="Google Shape;1068;g3e6db6238bc_0_8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9" name="Google Shape;1069;g3e6db6238bc_0_84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4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g3e6db6238bc_0_89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6" name="Google Shape;1116;g3e6db6238bc_0_89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7" name="Google Shape;1117;g3e6db6238bc_0_89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9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g3e6db6238bc_0_9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1" name="Google Shape;1141;g3e6db6238bc_0_9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2" name="Google Shape;1142;g3e6db6238bc_0_9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5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Google Shape;1156;g3e6db6238bc_0_9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7" name="Google Shape;1157;g3e6db6238bc_0_9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8" name="Google Shape;1158;g3e6db6238bc_0_93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g3e6db6238bc_0_9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3" name="Google Shape;1173;g3e6db6238bc_0_9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4" name="Google Shape;1174;g3e6db6238bc_0_94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4" name="Shape 1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g3e6db6238bc_0_10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6" name="Google Shape;1206;g3e6db6238bc_0_10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7" name="Google Shape;1207;g3e6db6238bc_0_10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2" name="Shape 1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3" name="Google Shape;1243;g3e6db6238bc_0_10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4" name="Google Shape;1244;g3e6db6238bc_0_10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5" name="Google Shape;1245;g3e6db6238bc_0_105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1" name="Shape 1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Google Shape;1322;g3e6db6238bc_0_11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3" name="Google Shape;1323;g3e6db6238bc_0_11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4" name="Google Shape;1324;g3e6db6238bc_0_113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3" name="Shape 1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4" name="Google Shape;1404;g3e6db6238bc_0_12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5" name="Google Shape;1405;g3e6db6238bc_0_12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6" name="Google Shape;1406;g3e6db6238bc_0_12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7" name="Shape 1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8" name="Google Shape;1478;g3e6db6238bc_0_12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9" name="Google Shape;1479;g3e6db6238bc_0_128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0" name="Google Shape;1480;g3e6db6238bc_0_128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6" name="Shape 1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7" name="Google Shape;1547;g3e6db6238bc_0_13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8" name="Google Shape;1548;g3e6db6238bc_0_13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9" name="Google Shape;1549;g3e6db6238bc_0_135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8" name="Shape 1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9" name="Google Shape;1599;g3e6db6238bc_0_14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0" name="Google Shape;1600;g3e6db6238bc_0_140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1" name="Google Shape;1601;g3e6db6238bc_0_140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8" name="Shape 1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9" name="Google Shape;1629;g3e6db6238bc_0_14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0" name="Google Shape;1630;g3e6db6238bc_0_14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1" name="Google Shape;1631;g3e6db6238bc_0_143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8" name="Shape 1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9" name="Google Shape;1709;g3e6db6238bc_0_150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0" name="Google Shape;1710;g3e6db6238bc_0_150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1" name="Google Shape;1711;g3e6db6238bc_0_150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4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4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4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4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5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4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5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4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5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4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5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4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4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4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5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bg>
      <p:bgPr>
        <a:solidFill>
          <a:srgbClr val="000000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2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bg>
      <p:bgPr>
        <a:solidFill>
          <a:srgbClr val="000000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" name="Google Shape;15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3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bg>
      <p:bgPr>
        <a:solidFill>
          <a:srgbClr val="000000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" name="Google Shape;19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4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bg>
      <p:bgPr>
        <a:solidFill>
          <a:srgbClr val="000000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3" name="Google Shape;23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5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bg>
      <p:bgPr>
        <a:solidFill>
          <a:srgbClr val="000000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7" name="Google Shape;27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6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bg>
      <p:bgPr>
        <a:solidFill>
          <a:srgbClr val="000000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1" name="Google Shape;31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7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bg>
      <p:bgPr>
        <a:solidFill>
          <a:srgbClr val="000000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5" name="Google Shape;35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8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bg>
      <p:bgPr>
        <a:solidFill>
          <a:srgbClr val="000000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9" name="Google Shape;39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9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bg>
      <p:bgPr>
        <a:solidFill>
          <a:srgbClr val="000000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3" name="Google Shape;43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" name="Google Shape;45;p10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bg>
      <p:bgPr>
        <a:solidFill>
          <a:srgbClr val="000000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7" name="Google Shape;47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" name="Google Shape;49;p11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Relationship Id="rId4" Type="http://schemas.openxmlformats.org/officeDocument/2006/relationships/image" Target="../media/image15.png"/><Relationship Id="rId9" Type="http://schemas.openxmlformats.org/officeDocument/2006/relationships/image" Target="../media/image17.png"/><Relationship Id="rId5" Type="http://schemas.openxmlformats.org/officeDocument/2006/relationships/image" Target="../media/image11.png"/><Relationship Id="rId6" Type="http://schemas.openxmlformats.org/officeDocument/2006/relationships/image" Target="../media/image13.png"/><Relationship Id="rId7" Type="http://schemas.openxmlformats.org/officeDocument/2006/relationships/image" Target="../media/image10.png"/><Relationship Id="rId8" Type="http://schemas.openxmlformats.org/officeDocument/2006/relationships/image" Target="../media/image2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9.png"/><Relationship Id="rId4" Type="http://schemas.openxmlformats.org/officeDocument/2006/relationships/image" Target="../media/image25.png"/><Relationship Id="rId5" Type="http://schemas.openxmlformats.org/officeDocument/2006/relationships/image" Target="../media/image2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png"/><Relationship Id="rId4" Type="http://schemas.openxmlformats.org/officeDocument/2006/relationships/image" Target="../media/image27.png"/><Relationship Id="rId5" Type="http://schemas.openxmlformats.org/officeDocument/2006/relationships/image" Target="../media/image32.png"/><Relationship Id="rId6" Type="http://schemas.openxmlformats.org/officeDocument/2006/relationships/image" Target="../media/image34.png"/><Relationship Id="rId7" Type="http://schemas.openxmlformats.org/officeDocument/2006/relationships/image" Target="../media/image39.png"/><Relationship Id="rId8" Type="http://schemas.openxmlformats.org/officeDocument/2006/relationships/image" Target="../media/image3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0.png"/><Relationship Id="rId4" Type="http://schemas.openxmlformats.org/officeDocument/2006/relationships/image" Target="../media/image2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37.png"/><Relationship Id="rId6" Type="http://schemas.openxmlformats.org/officeDocument/2006/relationships/image" Target="../media/image4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0.png"/><Relationship Id="rId4" Type="http://schemas.openxmlformats.org/officeDocument/2006/relationships/image" Target="../media/image3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0.png"/><Relationship Id="rId4" Type="http://schemas.openxmlformats.org/officeDocument/2006/relationships/image" Target="../media/image52.png"/><Relationship Id="rId5" Type="http://schemas.openxmlformats.org/officeDocument/2006/relationships/image" Target="../media/image5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7.png"/><Relationship Id="rId4" Type="http://schemas.openxmlformats.org/officeDocument/2006/relationships/image" Target="../media/image4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4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8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0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5.png"/><Relationship Id="rId4" Type="http://schemas.openxmlformats.org/officeDocument/2006/relationships/image" Target="../media/image52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52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55.png"/><Relationship Id="rId4" Type="http://schemas.openxmlformats.org/officeDocument/2006/relationships/image" Target="../media/image49.png"/><Relationship Id="rId5" Type="http://schemas.openxmlformats.org/officeDocument/2006/relationships/image" Target="../media/image60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CCE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7" name="Google Shape;5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247" y="550902"/>
            <a:ext cx="5345787" cy="7127796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3"/>
          <p:cNvSpPr/>
          <p:nvPr/>
        </p:nvSpPr>
        <p:spPr>
          <a:xfrm>
            <a:off x="6243042" y="645438"/>
            <a:ext cx="7630716" cy="922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Petrona"/>
              <a:buNone/>
            </a:pPr>
            <a:r>
              <a:rPr b="1" i="0" lang="en-US" sz="290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Multi-Sensor Fusion for Mobile Robot Localisation Using Extended Kalman Filter</a:t>
            </a:r>
            <a:endParaRPr b="0" i="0" sz="2900" u="none" cap="none" strike="noStrike"/>
          </a:p>
        </p:txBody>
      </p:sp>
      <p:sp>
        <p:nvSpPr>
          <p:cNvPr id="59" name="Google Shape;59;p13"/>
          <p:cNvSpPr/>
          <p:nvPr/>
        </p:nvSpPr>
        <p:spPr>
          <a:xfrm>
            <a:off x="6243042" y="1697950"/>
            <a:ext cx="7630716" cy="181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Dual-EKF Architecture · GPS · IMU · Wheel Odometry · Visual Odometry · LiDAR Odometry</a:t>
            </a:r>
            <a:endParaRPr b="0" i="0" sz="1100" u="none" cap="none" strike="noStrike"/>
          </a:p>
        </p:txBody>
      </p:sp>
      <p:sp>
        <p:nvSpPr>
          <p:cNvPr id="60" name="Google Shape;60;p13"/>
          <p:cNvSpPr/>
          <p:nvPr/>
        </p:nvSpPr>
        <p:spPr>
          <a:xfrm>
            <a:off x="6243042" y="1977747"/>
            <a:ext cx="974169" cy="245150"/>
          </a:xfrm>
          <a:prstGeom prst="roundRect">
            <a:avLst>
              <a:gd fmla="val 19260" name="adj"/>
            </a:avLst>
          </a:prstGeom>
          <a:noFill/>
          <a:ln cap="flat" cmpd="sng" w="9525">
            <a:solidFill>
              <a:srgbClr val="007E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3"/>
          <p:cNvSpPr/>
          <p:nvPr/>
        </p:nvSpPr>
        <p:spPr>
          <a:xfrm>
            <a:off x="6334958" y="2027515"/>
            <a:ext cx="790337" cy="1456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007EBD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007EBD"/>
                </a:solidFill>
                <a:latin typeface="Inter"/>
                <a:ea typeface="Inter"/>
                <a:cs typeface="Inter"/>
                <a:sym typeface="Inter"/>
              </a:rPr>
              <a:t>ANISH KUMAR</a:t>
            </a:r>
            <a:endParaRPr b="0" i="0" sz="850" u="none" cap="none" strike="noStrike"/>
          </a:p>
        </p:txBody>
      </p:sp>
      <p:sp>
        <p:nvSpPr>
          <p:cNvPr id="62" name="Google Shape;62;p13"/>
          <p:cNvSpPr/>
          <p:nvPr/>
        </p:nvSpPr>
        <p:spPr>
          <a:xfrm>
            <a:off x="7287458" y="1977747"/>
            <a:ext cx="1078706" cy="245150"/>
          </a:xfrm>
          <a:prstGeom prst="roundRect">
            <a:avLst>
              <a:gd fmla="val 19260" name="adj"/>
            </a:avLst>
          </a:prstGeom>
          <a:noFill/>
          <a:ln cap="flat" cmpd="sng" w="9525">
            <a:solidFill>
              <a:srgbClr val="007E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3"/>
          <p:cNvSpPr/>
          <p:nvPr/>
        </p:nvSpPr>
        <p:spPr>
          <a:xfrm>
            <a:off x="7379375" y="2027515"/>
            <a:ext cx="894874" cy="1456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007EBD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007EBD"/>
                </a:solidFill>
                <a:latin typeface="Inter"/>
                <a:ea typeface="Inter"/>
                <a:cs typeface="Inter"/>
                <a:sym typeface="Inter"/>
              </a:rPr>
              <a:t>SACHIT BANSAL</a:t>
            </a:r>
            <a:endParaRPr b="0" i="0" sz="850" u="none" cap="none" strike="noStrike"/>
          </a:p>
        </p:txBody>
      </p:sp>
      <p:sp>
        <p:nvSpPr>
          <p:cNvPr id="64" name="Google Shape;64;p13"/>
          <p:cNvSpPr/>
          <p:nvPr/>
        </p:nvSpPr>
        <p:spPr>
          <a:xfrm>
            <a:off x="8436412" y="1977747"/>
            <a:ext cx="1316117" cy="245150"/>
          </a:xfrm>
          <a:prstGeom prst="roundRect">
            <a:avLst>
              <a:gd fmla="val 19260" name="adj"/>
            </a:avLst>
          </a:prstGeom>
          <a:noFill/>
          <a:ln cap="flat" cmpd="sng" w="9525">
            <a:solidFill>
              <a:srgbClr val="007E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3"/>
          <p:cNvSpPr/>
          <p:nvPr/>
        </p:nvSpPr>
        <p:spPr>
          <a:xfrm>
            <a:off x="8528328" y="2027515"/>
            <a:ext cx="1132284" cy="1456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007EBD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007EBD"/>
                </a:solidFill>
                <a:latin typeface="Inter"/>
                <a:ea typeface="Inter"/>
                <a:cs typeface="Inter"/>
                <a:sym typeface="Inter"/>
              </a:rPr>
              <a:t>SOMANSHU JUNEJA</a:t>
            </a:r>
            <a:endParaRPr b="0" i="0" sz="850" u="none" cap="none" strike="noStrike"/>
          </a:p>
        </p:txBody>
      </p:sp>
      <p:pic>
        <p:nvPicPr>
          <p:cNvPr descr="preencoded.png" id="66" name="Google Shape;6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78447" y="2320766"/>
            <a:ext cx="4959906" cy="18611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7" name="Google Shape;67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814262" y="2794843"/>
            <a:ext cx="256199" cy="256199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3"/>
          <p:cNvSpPr/>
          <p:nvPr/>
        </p:nvSpPr>
        <p:spPr>
          <a:xfrm>
            <a:off x="11586004" y="3726529"/>
            <a:ext cx="748102" cy="1513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105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950"/>
              <a:buFont typeface="Petrona"/>
              <a:buNone/>
            </a:pPr>
            <a:r>
              <a:rPr b="1" i="0" lang="en-US" sz="95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LiDAR Odom</a:t>
            </a:r>
            <a:endParaRPr b="0" i="0" sz="950" u="none" cap="none" strike="noStrike"/>
          </a:p>
        </p:txBody>
      </p:sp>
      <p:pic>
        <p:nvPicPr>
          <p:cNvPr descr="preencoded.png" id="69" name="Google Shape;69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876331" y="2795324"/>
            <a:ext cx="256200" cy="25619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3"/>
          <p:cNvSpPr/>
          <p:nvPr/>
        </p:nvSpPr>
        <p:spPr>
          <a:xfrm>
            <a:off x="10643190" y="3726529"/>
            <a:ext cx="748102" cy="1513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105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950"/>
              <a:buFont typeface="Petrona"/>
              <a:buNone/>
            </a:pPr>
            <a:r>
              <a:rPr b="1" i="0" lang="en-US" sz="95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Visual Odom</a:t>
            </a:r>
            <a:endParaRPr b="0" i="0" sz="950" u="none" cap="none" strike="noStrike"/>
          </a:p>
        </p:txBody>
      </p:sp>
      <p:pic>
        <p:nvPicPr>
          <p:cNvPr descr="preencoded.png" id="71" name="Google Shape;71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938642" y="2795324"/>
            <a:ext cx="256200" cy="256199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3"/>
          <p:cNvSpPr/>
          <p:nvPr/>
        </p:nvSpPr>
        <p:spPr>
          <a:xfrm>
            <a:off x="9705501" y="3726529"/>
            <a:ext cx="748102" cy="1513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105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950"/>
              <a:buFont typeface="Petrona"/>
              <a:buNone/>
            </a:pPr>
            <a:r>
              <a:rPr b="1" i="0" lang="en-US" sz="95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Wheel Odom</a:t>
            </a:r>
            <a:endParaRPr b="0" i="0" sz="950" u="none" cap="none" strike="noStrike"/>
          </a:p>
        </p:txBody>
      </p:sp>
      <p:pic>
        <p:nvPicPr>
          <p:cNvPr descr="preencoded.png" id="73" name="Google Shape;73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000952" y="2795324"/>
            <a:ext cx="256200" cy="256199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3"/>
          <p:cNvSpPr/>
          <p:nvPr/>
        </p:nvSpPr>
        <p:spPr>
          <a:xfrm>
            <a:off x="8767811" y="3726529"/>
            <a:ext cx="748102" cy="1513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105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950"/>
              <a:buFont typeface="Petrona"/>
              <a:buNone/>
            </a:pPr>
            <a:r>
              <a:rPr b="1" i="0" lang="en-US" sz="95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IMU</a:t>
            </a:r>
            <a:endParaRPr b="0" i="0" sz="950" u="none" cap="none" strike="noStrike"/>
          </a:p>
        </p:txBody>
      </p:sp>
      <p:pic>
        <p:nvPicPr>
          <p:cNvPr descr="preencoded.png" id="75" name="Google Shape;75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058139" y="2795324"/>
            <a:ext cx="256199" cy="256199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3"/>
          <p:cNvSpPr/>
          <p:nvPr/>
        </p:nvSpPr>
        <p:spPr>
          <a:xfrm>
            <a:off x="7809625" y="3726529"/>
            <a:ext cx="748102" cy="1513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105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950"/>
              <a:buFont typeface="Petrona"/>
              <a:buNone/>
            </a:pPr>
            <a:r>
              <a:rPr b="1" i="0" lang="en-US" sz="95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GPS</a:t>
            </a:r>
            <a:endParaRPr b="0" i="0" sz="950" u="none" cap="none" strike="noStrike"/>
          </a:p>
        </p:txBody>
      </p:sp>
      <p:sp>
        <p:nvSpPr>
          <p:cNvPr id="77" name="Google Shape;77;p13"/>
          <p:cNvSpPr/>
          <p:nvPr/>
        </p:nvSpPr>
        <p:spPr>
          <a:xfrm>
            <a:off x="6243042" y="4279821"/>
            <a:ext cx="7630716" cy="760809"/>
          </a:xfrm>
          <a:prstGeom prst="roundRect">
            <a:avLst>
              <a:gd fmla="val 7758" name="adj"/>
            </a:avLst>
          </a:prstGeom>
          <a:solidFill>
            <a:srgbClr val="CCEEFF"/>
          </a:solidFill>
          <a:ln cap="flat" cmpd="sng" w="9525">
            <a:solidFill>
              <a:srgbClr val="B2D4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3"/>
          <p:cNvSpPr/>
          <p:nvPr/>
        </p:nvSpPr>
        <p:spPr>
          <a:xfrm>
            <a:off x="6391156" y="4427934"/>
            <a:ext cx="1844397" cy="2305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Petrona"/>
              <a:buNone/>
            </a:pPr>
            <a:r>
              <a:rPr b="1" i="0" lang="en-US" sz="145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5 Sensor Modalities</a:t>
            </a:r>
            <a:endParaRPr b="0" i="0" sz="1450" u="none" cap="none" strike="noStrike"/>
          </a:p>
        </p:txBody>
      </p:sp>
      <p:sp>
        <p:nvSpPr>
          <p:cNvPr id="79" name="Google Shape;79;p13"/>
          <p:cNvSpPr/>
          <p:nvPr/>
        </p:nvSpPr>
        <p:spPr>
          <a:xfrm>
            <a:off x="6391156" y="4710589"/>
            <a:ext cx="7334488" cy="181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GPS, IMU, Wheel, Visual, LiDAR</a:t>
            </a:r>
            <a:endParaRPr b="0" i="0" sz="1100" u="none" cap="none" strike="noStrike"/>
          </a:p>
        </p:txBody>
      </p:sp>
      <p:sp>
        <p:nvSpPr>
          <p:cNvPr id="80" name="Google Shape;80;p13"/>
          <p:cNvSpPr/>
          <p:nvPr/>
        </p:nvSpPr>
        <p:spPr>
          <a:xfrm>
            <a:off x="6243042" y="5127665"/>
            <a:ext cx="7630716" cy="760809"/>
          </a:xfrm>
          <a:prstGeom prst="roundRect">
            <a:avLst>
              <a:gd fmla="val 7758" name="adj"/>
            </a:avLst>
          </a:prstGeom>
          <a:solidFill>
            <a:srgbClr val="CCEEFF"/>
          </a:solidFill>
          <a:ln cap="flat" cmpd="sng" w="9525">
            <a:solidFill>
              <a:srgbClr val="B2D4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3"/>
          <p:cNvSpPr/>
          <p:nvPr/>
        </p:nvSpPr>
        <p:spPr>
          <a:xfrm>
            <a:off x="6391156" y="5275778"/>
            <a:ext cx="1918930" cy="2305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Petrona"/>
              <a:buNone/>
            </a:pPr>
            <a:r>
              <a:rPr b="1" i="0" lang="en-US" sz="145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Dual-EKF Architecture</a:t>
            </a:r>
            <a:endParaRPr b="0" i="0" sz="1450" u="none" cap="none" strike="noStrike"/>
          </a:p>
        </p:txBody>
      </p:sp>
      <p:sp>
        <p:nvSpPr>
          <p:cNvPr id="82" name="Google Shape;82;p13"/>
          <p:cNvSpPr/>
          <p:nvPr/>
        </p:nvSpPr>
        <p:spPr>
          <a:xfrm>
            <a:off x="6391156" y="5558433"/>
            <a:ext cx="7334488" cy="181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Local + Global filter cascade</a:t>
            </a:r>
            <a:endParaRPr b="0" i="0" sz="1100" u="none" cap="none" strike="noStrike"/>
          </a:p>
        </p:txBody>
      </p:sp>
      <p:sp>
        <p:nvSpPr>
          <p:cNvPr id="83" name="Google Shape;83;p13"/>
          <p:cNvSpPr/>
          <p:nvPr/>
        </p:nvSpPr>
        <p:spPr>
          <a:xfrm>
            <a:off x="6243042" y="5975509"/>
            <a:ext cx="7630716" cy="760809"/>
          </a:xfrm>
          <a:prstGeom prst="roundRect">
            <a:avLst>
              <a:gd fmla="val 7758" name="adj"/>
            </a:avLst>
          </a:prstGeom>
          <a:solidFill>
            <a:srgbClr val="CCEEFF"/>
          </a:solidFill>
          <a:ln cap="flat" cmpd="sng" w="9525">
            <a:solidFill>
              <a:srgbClr val="B2D4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3"/>
          <p:cNvSpPr/>
          <p:nvPr/>
        </p:nvSpPr>
        <p:spPr>
          <a:xfrm>
            <a:off x="6391156" y="6123623"/>
            <a:ext cx="2206585" cy="2305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Petrona"/>
              <a:buNone/>
            </a:pPr>
            <a:r>
              <a:rPr b="1" i="0" lang="en-US" sz="145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Data-Driven Noise Tuning</a:t>
            </a:r>
            <a:endParaRPr b="0" i="0" sz="1450" u="none" cap="none" strike="noStrike"/>
          </a:p>
        </p:txBody>
      </p:sp>
      <p:sp>
        <p:nvSpPr>
          <p:cNvPr id="85" name="Google Shape;85;p13"/>
          <p:cNvSpPr/>
          <p:nvPr/>
        </p:nvSpPr>
        <p:spPr>
          <a:xfrm>
            <a:off x="6391156" y="6406277"/>
            <a:ext cx="7334488" cy="181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 matrices from stationary logs</a:t>
            </a:r>
            <a:endParaRPr b="0" i="0" sz="1100" u="none" cap="none" strike="noStrike"/>
          </a:p>
        </p:txBody>
      </p:sp>
      <p:sp>
        <p:nvSpPr>
          <p:cNvPr id="86" name="Google Shape;86;p13"/>
          <p:cNvSpPr/>
          <p:nvPr/>
        </p:nvSpPr>
        <p:spPr>
          <a:xfrm>
            <a:off x="6243042" y="6823353"/>
            <a:ext cx="7630716" cy="760809"/>
          </a:xfrm>
          <a:prstGeom prst="roundRect">
            <a:avLst>
              <a:gd fmla="val 7758" name="adj"/>
            </a:avLst>
          </a:prstGeom>
          <a:solidFill>
            <a:srgbClr val="CCEEFF"/>
          </a:solidFill>
          <a:ln cap="flat" cmpd="sng" w="9525">
            <a:solidFill>
              <a:srgbClr val="B2D4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6391156" y="6971467"/>
            <a:ext cx="1844397" cy="2305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Petrona"/>
              <a:buNone/>
            </a:pPr>
            <a:r>
              <a:rPr b="1" i="0" lang="en-US" sz="145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Gazebo Ground Truth</a:t>
            </a:r>
            <a:endParaRPr b="0" i="0" sz="1450" u="none" cap="none" strike="noStrike"/>
          </a:p>
        </p:txBody>
      </p:sp>
      <p:sp>
        <p:nvSpPr>
          <p:cNvPr id="88" name="Google Shape;88;p13"/>
          <p:cNvSpPr/>
          <p:nvPr/>
        </p:nvSpPr>
        <p:spPr>
          <a:xfrm>
            <a:off x="6391156" y="7254121"/>
            <a:ext cx="7334488" cy="181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Husarion Lynx UGV · ROS 2 Humble</a:t>
            </a:r>
            <a:endParaRPr b="0" i="0" sz="1100" u="none" cap="none" strike="noStrike"/>
          </a:p>
        </p:txBody>
      </p:sp>
      <p:sp>
        <p:nvSpPr>
          <p:cNvPr id="89" name="Google Shape;89;p13"/>
          <p:cNvSpPr/>
          <p:nvPr/>
        </p:nvSpPr>
        <p:spPr>
          <a:xfrm>
            <a:off x="12845075" y="7780725"/>
            <a:ext cx="1680600" cy="356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/>
          <p:nvPr/>
        </p:nvSpPr>
        <p:spPr>
          <a:xfrm>
            <a:off x="793790" y="627936"/>
            <a:ext cx="6519624" cy="706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Petrona"/>
              <a:buNone/>
            </a:pPr>
            <a:r>
              <a:rPr b="1" i="0" lang="en-US" sz="445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Why Localisation is Hard</a:t>
            </a:r>
            <a:endParaRPr b="0" i="0" sz="4450" u="none" cap="none" strike="noStrike"/>
          </a:p>
        </p:txBody>
      </p:sp>
      <p:sp>
        <p:nvSpPr>
          <p:cNvPr id="96" name="Google Shape;96;p14"/>
          <p:cNvSpPr/>
          <p:nvPr/>
        </p:nvSpPr>
        <p:spPr>
          <a:xfrm>
            <a:off x="793790" y="1744266"/>
            <a:ext cx="13042821" cy="336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Goal: the robot must estimate its pose </a:t>
            </a:r>
            <a:r>
              <a:rPr b="1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(x, y, θ)</a:t>
            </a:r>
            <a:r>
              <a:rPr b="0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in the world at all times — using sensors that each fail in different ways.</a:t>
            </a:r>
            <a:endParaRPr b="0" i="0" sz="1650" u="none" cap="none" strike="noStrike"/>
          </a:p>
        </p:txBody>
      </p:sp>
      <p:sp>
        <p:nvSpPr>
          <p:cNvPr id="97" name="Google Shape;97;p14"/>
          <p:cNvSpPr/>
          <p:nvPr/>
        </p:nvSpPr>
        <p:spPr>
          <a:xfrm>
            <a:off x="793790" y="2310646"/>
            <a:ext cx="6419017" cy="1640086"/>
          </a:xfrm>
          <a:prstGeom prst="roundRect">
            <a:avLst>
              <a:gd fmla="val 8921" name="adj"/>
            </a:avLst>
          </a:prstGeom>
          <a:solidFill>
            <a:srgbClr val="FFFFFF">
              <a:alpha val="94901"/>
            </a:srgbClr>
          </a:solidFill>
          <a:ln cap="flat" cmpd="sng" w="30475">
            <a:solidFill>
              <a:srgbClr val="B2D4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4"/>
          <p:cNvSpPr/>
          <p:nvPr/>
        </p:nvSpPr>
        <p:spPr>
          <a:xfrm>
            <a:off x="763310" y="2310646"/>
            <a:ext cx="121920" cy="1640086"/>
          </a:xfrm>
          <a:prstGeom prst="roundRect">
            <a:avLst>
              <a:gd fmla="val 74233" name="adj"/>
            </a:avLst>
          </a:prstGeom>
          <a:solidFill>
            <a:srgbClr val="007EB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4"/>
          <p:cNvSpPr/>
          <p:nvPr/>
        </p:nvSpPr>
        <p:spPr>
          <a:xfrm>
            <a:off x="1131094" y="2556510"/>
            <a:ext cx="3026569" cy="3533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Petrona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GPS — Global but Noisy</a:t>
            </a:r>
            <a:endParaRPr b="0" i="0" sz="2200" u="none" cap="none" strike="noStrike"/>
          </a:p>
        </p:txBody>
      </p:sp>
      <p:sp>
        <p:nvSpPr>
          <p:cNvPr id="100" name="Google Shape;100;p14"/>
          <p:cNvSpPr/>
          <p:nvPr/>
        </p:nvSpPr>
        <p:spPr>
          <a:xfrm>
            <a:off x="1131094" y="3032641"/>
            <a:ext cx="5835848" cy="6722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σ ≈ 0.5 m position noise · 10 Hz only · No indoor use · No heading information</a:t>
            </a:r>
            <a:endParaRPr b="0" i="0" sz="1650" u="none" cap="none" strike="noStrike"/>
          </a:p>
        </p:txBody>
      </p:sp>
      <p:sp>
        <p:nvSpPr>
          <p:cNvPr id="101" name="Google Shape;101;p14"/>
          <p:cNvSpPr/>
          <p:nvPr/>
        </p:nvSpPr>
        <p:spPr>
          <a:xfrm>
            <a:off x="7417475" y="2310646"/>
            <a:ext cx="6419136" cy="1640086"/>
          </a:xfrm>
          <a:prstGeom prst="roundRect">
            <a:avLst>
              <a:gd fmla="val 8921" name="adj"/>
            </a:avLst>
          </a:prstGeom>
          <a:solidFill>
            <a:srgbClr val="FFFFFF">
              <a:alpha val="94901"/>
            </a:srgbClr>
          </a:solidFill>
          <a:ln cap="flat" cmpd="sng" w="30475">
            <a:solidFill>
              <a:srgbClr val="B2D4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4"/>
          <p:cNvSpPr/>
          <p:nvPr/>
        </p:nvSpPr>
        <p:spPr>
          <a:xfrm>
            <a:off x="7386995" y="2310646"/>
            <a:ext cx="121920" cy="1640086"/>
          </a:xfrm>
          <a:prstGeom prst="roundRect">
            <a:avLst>
              <a:gd fmla="val 74233" name="adj"/>
            </a:avLst>
          </a:prstGeom>
          <a:solidFill>
            <a:srgbClr val="007EB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7754779" y="2556510"/>
            <a:ext cx="2828211" cy="3533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Petrona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IMU — Fast but Drifts</a:t>
            </a:r>
            <a:endParaRPr b="0" i="0" sz="2200" u="none" cap="none" strike="noStrike"/>
          </a:p>
        </p:txBody>
      </p:sp>
      <p:sp>
        <p:nvSpPr>
          <p:cNvPr id="104" name="Google Shape;104;p14"/>
          <p:cNvSpPr/>
          <p:nvPr/>
        </p:nvSpPr>
        <p:spPr>
          <a:xfrm>
            <a:off x="7754779" y="3032641"/>
            <a:ext cx="5835968" cy="6722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150 Hz · Accelerometer drift grows as O(t²) · Bias accumulates over time</a:t>
            </a:r>
            <a:endParaRPr b="0" i="0" sz="1650" u="none" cap="none" strike="noStrike"/>
          </a:p>
        </p:txBody>
      </p:sp>
      <p:sp>
        <p:nvSpPr>
          <p:cNvPr id="105" name="Google Shape;105;p14"/>
          <p:cNvSpPr/>
          <p:nvPr/>
        </p:nvSpPr>
        <p:spPr>
          <a:xfrm>
            <a:off x="793790" y="4155400"/>
            <a:ext cx="6419017" cy="1993463"/>
          </a:xfrm>
          <a:prstGeom prst="roundRect">
            <a:avLst>
              <a:gd fmla="val 7339" name="adj"/>
            </a:avLst>
          </a:prstGeom>
          <a:solidFill>
            <a:srgbClr val="FFFFFF">
              <a:alpha val="94901"/>
            </a:srgbClr>
          </a:solidFill>
          <a:ln cap="flat" cmpd="sng" w="30475">
            <a:solidFill>
              <a:srgbClr val="B2D4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63310" y="4155400"/>
            <a:ext cx="121920" cy="1993463"/>
          </a:xfrm>
          <a:prstGeom prst="roundRect">
            <a:avLst>
              <a:gd fmla="val 74233" name="adj"/>
            </a:avLst>
          </a:prstGeom>
          <a:solidFill>
            <a:srgbClr val="007EB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4"/>
          <p:cNvSpPr/>
          <p:nvPr/>
        </p:nvSpPr>
        <p:spPr>
          <a:xfrm>
            <a:off x="1131094" y="4401264"/>
            <a:ext cx="4664631" cy="3533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Petrona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Wheel Odometry — Simple but Slips</a:t>
            </a:r>
            <a:endParaRPr b="0" i="0" sz="2200" u="none" cap="none" strike="noStrike"/>
          </a:p>
        </p:txBody>
      </p:sp>
      <p:sp>
        <p:nvSpPr>
          <p:cNvPr id="108" name="Google Shape;108;p14"/>
          <p:cNvSpPr/>
          <p:nvPr/>
        </p:nvSpPr>
        <p:spPr>
          <a:xfrm>
            <a:off x="1131094" y="4877395"/>
            <a:ext cx="5835848" cy="6722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Low noise (σ ≈ 0.03 m/s) · Wheel slip causes unbounded drift · No absolute reference</a:t>
            </a:r>
            <a:endParaRPr b="0" i="0" sz="1650" u="none" cap="none" strike="noStrike"/>
          </a:p>
        </p:txBody>
      </p:sp>
      <p:sp>
        <p:nvSpPr>
          <p:cNvPr id="109" name="Google Shape;109;p14"/>
          <p:cNvSpPr/>
          <p:nvPr/>
        </p:nvSpPr>
        <p:spPr>
          <a:xfrm>
            <a:off x="7417475" y="4155400"/>
            <a:ext cx="6419136" cy="1993463"/>
          </a:xfrm>
          <a:prstGeom prst="roundRect">
            <a:avLst>
              <a:gd fmla="val 7339" name="adj"/>
            </a:avLst>
          </a:prstGeom>
          <a:solidFill>
            <a:srgbClr val="FFFFFF">
              <a:alpha val="94901"/>
            </a:srgbClr>
          </a:solidFill>
          <a:ln cap="flat" cmpd="sng" w="30475">
            <a:solidFill>
              <a:srgbClr val="B2D4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4"/>
          <p:cNvSpPr/>
          <p:nvPr/>
        </p:nvSpPr>
        <p:spPr>
          <a:xfrm>
            <a:off x="7386995" y="4155400"/>
            <a:ext cx="121920" cy="1993463"/>
          </a:xfrm>
          <a:prstGeom prst="roundRect">
            <a:avLst>
              <a:gd fmla="val 74233" name="adj"/>
            </a:avLst>
          </a:prstGeom>
          <a:solidFill>
            <a:srgbClr val="007EB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4"/>
          <p:cNvSpPr/>
          <p:nvPr/>
        </p:nvSpPr>
        <p:spPr>
          <a:xfrm>
            <a:off x="7754779" y="4401264"/>
            <a:ext cx="5835968" cy="706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Petrona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Visual Odometry — Good Geometry but Jumps</a:t>
            </a:r>
            <a:endParaRPr b="0" i="0" sz="2200" u="none" cap="none" strike="noStrike"/>
          </a:p>
        </p:txBody>
      </p:sp>
      <p:sp>
        <p:nvSpPr>
          <p:cNvPr id="112" name="Google Shape;112;p14"/>
          <p:cNvSpPr/>
          <p:nvPr/>
        </p:nvSpPr>
        <p:spPr>
          <a:xfrm>
            <a:off x="7754779" y="5230773"/>
            <a:ext cx="5835968" cy="6722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Geometry-consistent · Loop-closure discontinuities · σ ≈ 0.48 m/s vx noise</a:t>
            </a:r>
            <a:endParaRPr b="0" i="0" sz="1650" u="none" cap="none" strike="noStrike"/>
          </a:p>
        </p:txBody>
      </p:sp>
      <p:sp>
        <p:nvSpPr>
          <p:cNvPr id="113" name="Google Shape;113;p14"/>
          <p:cNvSpPr/>
          <p:nvPr/>
        </p:nvSpPr>
        <p:spPr>
          <a:xfrm>
            <a:off x="793790" y="6379131"/>
            <a:ext cx="13042821" cy="1222534"/>
          </a:xfrm>
          <a:prstGeom prst="roundRect">
            <a:avLst>
              <a:gd fmla="val 7403" name="adj"/>
            </a:avLst>
          </a:prstGeom>
          <a:solidFill>
            <a:srgbClr val="B6D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4" name="Google Shape;11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174" y="6703695"/>
            <a:ext cx="269319" cy="215384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4"/>
          <p:cNvSpPr/>
          <p:nvPr/>
        </p:nvSpPr>
        <p:spPr>
          <a:xfrm>
            <a:off x="1493877" y="6637615"/>
            <a:ext cx="12127349" cy="6722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Solution: Sensor Fusion.</a:t>
            </a:r>
            <a:r>
              <a:rPr b="0" i="0" lang="en-US" sz="16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Combine all sensors, weighting by reliability. The EKF maintains a probability distribution over pose and updates it as each sensor measurement arrives.</a:t>
            </a:r>
            <a:endParaRPr b="0" i="0" sz="1650" u="none" cap="none" strike="noStrike"/>
          </a:p>
        </p:txBody>
      </p:sp>
      <p:sp>
        <p:nvSpPr>
          <p:cNvPr id="116" name="Google Shape;116;p14"/>
          <p:cNvSpPr/>
          <p:nvPr/>
        </p:nvSpPr>
        <p:spPr>
          <a:xfrm>
            <a:off x="12845075" y="7780725"/>
            <a:ext cx="1680600" cy="356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793790" y="833318"/>
            <a:ext cx="8357354" cy="6325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50"/>
              <a:buFont typeface="Petrona"/>
              <a:buNone/>
            </a:pPr>
            <a:r>
              <a:rPr b="1" i="0" lang="en-US" sz="395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Extended Kalman Filter — Core Idea</a:t>
            </a:r>
            <a:endParaRPr b="0" i="0" sz="3950" u="none" cap="none" strike="noStrike"/>
          </a:p>
        </p:txBody>
      </p:sp>
      <p:sp>
        <p:nvSpPr>
          <p:cNvPr id="123" name="Google Shape;123;p15"/>
          <p:cNvSpPr/>
          <p:nvPr/>
        </p:nvSpPr>
        <p:spPr>
          <a:xfrm>
            <a:off x="793790" y="1793558"/>
            <a:ext cx="13042821" cy="570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The EKF maintains a Gaussian belief </a:t>
            </a:r>
            <a:r>
              <a:rPr b="1" i="0" lang="en-US" sz="15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N(x̂, P)</a:t>
            </a:r>
            <a:r>
              <a:rPr b="0" i="0" lang="en-US" sz="15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over the robot state, cycling between two steps: </a:t>
            </a:r>
            <a:r>
              <a:rPr b="1" i="0" lang="en-US" sz="15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Predict</a:t>
            </a:r>
            <a:r>
              <a:rPr b="0" i="0" lang="en-US" sz="15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(uncertainty grows) and </a:t>
            </a:r>
            <a:r>
              <a:rPr b="1" i="0" lang="en-US" sz="15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Update</a:t>
            </a:r>
            <a:r>
              <a:rPr b="0" i="0" lang="en-US" sz="15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(uncertainty shrinks).</a:t>
            </a:r>
            <a:endParaRPr b="0" i="0" sz="1500" u="none" cap="none" strike="noStrike"/>
          </a:p>
        </p:txBody>
      </p:sp>
      <p:sp>
        <p:nvSpPr>
          <p:cNvPr id="124" name="Google Shape;124;p15"/>
          <p:cNvSpPr/>
          <p:nvPr/>
        </p:nvSpPr>
        <p:spPr>
          <a:xfrm>
            <a:off x="654963" y="2548414"/>
            <a:ext cx="6563916" cy="3422094"/>
          </a:xfrm>
          <a:prstGeom prst="roundRect">
            <a:avLst>
              <a:gd fmla="val 4057" name="adj"/>
            </a:avLst>
          </a:prstGeom>
          <a:solidFill>
            <a:srgbClr val="007EBD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5"/>
          <p:cNvSpPr/>
          <p:nvPr/>
        </p:nvSpPr>
        <p:spPr>
          <a:xfrm>
            <a:off x="847725" y="2712244"/>
            <a:ext cx="2530435" cy="316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Petrona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① PREDICT</a:t>
            </a:r>
            <a:endParaRPr b="0" i="0" sz="1950" u="none" cap="none" strike="noStrike"/>
          </a:p>
        </p:txBody>
      </p:sp>
      <p:sp>
        <p:nvSpPr>
          <p:cNvPr id="126" name="Google Shape;126;p15"/>
          <p:cNvSpPr/>
          <p:nvPr/>
        </p:nvSpPr>
        <p:spPr>
          <a:xfrm>
            <a:off x="847725" y="3192304"/>
            <a:ext cx="6178391" cy="285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State prediction:</a:t>
            </a:r>
            <a:endParaRPr b="0" i="0" sz="1500" u="none" cap="none" strike="noStrike"/>
          </a:p>
        </p:txBody>
      </p:sp>
      <p:sp>
        <p:nvSpPr>
          <p:cNvPr id="127" name="Google Shape;127;p15"/>
          <p:cNvSpPr/>
          <p:nvPr/>
        </p:nvSpPr>
        <p:spPr>
          <a:xfrm>
            <a:off x="847725" y="4222433"/>
            <a:ext cx="6178391" cy="285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Covariance prediction:</a:t>
            </a:r>
            <a:endParaRPr b="0" i="0" sz="1500" u="none" cap="none" strike="noStrike"/>
          </a:p>
        </p:txBody>
      </p:sp>
      <p:sp>
        <p:nvSpPr>
          <p:cNvPr id="128" name="Google Shape;128;p15"/>
          <p:cNvSpPr/>
          <p:nvPr/>
        </p:nvSpPr>
        <p:spPr>
          <a:xfrm>
            <a:off x="847725" y="4715113"/>
            <a:ext cx="6178391" cy="330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7058"/>
              </a:lnSpc>
              <a:spcBef>
                <a:spcPts val="0"/>
              </a:spcBef>
              <a:spcAft>
                <a:spcPts val="0"/>
              </a:spcAft>
              <a:buSzPts val="1700"/>
              <a:buFont typeface="Arial"/>
              <a:buNone/>
            </a:pPr>
            <a:r>
              <a:t/>
            </a:r>
            <a:endParaRPr b="0" i="0" sz="1700" u="none" cap="none" strike="noStrike"/>
          </a:p>
        </p:txBody>
      </p:sp>
      <p:sp>
        <p:nvSpPr>
          <p:cNvPr id="129" name="Google Shape;129;p15"/>
          <p:cNvSpPr/>
          <p:nvPr/>
        </p:nvSpPr>
        <p:spPr>
          <a:xfrm>
            <a:off x="847725" y="5252561"/>
            <a:ext cx="6178391" cy="570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Uncertainty GROWS</a:t>
            </a:r>
            <a:r>
              <a:rPr b="0" i="0" lang="en-US" sz="15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between measurements. Process noise Q drives the expansion.</a:t>
            </a:r>
            <a:endParaRPr b="0" i="0" sz="1500" u="none" cap="none" strike="noStrike"/>
          </a:p>
        </p:txBody>
      </p:sp>
      <p:sp>
        <p:nvSpPr>
          <p:cNvPr id="130" name="Google Shape;130;p15"/>
          <p:cNvSpPr/>
          <p:nvPr/>
        </p:nvSpPr>
        <p:spPr>
          <a:xfrm>
            <a:off x="7557968" y="2712244"/>
            <a:ext cx="2530435" cy="316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Petrona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② UPDATE</a:t>
            </a:r>
            <a:endParaRPr b="0" i="0" sz="1950" u="none" cap="none" strike="noStrike"/>
          </a:p>
        </p:txBody>
      </p:sp>
      <p:sp>
        <p:nvSpPr>
          <p:cNvPr id="131" name="Google Shape;131;p15"/>
          <p:cNvSpPr/>
          <p:nvPr/>
        </p:nvSpPr>
        <p:spPr>
          <a:xfrm>
            <a:off x="7557968" y="3192304"/>
            <a:ext cx="6286262" cy="285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Innovation: </a:t>
            </a:r>
            <a:r>
              <a:rPr b="0" i="1" lang="en-US" sz="15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\nu_t = z_t - h(\hat{x}_t^-)</a:t>
            </a:r>
            <a:endParaRPr b="0" i="0" sz="1500" u="none" cap="none" strike="noStrike"/>
          </a:p>
        </p:txBody>
      </p:sp>
      <p:sp>
        <p:nvSpPr>
          <p:cNvPr id="132" name="Google Shape;132;p15"/>
          <p:cNvSpPr/>
          <p:nvPr/>
        </p:nvSpPr>
        <p:spPr>
          <a:xfrm>
            <a:off x="7557968" y="3624977"/>
            <a:ext cx="6286262" cy="285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Kalman Gain:</a:t>
            </a:r>
            <a:endParaRPr b="0" i="0" sz="1500" u="none" cap="none" strike="noStrike"/>
          </a:p>
        </p:txBody>
      </p:sp>
      <p:sp>
        <p:nvSpPr>
          <p:cNvPr id="133" name="Google Shape;133;p15"/>
          <p:cNvSpPr/>
          <p:nvPr/>
        </p:nvSpPr>
        <p:spPr>
          <a:xfrm>
            <a:off x="7557968" y="4117657"/>
            <a:ext cx="6286262" cy="330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7058"/>
              </a:lnSpc>
              <a:spcBef>
                <a:spcPts val="0"/>
              </a:spcBef>
              <a:spcAft>
                <a:spcPts val="0"/>
              </a:spcAft>
              <a:buSzPts val="1700"/>
              <a:buFont typeface="Arial"/>
              <a:buNone/>
            </a:pPr>
            <a:r>
              <a:t/>
            </a:r>
            <a:endParaRPr b="0" i="0" sz="1700" u="none" cap="none" strike="noStrike"/>
          </a:p>
        </p:txBody>
      </p:sp>
      <p:pic>
        <p:nvPicPr>
          <p:cNvPr descr="preencoded.png" id="134" name="Google Shape;13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57968" y="4117657"/>
            <a:ext cx="6286262" cy="330041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5"/>
          <p:cNvSpPr/>
          <p:nvPr/>
        </p:nvSpPr>
        <p:spPr>
          <a:xfrm>
            <a:off x="7557968" y="4655106"/>
            <a:ext cx="6286262" cy="285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State update: </a:t>
            </a:r>
            <a:r>
              <a:rPr b="0" i="1" lang="en-US" sz="15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\hat{x}_t = \hat{x}_t^- + K_t \nu_t</a:t>
            </a:r>
            <a:endParaRPr b="0" i="0" sz="1500" u="none" cap="none" strike="noStrike"/>
          </a:p>
        </p:txBody>
      </p:sp>
      <p:sp>
        <p:nvSpPr>
          <p:cNvPr id="136" name="Google Shape;136;p15"/>
          <p:cNvSpPr/>
          <p:nvPr/>
        </p:nvSpPr>
        <p:spPr>
          <a:xfrm>
            <a:off x="7557968" y="5087779"/>
            <a:ext cx="6286262" cy="285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Uncertainty SHRINKS</a:t>
            </a:r>
            <a:r>
              <a:rPr b="0" i="0" lang="en-US" sz="15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as measurements correct the prediction.</a:t>
            </a:r>
            <a:endParaRPr b="0" i="0" sz="1500" u="none" cap="none" strike="noStrike"/>
          </a:p>
        </p:txBody>
      </p:sp>
      <p:sp>
        <p:nvSpPr>
          <p:cNvPr id="137" name="Google Shape;137;p15"/>
          <p:cNvSpPr/>
          <p:nvPr/>
        </p:nvSpPr>
        <p:spPr>
          <a:xfrm>
            <a:off x="793790" y="6154817"/>
            <a:ext cx="13042821" cy="1241346"/>
          </a:xfrm>
          <a:prstGeom prst="roundRect">
            <a:avLst>
              <a:gd fmla="val 6523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5"/>
          <p:cNvSpPr/>
          <p:nvPr/>
        </p:nvSpPr>
        <p:spPr>
          <a:xfrm>
            <a:off x="784265" y="6154817"/>
            <a:ext cx="13061871" cy="1241346"/>
          </a:xfrm>
          <a:prstGeom prst="roundRect">
            <a:avLst>
              <a:gd fmla="val 2330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5"/>
          <p:cNvSpPr/>
          <p:nvPr/>
        </p:nvSpPr>
        <p:spPr>
          <a:xfrm>
            <a:off x="1025247" y="6347579"/>
            <a:ext cx="12579906" cy="855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15-D State Vector (robot_localization):</a:t>
            </a:r>
            <a:endParaRPr b="0" i="0" sz="1500" u="none" cap="none" strike="noStrike"/>
          </a:p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x = [ x, y, z, roll, pitch, yaw, vx, vy, vz, vroll, vpitch, vyaw, ax, ay, az ]ᵀ</a:t>
            </a:r>
            <a:endParaRPr b="0" i="0" sz="1500" u="none" cap="none" strike="noStrike"/>
          </a:p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With two_d_mode: true → effective 6-D: [ x, y, yaw, vx, vyaw, ax ]</a:t>
            </a:r>
            <a:endParaRPr b="0" i="0" sz="1500" u="none" cap="none" strike="noStrike"/>
          </a:p>
        </p:txBody>
      </p:sp>
      <p:pic>
        <p:nvPicPr>
          <p:cNvPr id="140" name="Google Shape;14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16313" y="3550862"/>
            <a:ext cx="1841224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08213" y="4568538"/>
            <a:ext cx="205740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5"/>
          <p:cNvSpPr/>
          <p:nvPr/>
        </p:nvSpPr>
        <p:spPr>
          <a:xfrm>
            <a:off x="12870875" y="7771975"/>
            <a:ext cx="1680600" cy="356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6"/>
          <p:cNvSpPr/>
          <p:nvPr/>
        </p:nvSpPr>
        <p:spPr>
          <a:xfrm>
            <a:off x="793790" y="659130"/>
            <a:ext cx="10851237" cy="706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Petrona"/>
              <a:buNone/>
            </a:pPr>
            <a:r>
              <a:rPr b="1" i="0" lang="en-US" sz="445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Predict Step — Motion Model Propagation</a:t>
            </a:r>
            <a:endParaRPr b="0" i="0" sz="4450" u="none" cap="none" strike="noStrike"/>
          </a:p>
        </p:txBody>
      </p:sp>
      <p:sp>
        <p:nvSpPr>
          <p:cNvPr id="149" name="Google Shape;149;p16"/>
          <p:cNvSpPr/>
          <p:nvPr/>
        </p:nvSpPr>
        <p:spPr>
          <a:xfrm>
            <a:off x="793790" y="1775460"/>
            <a:ext cx="13042821" cy="336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Between measurements, the filter propagates state and </a:t>
            </a:r>
            <a:r>
              <a:rPr b="1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grows uncertainty</a:t>
            </a:r>
            <a:r>
              <a:rPr b="0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via the linearised motion model.</a:t>
            </a:r>
            <a:endParaRPr b="0" i="0" sz="1650" u="none" cap="none" strike="noStrike"/>
          </a:p>
        </p:txBody>
      </p:sp>
      <p:sp>
        <p:nvSpPr>
          <p:cNvPr id="150" name="Google Shape;150;p16"/>
          <p:cNvSpPr/>
          <p:nvPr/>
        </p:nvSpPr>
        <p:spPr>
          <a:xfrm>
            <a:off x="793790" y="2281781"/>
            <a:ext cx="28281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etrona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Equations</a:t>
            </a:r>
            <a:endParaRPr b="0" i="0" sz="2200" u="none" cap="none" strike="noStrike"/>
          </a:p>
        </p:txBody>
      </p:sp>
      <p:sp>
        <p:nvSpPr>
          <p:cNvPr id="151" name="Google Shape;151;p16"/>
          <p:cNvSpPr/>
          <p:nvPr/>
        </p:nvSpPr>
        <p:spPr>
          <a:xfrm>
            <a:off x="793790" y="2839827"/>
            <a:ext cx="62586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State prediction: </a:t>
            </a:r>
            <a:endParaRPr b="0" i="0" sz="1650" u="none" cap="none" strike="noStrike"/>
          </a:p>
        </p:txBody>
      </p:sp>
      <p:sp>
        <p:nvSpPr>
          <p:cNvPr id="152" name="Google Shape;152;p16"/>
          <p:cNvSpPr/>
          <p:nvPr/>
        </p:nvSpPr>
        <p:spPr>
          <a:xfrm>
            <a:off x="793790" y="3360130"/>
            <a:ext cx="62586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Covariance prediction: </a:t>
            </a:r>
            <a:endParaRPr b="0" i="0" sz="1650" u="none" cap="none" strike="noStrike"/>
          </a:p>
        </p:txBody>
      </p:sp>
      <p:sp>
        <p:nvSpPr>
          <p:cNvPr id="153" name="Google Shape;153;p16"/>
          <p:cNvSpPr/>
          <p:nvPr/>
        </p:nvSpPr>
        <p:spPr>
          <a:xfrm>
            <a:off x="793790" y="3995532"/>
            <a:ext cx="6258600" cy="3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Jacobian (linearisation): </a:t>
            </a:r>
            <a:endParaRPr b="0" i="0" sz="1650" u="none" cap="none" strike="noStrike"/>
          </a:p>
        </p:txBody>
      </p:sp>
      <p:pic>
        <p:nvPicPr>
          <p:cNvPr descr="preencoded.png" id="154" name="Google Shape;15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70189" y="4210050"/>
            <a:ext cx="70009" cy="252651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6"/>
          <p:cNvSpPr/>
          <p:nvPr/>
        </p:nvSpPr>
        <p:spPr>
          <a:xfrm>
            <a:off x="793790" y="4687133"/>
            <a:ext cx="6258520" cy="3437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Control input </a:t>
            </a:r>
            <a:r>
              <a:rPr b="0" i="0" lang="en-US" sz="1650" u="none" cap="none" strike="noStrike">
                <a:solidFill>
                  <a:srgbClr val="27252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u_t</a:t>
            </a:r>
            <a:r>
              <a:rPr b="0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= </a:t>
            </a:r>
            <a:r>
              <a:rPr b="0" i="0" lang="en-US" sz="1650" u="none" cap="none" strike="noStrike">
                <a:solidFill>
                  <a:srgbClr val="27252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/cmd_vel</a:t>
            </a:r>
            <a:r>
              <a:rPr b="0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(vx, vyaw). </a:t>
            </a:r>
            <a:endParaRPr b="0" i="0" sz="1650" u="none" cap="none" strike="noStrike"/>
          </a:p>
        </p:txBody>
      </p:sp>
      <p:sp>
        <p:nvSpPr>
          <p:cNvPr id="156" name="Google Shape;156;p16"/>
          <p:cNvSpPr/>
          <p:nvPr/>
        </p:nvSpPr>
        <p:spPr>
          <a:xfrm>
            <a:off x="793790" y="5215057"/>
            <a:ext cx="6258520" cy="336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Process noise </a:t>
            </a:r>
            <a:r>
              <a:rPr b="1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Q</a:t>
            </a:r>
            <a:r>
              <a:rPr b="0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encodes uncertainty growth per timestep.</a:t>
            </a:r>
            <a:endParaRPr b="0" i="0" sz="1650" u="none" cap="none" strike="noStrike"/>
          </a:p>
        </p:txBody>
      </p:sp>
      <p:sp>
        <p:nvSpPr>
          <p:cNvPr id="157" name="Google Shape;157;p16"/>
          <p:cNvSpPr/>
          <p:nvPr/>
        </p:nvSpPr>
        <p:spPr>
          <a:xfrm>
            <a:off x="793801" y="5781425"/>
            <a:ext cx="6619500" cy="1558800"/>
          </a:xfrm>
          <a:prstGeom prst="roundRect">
            <a:avLst>
              <a:gd fmla="val 5807" name="adj"/>
            </a:avLst>
          </a:prstGeom>
          <a:solidFill>
            <a:srgbClr val="B3E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8" name="Google Shape;15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9174" y="6106001"/>
            <a:ext cx="269319" cy="215384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6"/>
          <p:cNvSpPr/>
          <p:nvPr/>
        </p:nvSpPr>
        <p:spPr>
          <a:xfrm>
            <a:off x="1493877" y="6039922"/>
            <a:ext cx="5343049" cy="1008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Large Q → fast growth → filter relies more on measurements. Small Q → slow growth → filter trusts its own prediction.</a:t>
            </a:r>
            <a:endParaRPr b="0" i="0" sz="1650" u="none" cap="none" strike="noStrike"/>
          </a:p>
        </p:txBody>
      </p:sp>
      <p:sp>
        <p:nvSpPr>
          <p:cNvPr id="160" name="Google Shape;160;p16"/>
          <p:cNvSpPr/>
          <p:nvPr/>
        </p:nvSpPr>
        <p:spPr>
          <a:xfrm>
            <a:off x="7631750" y="2456621"/>
            <a:ext cx="37851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etrona"/>
              <a:buNone/>
            </a:pPr>
            <a:r>
              <a:rPr b="1" lang="en-US" sz="2200">
                <a:latin typeface="Petrona"/>
                <a:ea typeface="Petrona"/>
                <a:cs typeface="Petrona"/>
                <a:sym typeface="Petrona"/>
              </a:rPr>
              <a:t>Uncertainty</a:t>
            </a:r>
            <a:r>
              <a:rPr b="1" i="0" lang="en-US" sz="220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 Grows Overtime</a:t>
            </a:r>
            <a:endParaRPr b="0" i="0" sz="2200" u="none" cap="none" strike="noStrike"/>
          </a:p>
        </p:txBody>
      </p:sp>
      <p:sp>
        <p:nvSpPr>
          <p:cNvPr id="161" name="Google Shape;161;p16"/>
          <p:cNvSpPr/>
          <p:nvPr/>
        </p:nvSpPr>
        <p:spPr>
          <a:xfrm>
            <a:off x="7631750" y="3014667"/>
            <a:ext cx="62586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At t = 0, Small Ellipse - (Confident)</a:t>
            </a:r>
            <a:endParaRPr b="0" i="0" sz="1650" u="none" cap="none" strike="noStrike"/>
          </a:p>
        </p:txBody>
      </p:sp>
      <p:sp>
        <p:nvSpPr>
          <p:cNvPr id="162" name="Google Shape;162;p16"/>
          <p:cNvSpPr/>
          <p:nvPr/>
        </p:nvSpPr>
        <p:spPr>
          <a:xfrm>
            <a:off x="7631750" y="3534970"/>
            <a:ext cx="62586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At t + Delta t, predict only - Ellipse Grows</a:t>
            </a:r>
            <a:endParaRPr b="0" i="0" sz="1650" u="none" cap="none" strike="noStrike"/>
          </a:p>
        </p:txBody>
      </p:sp>
      <p:sp>
        <p:nvSpPr>
          <p:cNvPr id="163" name="Google Shape;163;p16"/>
          <p:cNvSpPr/>
          <p:nvPr/>
        </p:nvSpPr>
        <p:spPr>
          <a:xfrm>
            <a:off x="7631750" y="4055273"/>
            <a:ext cx="62586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At t + 2 * Delta t, Measurement - Ellipse Shrinks</a:t>
            </a:r>
            <a:endParaRPr b="0" i="0" sz="1650" u="none" cap="none" strike="noStrike"/>
          </a:p>
        </p:txBody>
      </p:sp>
      <p:pic>
        <p:nvPicPr>
          <p:cNvPr id="164" name="Google Shape;16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05470" y="2717726"/>
            <a:ext cx="1660625" cy="45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30114" y="3299070"/>
            <a:ext cx="1870575" cy="45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389646" y="3889996"/>
            <a:ext cx="1439559" cy="50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6"/>
          <p:cNvPicPr preferRelativeResize="0"/>
          <p:nvPr/>
        </p:nvPicPr>
        <p:blipFill rotWithShape="1">
          <a:blip r:embed="rId8">
            <a:alphaModFix/>
          </a:blip>
          <a:srcRect b="0" l="1728" r="5885" t="0"/>
          <a:stretch/>
        </p:blipFill>
        <p:spPr>
          <a:xfrm>
            <a:off x="764225" y="2266150"/>
            <a:ext cx="6649201" cy="3285025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6"/>
          <p:cNvSpPr/>
          <p:nvPr/>
        </p:nvSpPr>
        <p:spPr>
          <a:xfrm>
            <a:off x="12845075" y="7780725"/>
            <a:ext cx="1680600" cy="356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7"/>
          <p:cNvSpPr/>
          <p:nvPr/>
        </p:nvSpPr>
        <p:spPr>
          <a:xfrm>
            <a:off x="793790" y="646986"/>
            <a:ext cx="9834801" cy="6698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Petrona"/>
              <a:buNone/>
            </a:pPr>
            <a:r>
              <a:rPr b="1" i="0" lang="en-US" sz="420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Update Step — Measurement Correction</a:t>
            </a:r>
            <a:endParaRPr b="0" i="0" sz="4200" u="none" cap="none" strike="noStrike"/>
          </a:p>
        </p:txBody>
      </p:sp>
      <p:sp>
        <p:nvSpPr>
          <p:cNvPr id="175" name="Google Shape;175;p17"/>
          <p:cNvSpPr/>
          <p:nvPr/>
        </p:nvSpPr>
        <p:spPr>
          <a:xfrm>
            <a:off x="793790" y="1684258"/>
            <a:ext cx="13042821" cy="6205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00"/>
              <a:buFont typeface="Inter"/>
              <a:buNone/>
            </a:pPr>
            <a:r>
              <a:rPr b="0" i="0" lang="en-US" sz="16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When a sensor reading arrives, the </a:t>
            </a:r>
            <a:r>
              <a:rPr b="1" i="0" lang="en-US" sz="16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Kalman Gain</a:t>
            </a:r>
            <a:r>
              <a:rPr b="0" i="0" lang="en-US" sz="16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optimally blends prediction and measurement — weighted by their respective uncertainties.</a:t>
            </a:r>
            <a:endParaRPr b="0" i="0" sz="1600" u="none" cap="none" strike="noStrike"/>
          </a:p>
        </p:txBody>
      </p:sp>
      <p:sp>
        <p:nvSpPr>
          <p:cNvPr id="176" name="Google Shape;176;p17"/>
          <p:cNvSpPr/>
          <p:nvPr/>
        </p:nvSpPr>
        <p:spPr>
          <a:xfrm>
            <a:off x="793801" y="2511050"/>
            <a:ext cx="2870400" cy="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Petrona"/>
              <a:buNone/>
            </a:pPr>
            <a:r>
              <a:rPr b="1" i="0" lang="en-US" sz="210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Equations</a:t>
            </a:r>
            <a:endParaRPr b="0" i="0" sz="2100" u="none" cap="none" strike="noStrike"/>
          </a:p>
        </p:txBody>
      </p:sp>
      <p:sp>
        <p:nvSpPr>
          <p:cNvPr id="177" name="Google Shape;177;p17"/>
          <p:cNvSpPr/>
          <p:nvPr/>
        </p:nvSpPr>
        <p:spPr>
          <a:xfrm>
            <a:off x="793801" y="3029566"/>
            <a:ext cx="48339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00"/>
              <a:buFont typeface="Inter"/>
              <a:buNone/>
            </a:pPr>
            <a:r>
              <a:rPr b="0" i="0" lang="en-US" sz="16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Innovation: </a:t>
            </a:r>
            <a:r>
              <a:rPr b="0" i="1" lang="en-US" sz="16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\nu_t = z_t - h(\hat{x}_t^-)</a:t>
            </a:r>
            <a:endParaRPr b="0" i="0" sz="1600" u="none" cap="none" strike="noStrike"/>
          </a:p>
        </p:txBody>
      </p:sp>
      <p:sp>
        <p:nvSpPr>
          <p:cNvPr id="178" name="Google Shape;178;p17"/>
          <p:cNvSpPr/>
          <p:nvPr/>
        </p:nvSpPr>
        <p:spPr>
          <a:xfrm>
            <a:off x="793801" y="3505101"/>
            <a:ext cx="48339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00"/>
              <a:buFont typeface="Inter"/>
              <a:buNone/>
            </a:pPr>
            <a:r>
              <a:rPr b="0" i="0" lang="en-US" sz="16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Innovation covariance: </a:t>
            </a:r>
            <a:r>
              <a:rPr b="0" i="1" lang="en-US" sz="16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S_t = H_t P_t^- H_t^\to</a:t>
            </a:r>
            <a:endParaRPr b="0" i="0" sz="1600" u="none" cap="none" strike="noStrike"/>
          </a:p>
        </p:txBody>
      </p:sp>
      <p:sp>
        <p:nvSpPr>
          <p:cNvPr id="179" name="Google Shape;179;p17"/>
          <p:cNvSpPr/>
          <p:nvPr/>
        </p:nvSpPr>
        <p:spPr>
          <a:xfrm>
            <a:off x="793790" y="4164806"/>
            <a:ext cx="4512112" cy="310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00"/>
              <a:buFont typeface="Inter"/>
              <a:buNone/>
            </a:pPr>
            <a:r>
              <a:rPr b="0" i="0" lang="en-US" sz="16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Kalman Gain: </a:t>
            </a:r>
            <a:r>
              <a:rPr b="0" i="1" lang="en-US" sz="16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K_t = P_t^- H_t^\top S_t^{-1}</a:t>
            </a:r>
            <a:endParaRPr b="0" i="0" sz="1600" u="none" cap="none" strike="noStrike"/>
          </a:p>
        </p:txBody>
      </p:sp>
      <p:sp>
        <p:nvSpPr>
          <p:cNvPr id="180" name="Google Shape;180;p17"/>
          <p:cNvSpPr/>
          <p:nvPr/>
        </p:nvSpPr>
        <p:spPr>
          <a:xfrm>
            <a:off x="793790" y="5115878"/>
            <a:ext cx="4512112" cy="310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00"/>
              <a:buFont typeface="Inter"/>
              <a:buNone/>
            </a:pPr>
            <a:r>
              <a:rPr b="0" i="0" lang="en-US" sz="16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Covariance update: </a:t>
            </a:r>
            <a:r>
              <a:rPr b="0" i="1" lang="en-US" sz="16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P_t = (I - K_t H_t) P_t^-</a:t>
            </a:r>
            <a:endParaRPr b="0" i="0" sz="1600" u="none" cap="none" strike="noStrike"/>
          </a:p>
        </p:txBody>
      </p:sp>
      <p:sp>
        <p:nvSpPr>
          <p:cNvPr id="181" name="Google Shape;181;p17"/>
          <p:cNvSpPr/>
          <p:nvPr/>
        </p:nvSpPr>
        <p:spPr>
          <a:xfrm>
            <a:off x="793790" y="5632847"/>
            <a:ext cx="4512112" cy="1743075"/>
          </a:xfrm>
          <a:prstGeom prst="roundRect">
            <a:avLst>
              <a:gd fmla="val 4919" name="adj"/>
            </a:avLst>
          </a:prstGeom>
          <a:solidFill>
            <a:srgbClr val="B6D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2" name="Google Shape;18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7863" y="5937885"/>
            <a:ext cx="255151" cy="204073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7"/>
          <p:cNvSpPr/>
          <p:nvPr/>
        </p:nvSpPr>
        <p:spPr>
          <a:xfrm>
            <a:off x="1457087" y="5867519"/>
            <a:ext cx="3644741" cy="12411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Inter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K → 0</a:t>
            </a:r>
            <a:r>
              <a:rPr b="0" i="0" lang="en-US" sz="16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if R large (noisy sensor) → trust prediction. </a:t>
            </a:r>
            <a:r>
              <a:rPr b="1" i="0" lang="en-US" sz="16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K → 1</a:t>
            </a:r>
            <a:r>
              <a:rPr b="0" i="0" lang="en-US" sz="16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if P large (uncertain model) → trust measurement.</a:t>
            </a:r>
            <a:endParaRPr b="0" i="0" sz="1600" u="none" cap="none" strike="noStrike"/>
          </a:p>
        </p:txBody>
      </p:sp>
      <p:sp>
        <p:nvSpPr>
          <p:cNvPr id="184" name="Google Shape;184;p17"/>
          <p:cNvSpPr/>
          <p:nvPr/>
        </p:nvSpPr>
        <p:spPr>
          <a:xfrm>
            <a:off x="5811450" y="2984900"/>
            <a:ext cx="2555100" cy="4335300"/>
          </a:xfrm>
          <a:prstGeom prst="roundRect">
            <a:avLst>
              <a:gd fmla="val 3356" name="adj"/>
            </a:avLst>
          </a:prstGeom>
          <a:solidFill>
            <a:srgbClr val="FFFFFF">
              <a:alpha val="94901"/>
            </a:srgbClr>
          </a:solidFill>
          <a:ln cap="flat" cmpd="sng" w="22850">
            <a:solidFill>
              <a:srgbClr val="B2D4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7"/>
          <p:cNvSpPr/>
          <p:nvPr/>
        </p:nvSpPr>
        <p:spPr>
          <a:xfrm>
            <a:off x="6038374" y="3211830"/>
            <a:ext cx="2101215" cy="10044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100"/>
              <a:buFont typeface="Petrona"/>
              <a:buNone/>
            </a:pPr>
            <a:r>
              <a:rPr b="1" i="0" lang="en-US" sz="21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Predicted State (wider = uncertain)</a:t>
            </a:r>
            <a:endParaRPr b="0" i="0" sz="2100" u="none" cap="none" strike="noStrike"/>
          </a:p>
        </p:txBody>
      </p:sp>
      <p:sp>
        <p:nvSpPr>
          <p:cNvPr id="186" name="Google Shape;186;p17"/>
          <p:cNvSpPr/>
          <p:nvPr/>
        </p:nvSpPr>
        <p:spPr>
          <a:xfrm>
            <a:off x="6038374" y="4399955"/>
            <a:ext cx="2101215" cy="21719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00"/>
              <a:buFont typeface="Inter"/>
              <a:buNone/>
            </a:pPr>
            <a:r>
              <a:rPr b="0" i="0" lang="en-US" sz="16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Represents the prior estimate before measurement correction, with greater uncertainty shown by a wider spread.</a:t>
            </a:r>
            <a:endParaRPr b="0" i="0" sz="1600" u="none" cap="none" strike="noStrike"/>
          </a:p>
        </p:txBody>
      </p:sp>
      <p:sp>
        <p:nvSpPr>
          <p:cNvPr id="187" name="Google Shape;187;p17"/>
          <p:cNvSpPr/>
          <p:nvPr/>
        </p:nvSpPr>
        <p:spPr>
          <a:xfrm>
            <a:off x="8550225" y="2984900"/>
            <a:ext cx="2555100" cy="4335300"/>
          </a:xfrm>
          <a:prstGeom prst="roundRect">
            <a:avLst>
              <a:gd fmla="val 3356" name="adj"/>
            </a:avLst>
          </a:prstGeom>
          <a:solidFill>
            <a:srgbClr val="FFFFFF">
              <a:alpha val="94901"/>
            </a:srgbClr>
          </a:solidFill>
          <a:ln cap="flat" cmpd="sng" w="22850">
            <a:solidFill>
              <a:srgbClr val="B2D4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7"/>
          <p:cNvSpPr/>
          <p:nvPr/>
        </p:nvSpPr>
        <p:spPr>
          <a:xfrm>
            <a:off x="8777168" y="3211830"/>
            <a:ext cx="2101215" cy="10044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100"/>
              <a:buFont typeface="Petrona"/>
              <a:buNone/>
            </a:pPr>
            <a:r>
              <a:rPr b="1" i="0" lang="en-US" sz="21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Measurement (narrower = known R)</a:t>
            </a:r>
            <a:endParaRPr b="0" i="0" sz="2100" u="none" cap="none" strike="noStrike"/>
          </a:p>
        </p:txBody>
      </p:sp>
      <p:sp>
        <p:nvSpPr>
          <p:cNvPr id="189" name="Google Shape;189;p17"/>
          <p:cNvSpPr/>
          <p:nvPr/>
        </p:nvSpPr>
        <p:spPr>
          <a:xfrm>
            <a:off x="8777168" y="4399955"/>
            <a:ext cx="2101215" cy="21719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00"/>
              <a:buFont typeface="Inter"/>
              <a:buNone/>
            </a:pPr>
            <a:r>
              <a:rPr b="0" i="0" lang="en-US" sz="16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The sensor observation is more precise when measurement noise R is small, so the distribution appears narrower.</a:t>
            </a:r>
            <a:endParaRPr b="0" i="0" sz="1600" u="none" cap="none" strike="noStrike"/>
          </a:p>
        </p:txBody>
      </p:sp>
      <p:sp>
        <p:nvSpPr>
          <p:cNvPr id="190" name="Google Shape;190;p17"/>
          <p:cNvSpPr/>
          <p:nvPr/>
        </p:nvSpPr>
        <p:spPr>
          <a:xfrm>
            <a:off x="11289025" y="2984900"/>
            <a:ext cx="2555100" cy="4335300"/>
          </a:xfrm>
          <a:prstGeom prst="roundRect">
            <a:avLst>
              <a:gd fmla="val 3356" name="adj"/>
            </a:avLst>
          </a:prstGeom>
          <a:solidFill>
            <a:srgbClr val="FFFFFF">
              <a:alpha val="94901"/>
            </a:srgbClr>
          </a:solidFill>
          <a:ln cap="flat" cmpd="sng" w="22850">
            <a:solidFill>
              <a:srgbClr val="B2D4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7"/>
          <p:cNvSpPr/>
          <p:nvPr/>
        </p:nvSpPr>
        <p:spPr>
          <a:xfrm>
            <a:off x="11515963" y="3211830"/>
            <a:ext cx="2101215" cy="10044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100"/>
              <a:buFont typeface="Petrona"/>
              <a:buNone/>
            </a:pPr>
            <a:r>
              <a:rPr b="1" i="0" lang="en-US" sz="21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Fused result (narrowest, between both)</a:t>
            </a:r>
            <a:endParaRPr b="0" i="0" sz="2100" u="none" cap="none" strike="noStrike"/>
          </a:p>
        </p:txBody>
      </p:sp>
      <p:sp>
        <p:nvSpPr>
          <p:cNvPr id="192" name="Google Shape;192;p17"/>
          <p:cNvSpPr/>
          <p:nvPr/>
        </p:nvSpPr>
        <p:spPr>
          <a:xfrm>
            <a:off x="11515963" y="4399955"/>
            <a:ext cx="2101215" cy="24822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00"/>
              <a:buFont typeface="Inter"/>
              <a:buNone/>
            </a:pPr>
            <a:r>
              <a:rPr b="0" i="0" lang="en-US" sz="16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The corrected estimate combines both sources and typically lands between prediction and measurement with reduced uncertainty.</a:t>
            </a:r>
            <a:endParaRPr b="0" i="0" sz="1600" u="none" cap="none" strike="noStrike"/>
          </a:p>
        </p:txBody>
      </p:sp>
      <p:pic>
        <p:nvPicPr>
          <p:cNvPr id="193" name="Google Shape;193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3804" y="2562579"/>
            <a:ext cx="4395400" cy="2950675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7"/>
          <p:cNvSpPr/>
          <p:nvPr/>
        </p:nvSpPr>
        <p:spPr>
          <a:xfrm>
            <a:off x="12845075" y="7780725"/>
            <a:ext cx="1680600" cy="356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8"/>
          <p:cNvSpPr/>
          <p:nvPr/>
        </p:nvSpPr>
        <p:spPr>
          <a:xfrm>
            <a:off x="793790" y="747117"/>
            <a:ext cx="12037100" cy="706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Petrona"/>
              <a:buNone/>
            </a:pPr>
            <a:r>
              <a:rPr b="1" i="0" lang="en-US" sz="445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Linearisation — Why "Extended" Kalman Filter</a:t>
            </a:r>
            <a:endParaRPr b="0" i="0" sz="4450" u="none" cap="none" strike="noStrike"/>
          </a:p>
        </p:txBody>
      </p:sp>
      <p:sp>
        <p:nvSpPr>
          <p:cNvPr id="201" name="Google Shape;201;p18"/>
          <p:cNvSpPr/>
          <p:nvPr/>
        </p:nvSpPr>
        <p:spPr>
          <a:xfrm>
            <a:off x="793790" y="1863447"/>
            <a:ext cx="13042821" cy="336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Robot motion is </a:t>
            </a:r>
            <a:r>
              <a:rPr b="1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nonlinear</a:t>
            </a:r>
            <a:r>
              <a:rPr b="0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: a Gaussian input through a nonlinear function does </a:t>
            </a:r>
            <a:r>
              <a:rPr b="0" i="1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not</a:t>
            </a:r>
            <a:r>
              <a:rPr b="0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produce a Gaussian output. </a:t>
            </a:r>
            <a:endParaRPr b="0" i="0" sz="1650" u="none" cap="none" strike="noStrike"/>
          </a:p>
        </p:txBody>
      </p:sp>
      <p:sp>
        <p:nvSpPr>
          <p:cNvPr id="202" name="Google Shape;202;p18"/>
          <p:cNvSpPr/>
          <p:nvPr/>
        </p:nvSpPr>
        <p:spPr>
          <a:xfrm>
            <a:off x="793790" y="2429828"/>
            <a:ext cx="13042821" cy="336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The EKF linearises via a first-order Taylor expansion to preserve the Gaussian form.</a:t>
            </a:r>
            <a:endParaRPr b="0" i="0" sz="1650" u="none" cap="none" strike="noStrike"/>
          </a:p>
        </p:txBody>
      </p:sp>
      <p:sp>
        <p:nvSpPr>
          <p:cNvPr id="203" name="Google Shape;203;p18"/>
          <p:cNvSpPr/>
          <p:nvPr/>
        </p:nvSpPr>
        <p:spPr>
          <a:xfrm>
            <a:off x="793790" y="3293462"/>
            <a:ext cx="5089800" cy="3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etrona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⚠ Problem: True Nonlinear Transform</a:t>
            </a:r>
            <a:endParaRPr b="0" i="0" sz="2200" u="none" cap="none" strike="noStrike"/>
          </a:p>
        </p:txBody>
      </p:sp>
      <p:sp>
        <p:nvSpPr>
          <p:cNvPr id="204" name="Google Shape;204;p18"/>
          <p:cNvSpPr/>
          <p:nvPr/>
        </p:nvSpPr>
        <p:spPr>
          <a:xfrm>
            <a:off x="793790" y="3859128"/>
            <a:ext cx="62586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Input θ ~ </a:t>
            </a:r>
            <a:r>
              <a:rPr b="0" i="1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N(\hat{\theta}, \sigma^2)</a:t>
            </a:r>
            <a:r>
              <a:rPr b="0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· Output: </a:t>
            </a:r>
            <a:r>
              <a:rPr b="0" i="1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v_x \cos(\theta)</a:t>
            </a:r>
            <a:endParaRPr b="0" i="0" sz="1650" u="none" cap="none" strike="noStrike"/>
          </a:p>
        </p:txBody>
      </p:sp>
      <p:sp>
        <p:nvSpPr>
          <p:cNvPr id="205" name="Google Shape;205;p18"/>
          <p:cNvSpPr/>
          <p:nvPr/>
        </p:nvSpPr>
        <p:spPr>
          <a:xfrm>
            <a:off x="793790" y="4379431"/>
            <a:ext cx="6258600" cy="6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Result: </a:t>
            </a:r>
            <a:r>
              <a:rPr b="1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skewed, non-Gaussian</a:t>
            </a:r>
            <a:r>
              <a:rPr b="0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asymmetric distribution — Kalman maths breaks down entirely. </a:t>
            </a:r>
            <a:endParaRPr b="0" i="0" sz="1650" u="none" cap="none" strike="noStrike"/>
          </a:p>
        </p:txBody>
      </p:sp>
      <p:sp>
        <p:nvSpPr>
          <p:cNvPr id="206" name="Google Shape;206;p18"/>
          <p:cNvSpPr/>
          <p:nvPr/>
        </p:nvSpPr>
        <p:spPr>
          <a:xfrm>
            <a:off x="7585710" y="3200876"/>
            <a:ext cx="5156954" cy="3533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etrona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✓ EKF Fix: First-Order Taylor Expansion</a:t>
            </a:r>
            <a:endParaRPr b="0" i="0" sz="2200" u="none" cap="none" strike="noStrike"/>
          </a:p>
        </p:txBody>
      </p:sp>
      <p:sp>
        <p:nvSpPr>
          <p:cNvPr id="207" name="Google Shape;207;p18"/>
          <p:cNvSpPr/>
          <p:nvPr/>
        </p:nvSpPr>
        <p:spPr>
          <a:xfrm>
            <a:off x="7585710" y="3813334"/>
            <a:ext cx="6258520" cy="7185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263"/>
              </a:lnSpc>
              <a:spcBef>
                <a:spcPts val="0"/>
              </a:spcBef>
              <a:spcAft>
                <a:spcPts val="0"/>
              </a:spcAft>
              <a:buSzPts val="1900"/>
              <a:buFont typeface="Arial"/>
              <a:buNone/>
            </a:pPr>
            <a:r>
              <a:t/>
            </a:r>
            <a:endParaRPr b="0" i="0" sz="1900" u="none" cap="none" strike="noStrike"/>
          </a:p>
        </p:txBody>
      </p:sp>
      <p:pic>
        <p:nvPicPr>
          <p:cNvPr descr="preencoded.png" id="208" name="Google Shape;20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5710" y="3813334"/>
            <a:ext cx="6258520" cy="718542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8"/>
          <p:cNvSpPr/>
          <p:nvPr/>
        </p:nvSpPr>
        <p:spPr>
          <a:xfrm>
            <a:off x="7585710" y="4790956"/>
            <a:ext cx="6258520" cy="6722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Tangent line at </a:t>
            </a:r>
            <a:r>
              <a:rPr b="0" i="1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\hat{\theta} = 45°</a:t>
            </a:r>
            <a:r>
              <a:rPr b="0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: slope = </a:t>
            </a:r>
            <a:r>
              <a:rPr b="0" i="1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-v_x \sin(\hat{\theta})</a:t>
            </a:r>
            <a:r>
              <a:rPr b="0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. Linear approximation → Gaussian output preserved ✓</a:t>
            </a:r>
            <a:endParaRPr b="0" i="0" sz="1650" u="none" cap="none" strike="noStrike"/>
          </a:p>
        </p:txBody>
      </p:sp>
      <p:sp>
        <p:nvSpPr>
          <p:cNvPr id="210" name="Google Shape;210;p18"/>
          <p:cNvSpPr/>
          <p:nvPr/>
        </p:nvSpPr>
        <p:spPr>
          <a:xfrm>
            <a:off x="793848" y="5776800"/>
            <a:ext cx="6258600" cy="1558500"/>
          </a:xfrm>
          <a:prstGeom prst="roundRect">
            <a:avLst>
              <a:gd fmla="val 5807" name="adj"/>
            </a:avLst>
          </a:prstGeom>
          <a:solidFill>
            <a:srgbClr val="FCF2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1" name="Google Shape;21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9232" y="6101364"/>
            <a:ext cx="269319" cy="215384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8"/>
          <p:cNvSpPr/>
          <p:nvPr/>
        </p:nvSpPr>
        <p:spPr>
          <a:xfrm>
            <a:off x="1493935" y="6035284"/>
            <a:ext cx="5343000" cy="10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Valid only when uncertainty is </a:t>
            </a:r>
            <a:r>
              <a:rPr b="1" i="0" lang="en-US" sz="16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small</a:t>
            </a:r>
            <a:r>
              <a:rPr b="0" i="0" lang="en-US" sz="16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— the input Gaussian must remain within the linear region. High angular velocity can cause divergence.</a:t>
            </a:r>
            <a:endParaRPr b="0" i="0" sz="1650" u="none" cap="none" strike="noStrike"/>
          </a:p>
        </p:txBody>
      </p:sp>
      <p:pic>
        <p:nvPicPr>
          <p:cNvPr id="213" name="Google Shape;213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5001" y="3178548"/>
            <a:ext cx="6258525" cy="20619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342976" y="3181347"/>
            <a:ext cx="6258524" cy="2632341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18"/>
          <p:cNvSpPr/>
          <p:nvPr/>
        </p:nvSpPr>
        <p:spPr>
          <a:xfrm>
            <a:off x="12845075" y="7780725"/>
            <a:ext cx="1680600" cy="356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9"/>
          <p:cNvSpPr/>
          <p:nvPr/>
        </p:nvSpPr>
        <p:spPr>
          <a:xfrm>
            <a:off x="793790" y="736044"/>
            <a:ext cx="9827538" cy="706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Petrona"/>
              <a:buNone/>
            </a:pPr>
            <a:r>
              <a:rPr b="1" i="0" lang="en-US" sz="445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EKF Assumptions &amp; When They Break</a:t>
            </a:r>
            <a:endParaRPr b="0" i="0" sz="4450" u="none" cap="none" strike="noStrike"/>
          </a:p>
        </p:txBody>
      </p:sp>
      <p:sp>
        <p:nvSpPr>
          <p:cNvPr id="222" name="Google Shape;222;p19"/>
          <p:cNvSpPr/>
          <p:nvPr/>
        </p:nvSpPr>
        <p:spPr>
          <a:xfrm>
            <a:off x="793790" y="1852374"/>
            <a:ext cx="13042821" cy="336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Understanding the limitations of the linearised Gaussian approximation is essential for robust deployment.</a:t>
            </a:r>
            <a:endParaRPr b="0" i="0" sz="1650" u="none" cap="none" strike="noStrike"/>
          </a:p>
        </p:txBody>
      </p:sp>
      <p:sp>
        <p:nvSpPr>
          <p:cNvPr id="223" name="Google Shape;223;p19"/>
          <p:cNvSpPr/>
          <p:nvPr/>
        </p:nvSpPr>
        <p:spPr>
          <a:xfrm>
            <a:off x="793790" y="2418755"/>
            <a:ext cx="6419017" cy="2435066"/>
          </a:xfrm>
          <a:prstGeom prst="roundRect">
            <a:avLst>
              <a:gd fmla="val 3717" name="adj"/>
            </a:avLst>
          </a:prstGeom>
          <a:solidFill>
            <a:srgbClr val="FFFFFF">
              <a:alpha val="94901"/>
            </a:srgbClr>
          </a:solidFill>
          <a:ln cap="flat" cmpd="sng" w="30475">
            <a:solidFill>
              <a:srgbClr val="B2D4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9"/>
          <p:cNvSpPr/>
          <p:nvPr/>
        </p:nvSpPr>
        <p:spPr>
          <a:xfrm>
            <a:off x="1039654" y="2664619"/>
            <a:ext cx="2828211" cy="3533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Petrona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Gaussian Noise</a:t>
            </a:r>
            <a:endParaRPr b="0" i="0" sz="2200" u="none" cap="none" strike="noStrike"/>
          </a:p>
        </p:txBody>
      </p:sp>
      <p:sp>
        <p:nvSpPr>
          <p:cNvPr id="225" name="Google Shape;225;p19"/>
          <p:cNvSpPr/>
          <p:nvPr/>
        </p:nvSpPr>
        <p:spPr>
          <a:xfrm>
            <a:off x="1039654" y="3140750"/>
            <a:ext cx="5927288" cy="336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Assumption:</a:t>
            </a:r>
            <a:r>
              <a:rPr b="0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w ~ N(0, Q), v ~ N(0, R)</a:t>
            </a:r>
            <a:endParaRPr b="0" i="0" sz="1650" u="none" cap="none" strike="noStrike"/>
          </a:p>
        </p:txBody>
      </p:sp>
      <p:sp>
        <p:nvSpPr>
          <p:cNvPr id="226" name="Google Shape;226;p19"/>
          <p:cNvSpPr/>
          <p:nvPr/>
        </p:nvSpPr>
        <p:spPr>
          <a:xfrm>
            <a:off x="1039654" y="3599617"/>
            <a:ext cx="5927288" cy="1008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Reality:</a:t>
            </a:r>
            <a:r>
              <a:rPr b="0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GPS has non-Gaussian outliers from multipath reflections. Handled via Mahalanobis distance rejection threshold.</a:t>
            </a:r>
            <a:endParaRPr b="0" i="0" sz="1650" u="none" cap="none" strike="noStrike"/>
          </a:p>
        </p:txBody>
      </p:sp>
      <p:sp>
        <p:nvSpPr>
          <p:cNvPr id="227" name="Google Shape;227;p19"/>
          <p:cNvSpPr/>
          <p:nvPr/>
        </p:nvSpPr>
        <p:spPr>
          <a:xfrm>
            <a:off x="7417475" y="2418755"/>
            <a:ext cx="6419136" cy="2435066"/>
          </a:xfrm>
          <a:prstGeom prst="roundRect">
            <a:avLst>
              <a:gd fmla="val 3717" name="adj"/>
            </a:avLst>
          </a:prstGeom>
          <a:solidFill>
            <a:srgbClr val="FFFFFF">
              <a:alpha val="94901"/>
            </a:srgbClr>
          </a:solidFill>
          <a:ln cap="flat" cmpd="sng" w="30475">
            <a:solidFill>
              <a:srgbClr val="B2D4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9"/>
          <p:cNvSpPr/>
          <p:nvPr/>
        </p:nvSpPr>
        <p:spPr>
          <a:xfrm>
            <a:off x="7663339" y="2664619"/>
            <a:ext cx="3198495" cy="3533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Petrona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Locally Linear Dynamics</a:t>
            </a:r>
            <a:endParaRPr b="0" i="0" sz="2200" u="none" cap="none" strike="noStrike"/>
          </a:p>
        </p:txBody>
      </p:sp>
      <p:sp>
        <p:nvSpPr>
          <p:cNvPr id="229" name="Google Shape;229;p19"/>
          <p:cNvSpPr/>
          <p:nvPr/>
        </p:nvSpPr>
        <p:spPr>
          <a:xfrm>
            <a:off x="7663339" y="3140750"/>
            <a:ext cx="5927407" cy="6722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Assumption:</a:t>
            </a:r>
            <a:r>
              <a:rPr b="0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Nonlinearity mild enough for 1st-order Taylor expansion</a:t>
            </a:r>
            <a:endParaRPr b="0" i="0" sz="1650" u="none" cap="none" strike="noStrike"/>
          </a:p>
        </p:txBody>
      </p:sp>
      <p:sp>
        <p:nvSpPr>
          <p:cNvPr id="230" name="Google Shape;230;p19"/>
          <p:cNvSpPr/>
          <p:nvPr/>
        </p:nvSpPr>
        <p:spPr>
          <a:xfrm>
            <a:off x="7663339" y="3935730"/>
            <a:ext cx="5927407" cy="6722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Reality:</a:t>
            </a:r>
            <a:r>
              <a:rPr b="0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Fails at high angular velocity or sharp turns — EKF can diverge under strong nonlinearity.</a:t>
            </a:r>
            <a:endParaRPr b="0" i="0" sz="1650" u="none" cap="none" strike="noStrike"/>
          </a:p>
        </p:txBody>
      </p:sp>
      <p:sp>
        <p:nvSpPr>
          <p:cNvPr id="231" name="Google Shape;231;p19"/>
          <p:cNvSpPr/>
          <p:nvPr/>
        </p:nvSpPr>
        <p:spPr>
          <a:xfrm>
            <a:off x="793790" y="5058489"/>
            <a:ext cx="6419017" cy="2435066"/>
          </a:xfrm>
          <a:prstGeom prst="roundRect">
            <a:avLst>
              <a:gd fmla="val 3717" name="adj"/>
            </a:avLst>
          </a:prstGeom>
          <a:solidFill>
            <a:srgbClr val="FFFFFF">
              <a:alpha val="94901"/>
            </a:srgbClr>
          </a:solidFill>
          <a:ln cap="flat" cmpd="sng" w="30475">
            <a:solidFill>
              <a:srgbClr val="B2D4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9"/>
          <p:cNvSpPr/>
          <p:nvPr/>
        </p:nvSpPr>
        <p:spPr>
          <a:xfrm>
            <a:off x="1039654" y="5304353"/>
            <a:ext cx="3335060" cy="3533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Petrona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Known Noise Covariances</a:t>
            </a:r>
            <a:endParaRPr b="0" i="0" sz="2200" u="none" cap="none" strike="noStrike"/>
          </a:p>
        </p:txBody>
      </p:sp>
      <p:sp>
        <p:nvSpPr>
          <p:cNvPr id="233" name="Google Shape;233;p19"/>
          <p:cNvSpPr/>
          <p:nvPr/>
        </p:nvSpPr>
        <p:spPr>
          <a:xfrm>
            <a:off x="1039654" y="5780484"/>
            <a:ext cx="5927288" cy="336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Assumption:</a:t>
            </a:r>
            <a:r>
              <a:rPr b="0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Q and R are accurately modelled</a:t>
            </a:r>
            <a:endParaRPr b="0" i="0" sz="1650" u="none" cap="none" strike="noStrike"/>
          </a:p>
        </p:txBody>
      </p:sp>
      <p:sp>
        <p:nvSpPr>
          <p:cNvPr id="234" name="Google Shape;234;p19"/>
          <p:cNvSpPr/>
          <p:nvPr/>
        </p:nvSpPr>
        <p:spPr>
          <a:xfrm>
            <a:off x="1039654" y="6239351"/>
            <a:ext cx="5927288" cy="1008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Handled ✓</a:t>
            </a:r>
            <a:r>
              <a:rPr b="0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R values measured from real stationary sensor logs. Data-driven tuning is a core contribution of this project.</a:t>
            </a:r>
            <a:endParaRPr b="0" i="0" sz="1650" u="none" cap="none" strike="noStrike"/>
          </a:p>
        </p:txBody>
      </p:sp>
      <p:sp>
        <p:nvSpPr>
          <p:cNvPr id="235" name="Google Shape;235;p19"/>
          <p:cNvSpPr/>
          <p:nvPr/>
        </p:nvSpPr>
        <p:spPr>
          <a:xfrm>
            <a:off x="7417475" y="5058489"/>
            <a:ext cx="6419136" cy="2435066"/>
          </a:xfrm>
          <a:prstGeom prst="roundRect">
            <a:avLst>
              <a:gd fmla="val 3717" name="adj"/>
            </a:avLst>
          </a:prstGeom>
          <a:solidFill>
            <a:srgbClr val="FFFFFF">
              <a:alpha val="94901"/>
            </a:srgbClr>
          </a:solidFill>
          <a:ln cap="flat" cmpd="sng" w="30475">
            <a:solidFill>
              <a:srgbClr val="B2D4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9"/>
          <p:cNvSpPr/>
          <p:nvPr/>
        </p:nvSpPr>
        <p:spPr>
          <a:xfrm>
            <a:off x="7663339" y="5304353"/>
            <a:ext cx="2828211" cy="3533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Petrona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Independent Noise</a:t>
            </a:r>
            <a:endParaRPr b="0" i="0" sz="2200" u="none" cap="none" strike="noStrike"/>
          </a:p>
        </p:txBody>
      </p:sp>
      <p:sp>
        <p:nvSpPr>
          <p:cNvPr id="237" name="Google Shape;237;p19"/>
          <p:cNvSpPr/>
          <p:nvPr/>
        </p:nvSpPr>
        <p:spPr>
          <a:xfrm>
            <a:off x="7663339" y="5780484"/>
            <a:ext cx="5927407" cy="6722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Assumption:</a:t>
            </a:r>
            <a:r>
              <a:rPr b="0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Process and measurement noise uncorrelated across timesteps</a:t>
            </a:r>
            <a:endParaRPr b="0" i="0" sz="1650" u="none" cap="none" strike="noStrike"/>
          </a:p>
        </p:txBody>
      </p:sp>
      <p:sp>
        <p:nvSpPr>
          <p:cNvPr id="238" name="Google Shape;238;p19"/>
          <p:cNvSpPr/>
          <p:nvPr/>
        </p:nvSpPr>
        <p:spPr>
          <a:xfrm>
            <a:off x="7663339" y="6575465"/>
            <a:ext cx="5927407" cy="6722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Reality:</a:t>
            </a:r>
            <a:r>
              <a:rPr b="0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Wheel slip introduces correlated error. Mitigated by fusing velocity, not position, from wheel odometry.</a:t>
            </a:r>
            <a:endParaRPr b="0" i="0" sz="1650" u="none" cap="none" strike="noStrike"/>
          </a:p>
        </p:txBody>
      </p:sp>
      <p:sp>
        <p:nvSpPr>
          <p:cNvPr id="239" name="Google Shape;239;p19"/>
          <p:cNvSpPr/>
          <p:nvPr/>
        </p:nvSpPr>
        <p:spPr>
          <a:xfrm>
            <a:off x="12845075" y="7780725"/>
            <a:ext cx="1680600" cy="356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7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0"/>
          <p:cNvSpPr/>
          <p:nvPr/>
        </p:nvSpPr>
        <p:spPr>
          <a:xfrm>
            <a:off x="793790" y="741164"/>
            <a:ext cx="10544413" cy="6325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50"/>
              <a:buFont typeface="Petrona"/>
              <a:buNone/>
            </a:pPr>
            <a:r>
              <a:rPr b="1" i="0" lang="en-US" sz="395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Five Sensor Modalities — What Each Provides</a:t>
            </a:r>
            <a:endParaRPr b="0" i="0" sz="3950" u="none" cap="none" strike="noStrike"/>
          </a:p>
        </p:txBody>
      </p:sp>
      <p:sp>
        <p:nvSpPr>
          <p:cNvPr id="246" name="Google Shape;246;p20"/>
          <p:cNvSpPr/>
          <p:nvPr/>
        </p:nvSpPr>
        <p:spPr>
          <a:xfrm>
            <a:off x="793790" y="1701403"/>
            <a:ext cx="13042821" cy="285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Each sensor contributes where it is strongest. Noise parameters were measured from </a:t>
            </a:r>
            <a:r>
              <a:rPr b="1" i="0" lang="en-US" sz="15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60-second stationary logs</a:t>
            </a:r>
            <a:r>
              <a:rPr b="0" i="0" lang="en-US" sz="15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in Gazebo.</a:t>
            </a:r>
            <a:endParaRPr b="0" i="0" sz="1500" u="none" cap="none" strike="noStrike"/>
          </a:p>
        </p:txBody>
      </p:sp>
      <p:sp>
        <p:nvSpPr>
          <p:cNvPr id="247" name="Google Shape;247;p20"/>
          <p:cNvSpPr/>
          <p:nvPr/>
        </p:nvSpPr>
        <p:spPr>
          <a:xfrm>
            <a:off x="793790" y="2170986"/>
            <a:ext cx="13042821" cy="5317331"/>
          </a:xfrm>
          <a:prstGeom prst="roundRect">
            <a:avLst>
              <a:gd fmla="val 1523" name="adj"/>
            </a:avLst>
          </a:prstGeom>
          <a:noFill/>
          <a:ln cap="flat" cmpd="sng" w="9525">
            <a:solidFill>
              <a:srgbClr val="000000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0"/>
          <p:cNvSpPr/>
          <p:nvPr/>
        </p:nvSpPr>
        <p:spPr>
          <a:xfrm>
            <a:off x="994410" y="2284452"/>
            <a:ext cx="1328976" cy="285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Sensor</a:t>
            </a:r>
            <a:endParaRPr b="0" i="0" sz="1500" u="none" cap="none" strike="noStrike"/>
          </a:p>
        </p:txBody>
      </p:sp>
      <p:sp>
        <p:nvSpPr>
          <p:cNvPr id="249" name="Google Shape;249;p20"/>
          <p:cNvSpPr/>
          <p:nvPr/>
        </p:nvSpPr>
        <p:spPr>
          <a:xfrm>
            <a:off x="2716530" y="2284452"/>
            <a:ext cx="1706880" cy="285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ROS Topic</a:t>
            </a:r>
            <a:endParaRPr b="0" i="0" sz="1500" u="none" cap="none" strike="noStrike"/>
          </a:p>
        </p:txBody>
      </p:sp>
      <p:sp>
        <p:nvSpPr>
          <p:cNvPr id="250" name="Google Shape;250;p20"/>
          <p:cNvSpPr/>
          <p:nvPr/>
        </p:nvSpPr>
        <p:spPr>
          <a:xfrm>
            <a:off x="4816554" y="2284452"/>
            <a:ext cx="1149310" cy="285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Rate</a:t>
            </a:r>
            <a:endParaRPr b="0" i="0" sz="1500" u="none" cap="none" strike="noStrike"/>
          </a:p>
        </p:txBody>
      </p:sp>
      <p:sp>
        <p:nvSpPr>
          <p:cNvPr id="251" name="Google Shape;251;p20"/>
          <p:cNvSpPr/>
          <p:nvPr/>
        </p:nvSpPr>
        <p:spPr>
          <a:xfrm>
            <a:off x="6359009" y="2284452"/>
            <a:ext cx="2130266" cy="285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Measures</a:t>
            </a:r>
            <a:endParaRPr b="0" i="0" sz="1500" u="none" cap="none" strike="noStrike"/>
          </a:p>
        </p:txBody>
      </p:sp>
      <p:sp>
        <p:nvSpPr>
          <p:cNvPr id="252" name="Google Shape;252;p20"/>
          <p:cNvSpPr/>
          <p:nvPr/>
        </p:nvSpPr>
        <p:spPr>
          <a:xfrm>
            <a:off x="8882420" y="2284452"/>
            <a:ext cx="2606993" cy="285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Noise Characteristics</a:t>
            </a:r>
            <a:endParaRPr b="0" i="0" sz="1500" u="none" cap="none" strike="noStrike"/>
          </a:p>
        </p:txBody>
      </p:sp>
      <p:sp>
        <p:nvSpPr>
          <p:cNvPr id="253" name="Google Shape;253;p20"/>
          <p:cNvSpPr/>
          <p:nvPr/>
        </p:nvSpPr>
        <p:spPr>
          <a:xfrm>
            <a:off x="11882557" y="2284452"/>
            <a:ext cx="1753672" cy="285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Role in EKF</a:t>
            </a:r>
            <a:endParaRPr b="0" i="0" sz="1500" u="none" cap="none" strike="noStrike"/>
          </a:p>
        </p:txBody>
      </p:sp>
      <p:sp>
        <p:nvSpPr>
          <p:cNvPr id="254" name="Google Shape;254;p20"/>
          <p:cNvSpPr/>
          <p:nvPr/>
        </p:nvSpPr>
        <p:spPr>
          <a:xfrm>
            <a:off x="994410" y="2789039"/>
            <a:ext cx="1328976" cy="285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IMU (9-DOF)</a:t>
            </a:r>
            <a:endParaRPr b="0" i="0" sz="1500" u="none" cap="none" strike="noStrike"/>
          </a:p>
        </p:txBody>
      </p:sp>
      <p:sp>
        <p:nvSpPr>
          <p:cNvPr id="255" name="Google Shape;255;p20"/>
          <p:cNvSpPr/>
          <p:nvPr/>
        </p:nvSpPr>
        <p:spPr>
          <a:xfrm>
            <a:off x="2716530" y="2789039"/>
            <a:ext cx="1706880" cy="285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/imu/data</a:t>
            </a:r>
            <a:endParaRPr b="0" i="0" sz="1500" u="none" cap="none" strike="noStrike"/>
          </a:p>
        </p:txBody>
      </p:sp>
      <p:sp>
        <p:nvSpPr>
          <p:cNvPr id="256" name="Google Shape;256;p20"/>
          <p:cNvSpPr/>
          <p:nvPr/>
        </p:nvSpPr>
        <p:spPr>
          <a:xfrm>
            <a:off x="4816554" y="2789039"/>
            <a:ext cx="1149310" cy="285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150 Hz</a:t>
            </a:r>
            <a:endParaRPr b="0" i="0" sz="1500" u="none" cap="none" strike="noStrike"/>
          </a:p>
        </p:txBody>
      </p:sp>
      <p:sp>
        <p:nvSpPr>
          <p:cNvPr id="257" name="Google Shape;257;p20"/>
          <p:cNvSpPr/>
          <p:nvPr/>
        </p:nvSpPr>
        <p:spPr>
          <a:xfrm>
            <a:off x="6359009" y="2789039"/>
            <a:ext cx="2130266" cy="570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Accel (ax,ay,az)</a:t>
            </a:r>
            <a:endParaRPr b="0" i="0" sz="1500" u="none" cap="none" strike="noStrike"/>
          </a:p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Gyro (gx,gy,gz)</a:t>
            </a:r>
            <a:endParaRPr b="0" i="0" sz="1500" u="none" cap="none" strike="noStrike"/>
          </a:p>
        </p:txBody>
      </p:sp>
      <p:sp>
        <p:nvSpPr>
          <p:cNvPr id="258" name="Google Shape;258;p20"/>
          <p:cNvSpPr/>
          <p:nvPr/>
        </p:nvSpPr>
        <p:spPr>
          <a:xfrm>
            <a:off x="8882420" y="2789039"/>
            <a:ext cx="2606993" cy="570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Accel σ ≈ 0.98 m/s² · Gyro σ ≈ 0.015 rad/s · Bias drift</a:t>
            </a:r>
            <a:endParaRPr b="0" i="0" sz="1500" u="none" cap="none" strike="noStrike"/>
          </a:p>
        </p:txBody>
      </p:sp>
      <p:sp>
        <p:nvSpPr>
          <p:cNvPr id="259" name="Google Shape;259;p20"/>
          <p:cNvSpPr/>
          <p:nvPr/>
        </p:nvSpPr>
        <p:spPr>
          <a:xfrm>
            <a:off x="11882557" y="2789039"/>
            <a:ext cx="1753672" cy="855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Short-term orientation dead-reckoning</a:t>
            </a:r>
            <a:endParaRPr b="0" i="0" sz="1500" u="none" cap="none" strike="noStrike"/>
          </a:p>
        </p:txBody>
      </p:sp>
      <p:sp>
        <p:nvSpPr>
          <p:cNvPr id="260" name="Google Shape;260;p20"/>
          <p:cNvSpPr/>
          <p:nvPr/>
        </p:nvSpPr>
        <p:spPr>
          <a:xfrm>
            <a:off x="994410" y="3864173"/>
            <a:ext cx="1328976" cy="285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GPS (NavSat)</a:t>
            </a:r>
            <a:endParaRPr b="0" i="0" sz="1500" u="none" cap="none" strike="noStrike"/>
          </a:p>
        </p:txBody>
      </p:sp>
      <p:sp>
        <p:nvSpPr>
          <p:cNvPr id="261" name="Google Shape;261;p20"/>
          <p:cNvSpPr/>
          <p:nvPr/>
        </p:nvSpPr>
        <p:spPr>
          <a:xfrm>
            <a:off x="2716530" y="3864173"/>
            <a:ext cx="1706880" cy="285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/gps/fix</a:t>
            </a:r>
            <a:endParaRPr b="0" i="0" sz="1500" u="none" cap="none" strike="noStrike"/>
          </a:p>
        </p:txBody>
      </p:sp>
      <p:sp>
        <p:nvSpPr>
          <p:cNvPr id="262" name="Google Shape;262;p20"/>
          <p:cNvSpPr/>
          <p:nvPr/>
        </p:nvSpPr>
        <p:spPr>
          <a:xfrm>
            <a:off x="4816554" y="3864173"/>
            <a:ext cx="1149310" cy="285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10 Hz</a:t>
            </a:r>
            <a:endParaRPr b="0" i="0" sz="1500" u="none" cap="none" strike="noStrike"/>
          </a:p>
        </p:txBody>
      </p:sp>
      <p:sp>
        <p:nvSpPr>
          <p:cNvPr id="263" name="Google Shape;263;p20"/>
          <p:cNvSpPr/>
          <p:nvPr/>
        </p:nvSpPr>
        <p:spPr>
          <a:xfrm>
            <a:off x="6359009" y="3864173"/>
            <a:ext cx="2130266" cy="285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Lat, Lon, Alt</a:t>
            </a:r>
            <a:endParaRPr b="0" i="0" sz="1500" u="none" cap="none" strike="noStrike"/>
          </a:p>
        </p:txBody>
      </p:sp>
      <p:sp>
        <p:nvSpPr>
          <p:cNvPr id="264" name="Google Shape;264;p20"/>
          <p:cNvSpPr/>
          <p:nvPr/>
        </p:nvSpPr>
        <p:spPr>
          <a:xfrm>
            <a:off x="8882420" y="3864173"/>
            <a:ext cx="2606993" cy="570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Position σ ≈ 0.5 m · Outlier spikes · No heading</a:t>
            </a:r>
            <a:endParaRPr b="0" i="0" sz="1500" u="none" cap="none" strike="noStrike"/>
          </a:p>
        </p:txBody>
      </p:sp>
      <p:sp>
        <p:nvSpPr>
          <p:cNvPr id="265" name="Google Shape;265;p20"/>
          <p:cNvSpPr/>
          <p:nvPr/>
        </p:nvSpPr>
        <p:spPr>
          <a:xfrm>
            <a:off x="11882557" y="3864173"/>
            <a:ext cx="1753672" cy="570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Global position anchor</a:t>
            </a:r>
            <a:endParaRPr b="0" i="0" sz="1500" u="none" cap="none" strike="noStrike"/>
          </a:p>
        </p:txBody>
      </p:sp>
      <p:sp>
        <p:nvSpPr>
          <p:cNvPr id="266" name="Google Shape;266;p20"/>
          <p:cNvSpPr/>
          <p:nvPr/>
        </p:nvSpPr>
        <p:spPr>
          <a:xfrm>
            <a:off x="994410" y="4654034"/>
            <a:ext cx="1328976" cy="570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Wheel Odometry</a:t>
            </a:r>
            <a:endParaRPr b="0" i="0" sz="1500" u="none" cap="none" strike="noStrike"/>
          </a:p>
        </p:txBody>
      </p:sp>
      <p:sp>
        <p:nvSpPr>
          <p:cNvPr id="267" name="Google Shape;267;p20"/>
          <p:cNvSpPr/>
          <p:nvPr/>
        </p:nvSpPr>
        <p:spPr>
          <a:xfrm>
            <a:off x="2716530" y="4654034"/>
            <a:ext cx="1706880" cy="570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/diff_drive_controller/odom</a:t>
            </a:r>
            <a:endParaRPr b="0" i="0" sz="1500" u="none" cap="none" strike="noStrike"/>
          </a:p>
        </p:txBody>
      </p:sp>
      <p:sp>
        <p:nvSpPr>
          <p:cNvPr id="268" name="Google Shape;268;p20"/>
          <p:cNvSpPr/>
          <p:nvPr/>
        </p:nvSpPr>
        <p:spPr>
          <a:xfrm>
            <a:off x="4816554" y="4654034"/>
            <a:ext cx="1149310" cy="285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38.6 Hz</a:t>
            </a:r>
            <a:endParaRPr b="0" i="0" sz="1500" u="none" cap="none" strike="noStrike"/>
          </a:p>
        </p:txBody>
      </p:sp>
      <p:sp>
        <p:nvSpPr>
          <p:cNvPr id="269" name="Google Shape;269;p20"/>
          <p:cNvSpPr/>
          <p:nvPr/>
        </p:nvSpPr>
        <p:spPr>
          <a:xfrm>
            <a:off x="6359009" y="4654034"/>
            <a:ext cx="2130266" cy="570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Pose (integrated)</a:t>
            </a:r>
            <a:endParaRPr b="0" i="0" sz="1500" u="none" cap="none" strike="noStrike"/>
          </a:p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Twist (vx, vyaw)</a:t>
            </a:r>
            <a:endParaRPr b="0" i="0" sz="1500" u="none" cap="none" strike="noStrike"/>
          </a:p>
        </p:txBody>
      </p:sp>
      <p:sp>
        <p:nvSpPr>
          <p:cNvPr id="270" name="Google Shape;270;p20"/>
          <p:cNvSpPr/>
          <p:nvPr/>
        </p:nvSpPr>
        <p:spPr>
          <a:xfrm>
            <a:off x="8882420" y="4654034"/>
            <a:ext cx="2606993" cy="570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Low σ ≈ 0.03 m/s vx · Slip accumulates</a:t>
            </a:r>
            <a:endParaRPr b="0" i="0" sz="1500" u="none" cap="none" strike="noStrike"/>
          </a:p>
        </p:txBody>
      </p:sp>
      <p:sp>
        <p:nvSpPr>
          <p:cNvPr id="271" name="Google Shape;271;p20"/>
          <p:cNvSpPr/>
          <p:nvPr/>
        </p:nvSpPr>
        <p:spPr>
          <a:xfrm>
            <a:off x="11882557" y="4654034"/>
            <a:ext cx="1753672" cy="570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Primary velocity source</a:t>
            </a:r>
            <a:endParaRPr b="0" i="0" sz="1500" u="none" cap="none" strike="noStrike"/>
          </a:p>
        </p:txBody>
      </p:sp>
      <p:sp>
        <p:nvSpPr>
          <p:cNvPr id="272" name="Google Shape;272;p20"/>
          <p:cNvSpPr/>
          <p:nvPr/>
        </p:nvSpPr>
        <p:spPr>
          <a:xfrm>
            <a:off x="994410" y="5443895"/>
            <a:ext cx="1328976" cy="570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Visual Odom (RTAB-Map)</a:t>
            </a:r>
            <a:endParaRPr b="0" i="0" sz="1500" u="none" cap="none" strike="noStrike"/>
          </a:p>
        </p:txBody>
      </p:sp>
      <p:sp>
        <p:nvSpPr>
          <p:cNvPr id="273" name="Google Shape;273;p20"/>
          <p:cNvSpPr/>
          <p:nvPr/>
        </p:nvSpPr>
        <p:spPr>
          <a:xfrm>
            <a:off x="2716530" y="5443895"/>
            <a:ext cx="1706880" cy="285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/odometry/visual</a:t>
            </a:r>
            <a:endParaRPr b="0" i="0" sz="1500" u="none" cap="none" strike="noStrike"/>
          </a:p>
        </p:txBody>
      </p:sp>
      <p:sp>
        <p:nvSpPr>
          <p:cNvPr id="274" name="Google Shape;274;p20"/>
          <p:cNvSpPr/>
          <p:nvPr/>
        </p:nvSpPr>
        <p:spPr>
          <a:xfrm>
            <a:off x="4816554" y="5443895"/>
            <a:ext cx="1149310" cy="285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14.3 Hz</a:t>
            </a:r>
            <a:endParaRPr b="0" i="0" sz="1500" u="none" cap="none" strike="noStrike"/>
          </a:p>
        </p:txBody>
      </p:sp>
      <p:sp>
        <p:nvSpPr>
          <p:cNvPr id="275" name="Google Shape;275;p20"/>
          <p:cNvSpPr/>
          <p:nvPr/>
        </p:nvSpPr>
        <p:spPr>
          <a:xfrm>
            <a:off x="6359009" y="5443895"/>
            <a:ext cx="2130266" cy="570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Pose from camera features</a:t>
            </a:r>
            <a:endParaRPr b="0" i="0" sz="1500" u="none" cap="none" strike="noStrike"/>
          </a:p>
        </p:txBody>
      </p:sp>
      <p:sp>
        <p:nvSpPr>
          <p:cNvPr id="276" name="Google Shape;276;p20"/>
          <p:cNvSpPr/>
          <p:nvPr/>
        </p:nvSpPr>
        <p:spPr>
          <a:xfrm>
            <a:off x="8882420" y="5443895"/>
            <a:ext cx="2606993" cy="570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σ ≈ 0.48 m/s vx · Loop-closure jumps</a:t>
            </a:r>
            <a:endParaRPr b="0" i="0" sz="1500" u="none" cap="none" strike="noStrike"/>
          </a:p>
        </p:txBody>
      </p:sp>
      <p:sp>
        <p:nvSpPr>
          <p:cNvPr id="277" name="Google Shape;277;p20"/>
          <p:cNvSpPr/>
          <p:nvPr/>
        </p:nvSpPr>
        <p:spPr>
          <a:xfrm>
            <a:off x="11882557" y="5443895"/>
            <a:ext cx="1753672" cy="855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Geometry-consistent relative motion</a:t>
            </a:r>
            <a:endParaRPr b="0" i="0" sz="1500" u="none" cap="none" strike="noStrike"/>
          </a:p>
        </p:txBody>
      </p:sp>
      <p:sp>
        <p:nvSpPr>
          <p:cNvPr id="278" name="Google Shape;278;p20"/>
          <p:cNvSpPr/>
          <p:nvPr/>
        </p:nvSpPr>
        <p:spPr>
          <a:xfrm>
            <a:off x="994410" y="6519029"/>
            <a:ext cx="1328976" cy="570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LiDAR Odom (</a:t>
            </a:r>
            <a:r>
              <a:rPr lang="en-US" sz="15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rtab ICP</a:t>
            </a:r>
            <a:r>
              <a:rPr b="0" i="0" lang="en-US" sz="15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 b="0" i="0" sz="1500" u="none" cap="none" strike="noStrike"/>
          </a:p>
        </p:txBody>
      </p:sp>
      <p:sp>
        <p:nvSpPr>
          <p:cNvPr id="279" name="Google Shape;279;p20"/>
          <p:cNvSpPr/>
          <p:nvPr/>
        </p:nvSpPr>
        <p:spPr>
          <a:xfrm>
            <a:off x="2716530" y="6519029"/>
            <a:ext cx="1706880" cy="285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/odometry/lidar</a:t>
            </a:r>
            <a:endParaRPr b="0" i="0" sz="1500" u="none" cap="none" strike="noStrike"/>
          </a:p>
        </p:txBody>
      </p:sp>
      <p:sp>
        <p:nvSpPr>
          <p:cNvPr id="280" name="Google Shape;280;p20"/>
          <p:cNvSpPr/>
          <p:nvPr/>
        </p:nvSpPr>
        <p:spPr>
          <a:xfrm>
            <a:off x="4816554" y="6519029"/>
            <a:ext cx="1149310" cy="285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3.9 Hz</a:t>
            </a:r>
            <a:endParaRPr b="0" i="0" sz="1500" u="none" cap="none" strike="noStrike"/>
          </a:p>
        </p:txBody>
      </p:sp>
      <p:sp>
        <p:nvSpPr>
          <p:cNvPr id="281" name="Google Shape;281;p20"/>
          <p:cNvSpPr/>
          <p:nvPr/>
        </p:nvSpPr>
        <p:spPr>
          <a:xfrm>
            <a:off x="6359009" y="6519029"/>
            <a:ext cx="2130266" cy="285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Pose from point cloud</a:t>
            </a:r>
            <a:endParaRPr b="0" i="0" sz="1500" u="none" cap="none" strike="noStrike"/>
          </a:p>
        </p:txBody>
      </p:sp>
      <p:sp>
        <p:nvSpPr>
          <p:cNvPr id="282" name="Google Shape;282;p20"/>
          <p:cNvSpPr/>
          <p:nvPr/>
        </p:nvSpPr>
        <p:spPr>
          <a:xfrm>
            <a:off x="8882420" y="6519029"/>
            <a:ext cx="2606993" cy="570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σ ≈ 0.29 m/s vx · Low angular noise</a:t>
            </a:r>
            <a:endParaRPr b="0" i="0" sz="1500" u="none" cap="none" strike="noStrike"/>
          </a:p>
        </p:txBody>
      </p:sp>
      <p:sp>
        <p:nvSpPr>
          <p:cNvPr id="283" name="Google Shape;283;p20"/>
          <p:cNvSpPr/>
          <p:nvPr/>
        </p:nvSpPr>
        <p:spPr>
          <a:xfrm>
            <a:off x="11882557" y="6519029"/>
            <a:ext cx="1753672" cy="855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Most reliable geometry · Best loop closure</a:t>
            </a:r>
            <a:endParaRPr b="0" i="0" sz="1500" u="none" cap="none" strike="noStrike"/>
          </a:p>
        </p:txBody>
      </p:sp>
      <p:sp>
        <p:nvSpPr>
          <p:cNvPr id="284" name="Google Shape;284;p20"/>
          <p:cNvSpPr/>
          <p:nvPr/>
        </p:nvSpPr>
        <p:spPr>
          <a:xfrm>
            <a:off x="12845075" y="7780725"/>
            <a:ext cx="1680600" cy="356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1"/>
          <p:cNvSpPr/>
          <p:nvPr/>
        </p:nvSpPr>
        <p:spPr>
          <a:xfrm>
            <a:off x="781407" y="659844"/>
            <a:ext cx="8697992" cy="6960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2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Petrona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IMU — Inertial Measurement Unit</a:t>
            </a:r>
            <a:endParaRPr b="0" i="0" sz="4350" u="none" cap="none" strike="noStrike"/>
          </a:p>
        </p:txBody>
      </p:sp>
      <p:sp>
        <p:nvSpPr>
          <p:cNvPr id="291" name="Google Shape;291;p21"/>
          <p:cNvSpPr/>
          <p:nvPr/>
        </p:nvSpPr>
        <p:spPr>
          <a:xfrm>
            <a:off x="781407" y="1752600"/>
            <a:ext cx="13067586" cy="3283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54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Fast, noisy, drifts — but essential for orientation. The IMU runs at </a:t>
            </a:r>
            <a:r>
              <a:rPr b="1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150 Hz</a:t>
            </a:r>
            <a:r>
              <a:rPr b="0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, providing the highest-frequency input to the filter.</a:t>
            </a:r>
            <a:endParaRPr b="0" i="0" sz="1650" u="none" cap="none" strike="noStrike"/>
          </a:p>
        </p:txBody>
      </p:sp>
      <p:sp>
        <p:nvSpPr>
          <p:cNvPr id="292" name="Google Shape;292;p21"/>
          <p:cNvSpPr/>
          <p:nvPr/>
        </p:nvSpPr>
        <p:spPr>
          <a:xfrm>
            <a:off x="781407" y="2502456"/>
            <a:ext cx="5050512" cy="3479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50"/>
              <a:buFont typeface="Petrona"/>
              <a:buNone/>
            </a:pPr>
            <a:r>
              <a:rPr b="1" i="0" lang="en-US" sz="215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Physical Principle &amp; ROS Configuration</a:t>
            </a:r>
            <a:endParaRPr b="0" i="0" sz="2150" u="none" cap="none" strike="noStrike"/>
          </a:p>
        </p:txBody>
      </p:sp>
      <p:sp>
        <p:nvSpPr>
          <p:cNvPr id="293" name="Google Shape;293;p21"/>
          <p:cNvSpPr/>
          <p:nvPr/>
        </p:nvSpPr>
        <p:spPr>
          <a:xfrm>
            <a:off x="781407" y="3048714"/>
            <a:ext cx="6954322" cy="9851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54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Accelerometer:</a:t>
            </a:r>
            <a:r>
              <a:rPr b="0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measures specific force (accel − gravity). Double integration gives position — noise accumulates as O(t²), quadratic drift.</a:t>
            </a:r>
            <a:endParaRPr b="0" i="0" sz="1650" u="none" cap="none" strike="noStrike"/>
          </a:p>
        </p:txBody>
      </p:sp>
      <p:sp>
        <p:nvSpPr>
          <p:cNvPr id="294" name="Google Shape;294;p21"/>
          <p:cNvSpPr/>
          <p:nvPr/>
        </p:nvSpPr>
        <p:spPr>
          <a:xfrm>
            <a:off x="781407" y="4212312"/>
            <a:ext cx="6954322" cy="6567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54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Gyroscope:</a:t>
            </a:r>
            <a:r>
              <a:rPr b="0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measures angular rate. Single integration gives orientation. Drift is O(t) — linear.</a:t>
            </a:r>
            <a:endParaRPr b="0" i="0" sz="1650" u="none" cap="none" strike="noStrike"/>
          </a:p>
        </p:txBody>
      </p:sp>
      <p:sp>
        <p:nvSpPr>
          <p:cNvPr id="295" name="Google Shape;295;p21"/>
          <p:cNvSpPr/>
          <p:nvPr/>
        </p:nvSpPr>
        <p:spPr>
          <a:xfrm>
            <a:off x="781407" y="5047536"/>
            <a:ext cx="6954322" cy="24526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54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Consolas"/>
              <a:buNone/>
            </a:pPr>
            <a:r>
              <a:rPr b="0" i="0" lang="en-US" sz="1650" u="none" cap="none" strike="noStrike">
                <a:solidFill>
                  <a:srgbClr val="27252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imu0_remove_gravitational_acceleration: true</a:t>
            </a:r>
            <a:r>
              <a:rPr b="0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— subtracts 9.81 m/s² from az before fusion</a:t>
            </a:r>
            <a:endParaRPr b="0" i="0" sz="1650" u="none" cap="none" strike="noStrike"/>
          </a:p>
          <a:p>
            <a:pPr indent="0" lvl="0" marL="0" marR="0" rtl="0" algn="l">
              <a:lnSpc>
                <a:spcPct val="15454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Consolas"/>
              <a:buNone/>
            </a:pPr>
            <a:r>
              <a:rPr b="0" i="0" lang="en-US" sz="1650" u="none" cap="none" strike="noStrike">
                <a:solidFill>
                  <a:srgbClr val="27252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imu0_differential: true</a:t>
            </a:r>
            <a:r>
              <a:rPr b="0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— no magnetometer in simulation → only change in angle is fused, eliminating the 150° heading runaway seen in early experiments</a:t>
            </a:r>
            <a:endParaRPr b="0" i="0" sz="1650" u="none" cap="none" strike="noStrike"/>
          </a:p>
          <a:p>
            <a:pPr indent="0" lvl="0" marL="0" marR="0" rtl="0" algn="l">
              <a:lnSpc>
                <a:spcPct val="15454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Orientation rows (4–6) </a:t>
            </a:r>
            <a:r>
              <a:rPr b="1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DISABLED</a:t>
            </a:r>
            <a:r>
              <a:rPr b="0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— fusing both orientation and angular velocity would double-count the biased gyro signal</a:t>
            </a:r>
            <a:endParaRPr b="0" i="0" sz="1650" u="none" cap="none" strike="noStrike"/>
          </a:p>
        </p:txBody>
      </p:sp>
      <p:sp>
        <p:nvSpPr>
          <p:cNvPr id="296" name="Google Shape;296;p21"/>
          <p:cNvSpPr/>
          <p:nvPr/>
        </p:nvSpPr>
        <p:spPr>
          <a:xfrm>
            <a:off x="8260794" y="2502456"/>
            <a:ext cx="4353044" cy="3479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50"/>
              <a:buFont typeface="Petrona"/>
              <a:buNone/>
            </a:pPr>
            <a:r>
              <a:rPr b="1" i="0" lang="en-US" sz="215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Measured Noise — Stationary 60 s</a:t>
            </a:r>
            <a:endParaRPr b="0" i="0" sz="2150" u="none" cap="none" strike="noStrike"/>
          </a:p>
        </p:txBody>
      </p:sp>
      <p:sp>
        <p:nvSpPr>
          <p:cNvPr id="297" name="Google Shape;297;p21"/>
          <p:cNvSpPr/>
          <p:nvPr/>
        </p:nvSpPr>
        <p:spPr>
          <a:xfrm>
            <a:off x="8260794" y="3073479"/>
            <a:ext cx="5595818" cy="2394347"/>
          </a:xfrm>
          <a:prstGeom prst="roundRect">
            <a:avLst>
              <a:gd fmla="val 3721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21"/>
          <p:cNvSpPr/>
          <p:nvPr/>
        </p:nvSpPr>
        <p:spPr>
          <a:xfrm>
            <a:off x="8250200" y="3073475"/>
            <a:ext cx="5616900" cy="2554800"/>
          </a:xfrm>
          <a:prstGeom prst="roundRect">
            <a:avLst>
              <a:gd fmla="val 1329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1"/>
          <p:cNvSpPr/>
          <p:nvPr/>
        </p:nvSpPr>
        <p:spPr>
          <a:xfrm>
            <a:off x="8515231" y="3285530"/>
            <a:ext cx="5086945" cy="19702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54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Consolas"/>
              <a:buNone/>
            </a:pPr>
            <a:r>
              <a:rPr b="0" i="0" lang="en-US" sz="1650" u="none" cap="none" strike="noStrike">
                <a:solidFill>
                  <a:srgbClr val="272525"/>
                </a:solidFill>
                <a:latin typeface="Consolas"/>
                <a:ea typeface="Consolas"/>
                <a:cs typeface="Consolas"/>
                <a:sym typeface="Consolas"/>
              </a:rPr>
              <a:t>Accel X var=0.969 σ=0.985 m/s²</a:t>
            </a:r>
            <a:endParaRPr b="0" i="0" sz="1650" u="none" cap="none" strike="noStrike"/>
          </a:p>
          <a:p>
            <a:pPr indent="0" lvl="0" marL="0" marR="0" rtl="0" algn="l">
              <a:lnSpc>
                <a:spcPct val="15454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Consolas"/>
              <a:buNone/>
            </a:pPr>
            <a:r>
              <a:rPr b="0" i="0" lang="en-US" sz="1650" u="none" cap="none" strike="noStrike">
                <a:solidFill>
                  <a:srgbClr val="272525"/>
                </a:solidFill>
                <a:latin typeface="Consolas"/>
                <a:ea typeface="Consolas"/>
                <a:cs typeface="Consolas"/>
                <a:sym typeface="Consolas"/>
              </a:rPr>
              <a:t>Accel Y var=0.565 σ=0.752 m/s²</a:t>
            </a:r>
            <a:endParaRPr b="0" i="0" sz="1650" u="none" cap="none" strike="noStrike"/>
          </a:p>
          <a:p>
            <a:pPr indent="0" lvl="0" marL="0" marR="0" rtl="0" algn="l">
              <a:lnSpc>
                <a:spcPct val="15454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Consolas"/>
              <a:buNone/>
            </a:pPr>
            <a:r>
              <a:rPr b="0" i="0" lang="en-US" sz="1650" u="none" cap="none" strike="noStrike">
                <a:solidFill>
                  <a:srgbClr val="272525"/>
                </a:solidFill>
                <a:latin typeface="Consolas"/>
                <a:ea typeface="Consolas"/>
                <a:cs typeface="Consolas"/>
                <a:sym typeface="Consolas"/>
              </a:rPr>
              <a:t>Accel Z var=0.691 σ=0.831 m/s²</a:t>
            </a:r>
            <a:endParaRPr b="0" i="0" sz="1650" u="none" cap="none" strike="noStrike"/>
          </a:p>
          <a:p>
            <a:pPr indent="0" lvl="0" marL="0" marR="0" rtl="0" algn="l">
              <a:lnSpc>
                <a:spcPct val="15454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Consolas"/>
              <a:buNone/>
            </a:pPr>
            <a:r>
              <a:rPr b="0" i="0" lang="en-US" sz="1650" u="none" cap="none" strike="noStrike">
                <a:solidFill>
                  <a:srgbClr val="272525"/>
                </a:solidFill>
                <a:latin typeface="Consolas"/>
                <a:ea typeface="Consolas"/>
                <a:cs typeface="Consolas"/>
                <a:sym typeface="Consolas"/>
              </a:rPr>
              <a:t>Gyro X var=0.000226 σ=0.015 rad/s</a:t>
            </a:r>
            <a:endParaRPr b="0" i="0" sz="1650" u="none" cap="none" strike="noStrike"/>
          </a:p>
          <a:p>
            <a:pPr indent="0" lvl="0" marL="0" marR="0" rtl="0" algn="l">
              <a:lnSpc>
                <a:spcPct val="15454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Consolas"/>
              <a:buNone/>
            </a:pPr>
            <a:r>
              <a:rPr b="0" i="0" lang="en-US" sz="1650" u="none" cap="none" strike="noStrike">
                <a:solidFill>
                  <a:srgbClr val="272525"/>
                </a:solidFill>
                <a:latin typeface="Consolas"/>
                <a:ea typeface="Consolas"/>
                <a:cs typeface="Consolas"/>
                <a:sym typeface="Consolas"/>
              </a:rPr>
              <a:t>Gyro Y var=0.001462 σ=0.038 rad/s</a:t>
            </a:r>
            <a:endParaRPr b="0" i="0" sz="1650" u="none" cap="none" strike="noStrike"/>
          </a:p>
          <a:p>
            <a:pPr indent="0" lvl="0" marL="0" marR="0" rtl="0" algn="l">
              <a:lnSpc>
                <a:spcPct val="15454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Consolas"/>
              <a:buNone/>
            </a:pPr>
            <a:r>
              <a:rPr b="0" i="0" lang="en-US" sz="1650" u="none" cap="none" strike="noStrike">
                <a:solidFill>
                  <a:srgbClr val="272525"/>
                </a:solidFill>
                <a:latin typeface="Consolas"/>
                <a:ea typeface="Consolas"/>
                <a:cs typeface="Consolas"/>
                <a:sym typeface="Consolas"/>
              </a:rPr>
              <a:t>Gyro Z var=0.0416 σ=0.204 rad/s</a:t>
            </a:r>
            <a:endParaRPr b="0" i="0" sz="1650" u="none" cap="none" strike="noStrike"/>
          </a:p>
        </p:txBody>
      </p:sp>
      <p:sp>
        <p:nvSpPr>
          <p:cNvPr id="300" name="Google Shape;300;p21"/>
          <p:cNvSpPr/>
          <p:nvPr/>
        </p:nvSpPr>
        <p:spPr>
          <a:xfrm>
            <a:off x="8260794" y="5990207"/>
            <a:ext cx="5595900" cy="6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54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Key insight: Gyro Z variance (0.0416) is 184× larger than Gyro X (0.000226)</a:t>
            </a:r>
            <a:endParaRPr b="0" i="0" sz="1650" u="none" cap="none" strike="noStrike"/>
          </a:p>
        </p:txBody>
      </p:sp>
      <p:sp>
        <p:nvSpPr>
          <p:cNvPr id="301" name="Google Shape;301;p21"/>
          <p:cNvSpPr/>
          <p:nvPr/>
        </p:nvSpPr>
        <p:spPr>
          <a:xfrm>
            <a:off x="8260794" y="6825431"/>
            <a:ext cx="5595900" cy="3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54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Yaw is the weakest IMU channel</a:t>
            </a:r>
            <a:endParaRPr b="0" i="0" sz="1650" u="none" cap="none" strike="noStrike"/>
          </a:p>
        </p:txBody>
      </p:sp>
      <p:sp>
        <p:nvSpPr>
          <p:cNvPr id="302" name="Google Shape;302;p21"/>
          <p:cNvSpPr/>
          <p:nvPr/>
        </p:nvSpPr>
        <p:spPr>
          <a:xfrm>
            <a:off x="12845075" y="7780725"/>
            <a:ext cx="1680600" cy="356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9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2"/>
          <p:cNvSpPr/>
          <p:nvPr/>
        </p:nvSpPr>
        <p:spPr>
          <a:xfrm>
            <a:off x="793802" y="973450"/>
            <a:ext cx="13042800" cy="5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Petrona"/>
              <a:buNone/>
            </a:pPr>
            <a:r>
              <a:rPr b="1" i="0" lang="en-US" sz="375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Wheel Odometry — Dead Reckoning from Encoders</a:t>
            </a:r>
            <a:endParaRPr b="0" i="0" sz="3750" u="none" cap="none" strike="noStrike"/>
          </a:p>
        </p:txBody>
      </p:sp>
      <p:sp>
        <p:nvSpPr>
          <p:cNvPr id="309" name="Google Shape;309;p22"/>
          <p:cNvSpPr/>
          <p:nvPr/>
        </p:nvSpPr>
        <p:spPr>
          <a:xfrm>
            <a:off x="793790" y="1859161"/>
            <a:ext cx="13042821" cy="5224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Inter"/>
              <a:buNone/>
            </a:pPr>
            <a:r>
              <a:rPr b="0" i="0" lang="en-US" sz="14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Reliable, high-rate velocity source. The critical design decision: fuse </a:t>
            </a:r>
            <a:r>
              <a:rPr b="1" i="0" lang="en-US" sz="14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velocity</a:t>
            </a:r>
            <a:r>
              <a:rPr b="0" i="0" lang="en-US" sz="14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, not absolute position — preventing wheel slip drift from contaminating the global estimate.</a:t>
            </a:r>
            <a:endParaRPr b="0" i="0" sz="1400" u="none" cap="none" strike="noStrike"/>
          </a:p>
        </p:txBody>
      </p:sp>
      <p:sp>
        <p:nvSpPr>
          <p:cNvPr id="310" name="Google Shape;310;p22"/>
          <p:cNvSpPr/>
          <p:nvPr/>
        </p:nvSpPr>
        <p:spPr>
          <a:xfrm>
            <a:off x="793790" y="2689979"/>
            <a:ext cx="3220879" cy="297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Petrona"/>
              <a:buNone/>
            </a:pPr>
            <a:r>
              <a:rPr b="1" i="0" lang="en-US" sz="185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Differential Drive Kinematics</a:t>
            </a:r>
            <a:endParaRPr b="0" i="0" sz="1850" u="none" cap="none" strike="noStrike"/>
          </a:p>
        </p:txBody>
      </p:sp>
      <p:sp>
        <p:nvSpPr>
          <p:cNvPr id="311" name="Google Shape;311;p22"/>
          <p:cNvSpPr/>
          <p:nvPr/>
        </p:nvSpPr>
        <p:spPr>
          <a:xfrm>
            <a:off x="793790" y="3150870"/>
            <a:ext cx="6300073" cy="1930241"/>
          </a:xfrm>
          <a:prstGeom prst="roundRect">
            <a:avLst>
              <a:gd fmla="val 3948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22"/>
          <p:cNvSpPr/>
          <p:nvPr/>
        </p:nvSpPr>
        <p:spPr>
          <a:xfrm>
            <a:off x="784741" y="3150870"/>
            <a:ext cx="6318171" cy="1930241"/>
          </a:xfrm>
          <a:prstGeom prst="roundRect">
            <a:avLst>
              <a:gd fmla="val 1410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22"/>
          <p:cNvSpPr/>
          <p:nvPr/>
        </p:nvSpPr>
        <p:spPr>
          <a:xfrm>
            <a:off x="1011555" y="3332321"/>
            <a:ext cx="5864543" cy="15673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272525"/>
                </a:solidFill>
                <a:latin typeface="Consolas"/>
                <a:ea typeface="Consolas"/>
                <a:cs typeface="Consolas"/>
                <a:sym typeface="Consolas"/>
              </a:rPr>
              <a:t># Forward arc and heading change</a:t>
            </a:r>
            <a:endParaRPr b="0" i="0" sz="1400" u="none" cap="none" strike="noStrike"/>
          </a:p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272525"/>
                </a:solidFill>
                <a:latin typeface="Consolas"/>
                <a:ea typeface="Consolas"/>
                <a:cs typeface="Consolas"/>
                <a:sym typeface="Consolas"/>
              </a:rPr>
              <a:t>ΔS  = (ΔS_right + ΔS_left) / 2</a:t>
            </a:r>
            <a:endParaRPr b="0" i="0" sz="1400" u="none" cap="none" strike="noStrike"/>
          </a:p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272525"/>
                </a:solidFill>
                <a:latin typeface="Consolas"/>
                <a:ea typeface="Consolas"/>
                <a:cs typeface="Consolas"/>
                <a:sym typeface="Consolas"/>
              </a:rPr>
              <a:t>Δθ  = (ΔS_right - ΔS_left) / wheel_base</a:t>
            </a:r>
            <a:endParaRPr b="0" i="0" sz="1400" u="none" cap="none" strike="noStrike"/>
          </a:p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272525"/>
                </a:solidFill>
                <a:latin typeface="Consolas"/>
                <a:ea typeface="Consolas"/>
                <a:cs typeface="Consolas"/>
                <a:sym typeface="Consolas"/>
              </a:rPr>
              <a:t>x   = x + ΔS · cos(θ + Δθ/2)</a:t>
            </a:r>
            <a:endParaRPr b="0" i="0" sz="1400" u="none" cap="none" strike="noStrike"/>
          </a:p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272525"/>
                </a:solidFill>
                <a:latin typeface="Consolas"/>
                <a:ea typeface="Consolas"/>
                <a:cs typeface="Consolas"/>
                <a:sym typeface="Consolas"/>
              </a:rPr>
              <a:t>y   = y + ΔS · sin(θ + Δθ/2)</a:t>
            </a:r>
            <a:endParaRPr b="0" i="0" sz="1400" u="none" cap="none" strike="noStrike"/>
          </a:p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272525"/>
                </a:solidFill>
                <a:latin typeface="Consolas"/>
                <a:ea typeface="Consolas"/>
                <a:cs typeface="Consolas"/>
                <a:sym typeface="Consolas"/>
              </a:rPr>
              <a:t>θ   = θ + Δθ</a:t>
            </a:r>
            <a:endParaRPr b="0" i="0" sz="1400" u="none" cap="none" strike="noStrike"/>
          </a:p>
        </p:txBody>
      </p:sp>
      <p:sp>
        <p:nvSpPr>
          <p:cNvPr id="314" name="Google Shape;314;p22"/>
          <p:cNvSpPr/>
          <p:nvPr/>
        </p:nvSpPr>
        <p:spPr>
          <a:xfrm>
            <a:off x="793790" y="5244346"/>
            <a:ext cx="6300073" cy="1456730"/>
          </a:xfrm>
          <a:prstGeom prst="roundRect">
            <a:avLst>
              <a:gd fmla="val 5232" name="adj"/>
            </a:avLst>
          </a:prstGeom>
          <a:solidFill>
            <a:srgbClr val="B6D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5" name="Google Shape;31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5241" y="5502831"/>
            <a:ext cx="226814" cy="181451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2"/>
          <p:cNvSpPr/>
          <p:nvPr/>
        </p:nvSpPr>
        <p:spPr>
          <a:xfrm>
            <a:off x="1383506" y="5434846"/>
            <a:ext cx="5528905" cy="10448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Why fuse velocity, not position?</a:t>
            </a:r>
            <a:r>
              <a:rPr b="0" i="0" lang="en-US" sz="14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Fusing absolute wheel odom position couples the EKF to accumulated slip drift. Fusing only vx and vyaw lets GPS independently correct global position — no drift coupling.</a:t>
            </a:r>
            <a:endParaRPr b="0" i="0" sz="1400" u="none" cap="none" strike="noStrike"/>
          </a:p>
        </p:txBody>
      </p:sp>
      <p:sp>
        <p:nvSpPr>
          <p:cNvPr id="317" name="Google Shape;317;p22"/>
          <p:cNvSpPr/>
          <p:nvPr/>
        </p:nvSpPr>
        <p:spPr>
          <a:xfrm>
            <a:off x="793790" y="6864310"/>
            <a:ext cx="6300073" cy="2612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Inter"/>
              <a:buNone/>
            </a:pPr>
            <a:r>
              <a:rPr b="0" i="0" lang="en-US" sz="14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Measured: vx σ ≈ </a:t>
            </a:r>
            <a:r>
              <a:rPr b="1" i="0" lang="en-US" sz="14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0.03 m/s</a:t>
            </a:r>
            <a:r>
              <a:rPr b="0" i="0" lang="en-US" sz="14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— very clean signal in Gazebo simulation.</a:t>
            </a:r>
            <a:endParaRPr b="0" i="0" sz="1400" u="none" cap="none" strike="noStrike"/>
          </a:p>
        </p:txBody>
      </p:sp>
      <p:sp>
        <p:nvSpPr>
          <p:cNvPr id="318" name="Google Shape;318;p22"/>
          <p:cNvSpPr/>
          <p:nvPr/>
        </p:nvSpPr>
        <p:spPr>
          <a:xfrm>
            <a:off x="7544157" y="2689979"/>
            <a:ext cx="2381607" cy="297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Petrona"/>
              <a:buNone/>
            </a:pPr>
            <a:r>
              <a:rPr b="1" i="0" lang="en-US" sz="185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EKF Config (odom0)</a:t>
            </a:r>
            <a:endParaRPr b="0" i="0" sz="1850" u="none" cap="none" strike="noStrike"/>
          </a:p>
        </p:txBody>
      </p:sp>
      <p:sp>
        <p:nvSpPr>
          <p:cNvPr id="319" name="Google Shape;319;p22"/>
          <p:cNvSpPr/>
          <p:nvPr/>
        </p:nvSpPr>
        <p:spPr>
          <a:xfrm>
            <a:off x="7544157" y="3150870"/>
            <a:ext cx="6300073" cy="2975134"/>
          </a:xfrm>
          <a:prstGeom prst="roundRect">
            <a:avLst>
              <a:gd fmla="val 2562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22"/>
          <p:cNvSpPr/>
          <p:nvPr/>
        </p:nvSpPr>
        <p:spPr>
          <a:xfrm>
            <a:off x="7535108" y="3150870"/>
            <a:ext cx="6318171" cy="2975134"/>
          </a:xfrm>
          <a:prstGeom prst="roundRect">
            <a:avLst>
              <a:gd fmla="val 915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22"/>
          <p:cNvSpPr/>
          <p:nvPr/>
        </p:nvSpPr>
        <p:spPr>
          <a:xfrm>
            <a:off x="7761923" y="3332321"/>
            <a:ext cx="5864543" cy="26122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odom0_config:</a:t>
            </a:r>
            <a:br>
              <a:rPr b="0" i="0" lang="en-US" sz="140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40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[false, false, false,  # x, y, z:    DISABLED</a:t>
            </a:r>
            <a:br>
              <a:rPr b="0" i="0" lang="en-US" sz="140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40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false, false, false,  # roll,pitch,yaw: OFF</a:t>
            </a:r>
            <a:br>
              <a:rPr b="0" i="0" lang="en-US" sz="140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40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true,  false, false,  # vx: ENABLED</a:t>
            </a:r>
            <a:br>
              <a:rPr b="0" i="0" lang="en-US" sz="140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40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false, false, true,   # vyaw: ENABLED</a:t>
            </a:r>
            <a:br>
              <a:rPr b="0" i="0" lang="en-US" sz="140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40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false, false, false]  # accel: OFF</a:t>
            </a:r>
            <a:br>
              <a:rPr b="0" i="0" lang="en-US" sz="140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140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40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# vy = 0 mechanically (diff drive)</a:t>
            </a:r>
            <a:br>
              <a:rPr b="0" i="0" lang="en-US" sz="140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40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# cannot move side ways</a:t>
            </a:r>
            <a:br>
              <a:rPr b="0" i="0" lang="en-US" sz="140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</a:br>
            <a:endParaRPr b="0" i="0" sz="1400" u="none" cap="none" strike="noStrike"/>
          </a:p>
        </p:txBody>
      </p:sp>
      <p:sp>
        <p:nvSpPr>
          <p:cNvPr id="322" name="Google Shape;322;p22"/>
          <p:cNvSpPr/>
          <p:nvPr/>
        </p:nvSpPr>
        <p:spPr>
          <a:xfrm>
            <a:off x="7544157" y="6289238"/>
            <a:ext cx="6300073" cy="7989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27252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odom0_relative</a:t>
            </a:r>
            <a:r>
              <a:rPr b="0" i="0" lang="en-US" sz="14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: false  →  measurements in global odom frame</a:t>
            </a:r>
            <a:endParaRPr b="0" i="0" sz="1400" u="none" cap="none" strike="noStrike"/>
          </a:p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27252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odom0_differential</a:t>
            </a:r>
            <a:r>
              <a:rPr b="0" i="0" lang="en-US" sz="14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: false  →  wheel odom is stable (no loop closure)</a:t>
            </a:r>
            <a:endParaRPr b="0" i="0" sz="1400" u="none" cap="none" strike="noStrike"/>
          </a:p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Inter"/>
              <a:buNone/>
            </a:pPr>
            <a:r>
              <a:rPr b="0" i="0" lang="en-US" sz="14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Noise: std_dev ≈ 0.03 m/s  →  low covariance in YAML config</a:t>
            </a:r>
            <a:endParaRPr b="0" i="0" sz="1400" u="none" cap="none" strike="noStrike"/>
          </a:p>
        </p:txBody>
      </p:sp>
      <p:sp>
        <p:nvSpPr>
          <p:cNvPr id="323" name="Google Shape;323;p22"/>
          <p:cNvSpPr/>
          <p:nvPr/>
        </p:nvSpPr>
        <p:spPr>
          <a:xfrm>
            <a:off x="12845075" y="7780725"/>
            <a:ext cx="1680600" cy="356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3"/>
          <p:cNvSpPr/>
          <p:nvPr/>
        </p:nvSpPr>
        <p:spPr>
          <a:xfrm>
            <a:off x="793790" y="801410"/>
            <a:ext cx="9452700" cy="7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Petrona"/>
              <a:buNone/>
            </a:pPr>
            <a:r>
              <a:rPr b="1" i="0" lang="en-US" sz="445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Visual Odometry &amp; LiDAR Odometry</a:t>
            </a:r>
            <a:endParaRPr b="0" i="0" sz="4450" u="none" cap="none" strike="noStrike"/>
          </a:p>
        </p:txBody>
      </p:sp>
      <p:sp>
        <p:nvSpPr>
          <p:cNvPr id="330" name="Google Shape;330;p23"/>
          <p:cNvSpPr/>
          <p:nvPr/>
        </p:nvSpPr>
        <p:spPr>
          <a:xfrm>
            <a:off x="793790" y="1917740"/>
            <a:ext cx="13042800" cy="6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Geometry-consistent odometry sources with loop-closure discontinuities — requires differential mode for stable EKF integration.</a:t>
            </a:r>
            <a:endParaRPr b="0" i="0" sz="1650" u="none" cap="none" strike="noStrike"/>
          </a:p>
        </p:txBody>
      </p:sp>
      <p:sp>
        <p:nvSpPr>
          <p:cNvPr id="331" name="Google Shape;331;p23"/>
          <p:cNvSpPr/>
          <p:nvPr/>
        </p:nvSpPr>
        <p:spPr>
          <a:xfrm>
            <a:off x="638532" y="2820233"/>
            <a:ext cx="6569100" cy="4607700"/>
          </a:xfrm>
          <a:prstGeom prst="roundRect">
            <a:avLst>
              <a:gd fmla="val 3367" name="adj"/>
            </a:avLst>
          </a:prstGeom>
          <a:solidFill>
            <a:srgbClr val="007EBD">
              <a:alpha val="9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23"/>
          <p:cNvSpPr/>
          <p:nvPr/>
        </p:nvSpPr>
        <p:spPr>
          <a:xfrm>
            <a:off x="853916" y="3050500"/>
            <a:ext cx="3077400" cy="397800"/>
          </a:xfrm>
          <a:prstGeom prst="roundRect">
            <a:avLst>
              <a:gd fmla="val 18196" name="adj"/>
            </a:avLst>
          </a:prstGeom>
          <a:solidFill>
            <a:srgbClr val="AFC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23"/>
          <p:cNvSpPr/>
          <p:nvPr/>
        </p:nvSpPr>
        <p:spPr>
          <a:xfrm>
            <a:off x="983099" y="3115032"/>
            <a:ext cx="2819100" cy="2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Inter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VISUAL ODOMETRY — RTAB-MAP</a:t>
            </a:r>
            <a:endParaRPr b="0" i="0" sz="1350" u="none" cap="none" strike="noStrike"/>
          </a:p>
        </p:txBody>
      </p:sp>
      <p:sp>
        <p:nvSpPr>
          <p:cNvPr id="334" name="Google Shape;334;p23"/>
          <p:cNvSpPr/>
          <p:nvPr/>
        </p:nvSpPr>
        <p:spPr>
          <a:xfrm>
            <a:off x="853916" y="3678674"/>
            <a:ext cx="6138300" cy="3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Inter"/>
              <a:buChar char="•"/>
            </a:pPr>
            <a:r>
              <a:rPr b="0" i="0" lang="en-US" sz="16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Real-time feature matching across frames; homography / essential matrix for camera motion</a:t>
            </a:r>
            <a:endParaRPr b="0" i="0" sz="1650" u="none" cap="none" strike="noStrike"/>
          </a:p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Loop-closure detection corrects drift via a </a:t>
            </a:r>
            <a:r>
              <a:rPr b="1" i="0" lang="en-US" sz="16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sudden absolute pose jump (+2 m)</a:t>
            </a:r>
            <a:r>
              <a:rPr b="0" i="0" lang="en-US" sz="16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→ EKF diverges</a:t>
            </a:r>
            <a:endParaRPr b="0" i="0" sz="1650" u="none" cap="none" strike="noStrike"/>
          </a:p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Fix</a:t>
            </a:r>
            <a:r>
              <a:rPr b="0" i="0" lang="en-US" sz="16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r>
              <a:rPr b="0" i="0" lang="en-US" sz="1650" u="none" cap="none" strike="noStrike">
                <a:solidFill>
                  <a:srgbClr val="000000"/>
                </a:solidFill>
                <a:highlight>
                  <a:srgbClr val="0D8BCA"/>
                </a:highlight>
                <a:latin typeface="Consolas"/>
                <a:ea typeface="Consolas"/>
                <a:cs typeface="Consolas"/>
                <a:sym typeface="Consolas"/>
              </a:rPr>
              <a:t>odom1_differential: true</a:t>
            </a:r>
            <a:r>
              <a:rPr b="0" i="0" lang="en-US" sz="16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→ EKF computes Δpose; large jumps rejected by </a:t>
            </a:r>
            <a:r>
              <a:rPr b="0" i="0" lang="en-US" sz="1650" u="none" cap="none" strike="noStrike">
                <a:solidFill>
                  <a:srgbClr val="000000"/>
                </a:solidFill>
                <a:highlight>
                  <a:srgbClr val="0D8BCA"/>
                </a:highlight>
                <a:latin typeface="Consolas"/>
                <a:ea typeface="Consolas"/>
                <a:cs typeface="Consolas"/>
                <a:sym typeface="Consolas"/>
              </a:rPr>
              <a:t>pose_rejection_threshold: 1.5</a:t>
            </a:r>
            <a:r>
              <a:rPr b="0" i="0" lang="en-US" sz="16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(Mahalanobis)</a:t>
            </a:r>
            <a:endParaRPr b="0" i="0" sz="1650" u="none" cap="none" strike="noStrike"/>
          </a:p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Noise: σ ≈ 0.48 m/s for vx (starburst interference on agricultural tiles); covariance set to </a:t>
            </a:r>
            <a:r>
              <a:rPr b="1" i="0" lang="en-US" sz="16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0.5</a:t>
            </a:r>
            <a:endParaRPr b="0" i="0" sz="1650" u="none" cap="none" strike="noStrike"/>
          </a:p>
        </p:txBody>
      </p:sp>
      <p:sp>
        <p:nvSpPr>
          <p:cNvPr id="335" name="Google Shape;335;p23"/>
          <p:cNvSpPr/>
          <p:nvPr/>
        </p:nvSpPr>
        <p:spPr>
          <a:xfrm>
            <a:off x="7585710" y="3050500"/>
            <a:ext cx="2937900" cy="413100"/>
          </a:xfrm>
          <a:prstGeom prst="roundRect">
            <a:avLst>
              <a:gd fmla="val 17525" name="adj"/>
            </a:avLst>
          </a:prstGeom>
          <a:noFill/>
          <a:ln cap="flat" cmpd="sng" w="9525">
            <a:solidFill>
              <a:srgbClr val="007E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23"/>
          <p:cNvSpPr/>
          <p:nvPr/>
        </p:nvSpPr>
        <p:spPr>
          <a:xfrm>
            <a:off x="7722513" y="3122652"/>
            <a:ext cx="2664300" cy="2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007EBD"/>
              </a:buClr>
              <a:buSzPts val="1350"/>
              <a:buFont typeface="Inter"/>
              <a:buNone/>
            </a:pPr>
            <a:r>
              <a:rPr b="0" i="0" lang="en-US" sz="1350" u="none" cap="none" strike="noStrike">
                <a:solidFill>
                  <a:srgbClr val="007EBD"/>
                </a:solidFill>
                <a:latin typeface="Inter"/>
                <a:ea typeface="Inter"/>
                <a:cs typeface="Inter"/>
                <a:sym typeface="Inter"/>
              </a:rPr>
              <a:t>LIDAR ODOMETRY — </a:t>
            </a:r>
            <a:r>
              <a:rPr lang="en-US" sz="1350">
                <a:solidFill>
                  <a:srgbClr val="007EBD"/>
                </a:solidFill>
                <a:latin typeface="Inter"/>
                <a:ea typeface="Inter"/>
                <a:cs typeface="Inter"/>
                <a:sym typeface="Inter"/>
              </a:rPr>
              <a:t>rtab ICP</a:t>
            </a:r>
            <a:endParaRPr b="0" i="0" sz="1350" u="none" cap="none" strike="noStrike"/>
          </a:p>
        </p:txBody>
      </p:sp>
      <p:sp>
        <p:nvSpPr>
          <p:cNvPr id="337" name="Google Shape;337;p23"/>
          <p:cNvSpPr/>
          <p:nvPr/>
        </p:nvSpPr>
        <p:spPr>
          <a:xfrm>
            <a:off x="7585710" y="3693914"/>
            <a:ext cx="6258600" cy="36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Inter"/>
              <a:buChar char="•"/>
            </a:pPr>
            <a:r>
              <a:rPr b="0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Iterative Error State KF (IESIKF) — tightly coupled IMU + LiDAR</a:t>
            </a:r>
            <a:endParaRPr b="0" i="0" sz="1650" u="none" cap="none" strike="noStrike"/>
          </a:p>
          <a:p>
            <a:pPr indent="-342900" lvl="0" marL="34290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Inter"/>
              <a:buChar char="•"/>
            </a:pPr>
            <a:r>
              <a:rPr b="0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ICP-variant: registers 3D point cloud against local map; no visual features → works in low-texture environments</a:t>
            </a:r>
            <a:endParaRPr b="0" i="0" sz="1650" u="none" cap="none" strike="noStrike"/>
          </a:p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Loop-closure discontinuities still present → same </a:t>
            </a:r>
            <a:r>
              <a:rPr b="0" i="0" lang="en-US" sz="1650" u="none" cap="none" strike="noStrike">
                <a:solidFill>
                  <a:srgbClr val="27252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differential: true</a:t>
            </a:r>
            <a:r>
              <a:rPr b="0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treatment</a:t>
            </a:r>
            <a:endParaRPr b="0" i="0" sz="1650" u="none" cap="none" strike="noStrike"/>
          </a:p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vx σ ≈ 0.29 m/s; vyaw σ ≈ 0.21 rad/s; covariance: </a:t>
            </a:r>
            <a:r>
              <a:rPr b="1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0.02</a:t>
            </a:r>
            <a:r>
              <a:rPr b="0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(more trusted than VO)</a:t>
            </a:r>
            <a:endParaRPr b="0" i="0" sz="1650" u="none" cap="none" strike="noStrike"/>
          </a:p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Consolas"/>
              <a:buNone/>
            </a:pPr>
            <a:r>
              <a:rPr b="0" i="0" lang="en-US" sz="1650" u="none" cap="none" strike="noStrike">
                <a:solidFill>
                  <a:srgbClr val="27252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pose_rejection_threshold: 2.0</a:t>
            </a:r>
            <a:r>
              <a:rPr b="0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— cleaner signal allows more measurements through</a:t>
            </a:r>
            <a:endParaRPr b="0" i="0" sz="1650" u="none" cap="none" strike="noStrike"/>
          </a:p>
        </p:txBody>
      </p:sp>
      <p:sp>
        <p:nvSpPr>
          <p:cNvPr id="338" name="Google Shape;338;p23"/>
          <p:cNvSpPr/>
          <p:nvPr/>
        </p:nvSpPr>
        <p:spPr>
          <a:xfrm>
            <a:off x="12845075" y="7780725"/>
            <a:ext cx="1680600" cy="356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11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4"/>
          <p:cNvSpPr/>
          <p:nvPr/>
        </p:nvSpPr>
        <p:spPr>
          <a:xfrm>
            <a:off x="793790" y="650200"/>
            <a:ext cx="84186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5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50"/>
              <a:buFont typeface="Petrona"/>
              <a:buNone/>
            </a:pPr>
            <a:r>
              <a:rPr b="1" i="0" lang="en-US" sz="325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GPS Integration — From Lat/Lon to Local XY</a:t>
            </a:r>
            <a:endParaRPr b="0" i="0" sz="3250" u="none" cap="none" strike="noStrike"/>
          </a:p>
        </p:txBody>
      </p:sp>
      <p:sp>
        <p:nvSpPr>
          <p:cNvPr id="345" name="Google Shape;345;p24"/>
          <p:cNvSpPr/>
          <p:nvPr/>
        </p:nvSpPr>
        <p:spPr>
          <a:xfrm>
            <a:off x="793790" y="1393508"/>
            <a:ext cx="130428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navsat_transform_node</a:t>
            </a: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bridges WGS84 coordinates and the EKF's metric frame.</a:t>
            </a:r>
            <a:endParaRPr b="0" i="0" sz="1250" u="none" cap="none" strike="noStrike"/>
          </a:p>
        </p:txBody>
      </p:sp>
      <p:sp>
        <p:nvSpPr>
          <p:cNvPr id="346" name="Google Shape;346;p24"/>
          <p:cNvSpPr/>
          <p:nvPr/>
        </p:nvSpPr>
        <p:spPr>
          <a:xfrm>
            <a:off x="793790" y="1853208"/>
            <a:ext cx="27639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1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Petrona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NavSat Transform Algorithm</a:t>
            </a:r>
            <a:endParaRPr b="0" i="0" sz="1600" u="none" cap="none" strike="noStrike"/>
          </a:p>
        </p:txBody>
      </p:sp>
      <p:sp>
        <p:nvSpPr>
          <p:cNvPr id="347" name="Google Shape;347;p24"/>
          <p:cNvSpPr/>
          <p:nvPr/>
        </p:nvSpPr>
        <p:spPr>
          <a:xfrm>
            <a:off x="793790" y="2238613"/>
            <a:ext cx="317400" cy="19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Petrona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01</a:t>
            </a:r>
            <a:endParaRPr b="0" i="0" sz="1250" u="none" cap="none" strike="noStrike"/>
          </a:p>
        </p:txBody>
      </p:sp>
      <p:sp>
        <p:nvSpPr>
          <p:cNvPr id="348" name="Google Shape;348;p24"/>
          <p:cNvSpPr/>
          <p:nvPr/>
        </p:nvSpPr>
        <p:spPr>
          <a:xfrm>
            <a:off x="793790" y="2485430"/>
            <a:ext cx="2974200" cy="22800"/>
          </a:xfrm>
          <a:prstGeom prst="rect">
            <a:avLst/>
          </a:prstGeom>
          <a:solidFill>
            <a:srgbClr val="007EB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24"/>
          <p:cNvSpPr/>
          <p:nvPr/>
        </p:nvSpPr>
        <p:spPr>
          <a:xfrm>
            <a:off x="793790" y="2610445"/>
            <a:ext cx="20841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12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00"/>
              <a:buFont typeface="Petrona"/>
              <a:buNone/>
            </a:pPr>
            <a:r>
              <a:rPr b="1" i="0" lang="en-US" sz="16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Wait 3.0 s</a:t>
            </a:r>
            <a:endParaRPr b="0" i="0" sz="1600" u="none" cap="none" strike="noStrike"/>
          </a:p>
        </p:txBody>
      </p:sp>
      <p:sp>
        <p:nvSpPr>
          <p:cNvPr id="350" name="Google Shape;350;p24"/>
          <p:cNvSpPr/>
          <p:nvPr/>
        </p:nvSpPr>
        <p:spPr>
          <a:xfrm>
            <a:off x="793790" y="2981920"/>
            <a:ext cx="29742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Allow EKF to stabilise heading before accepting GPS fixes.</a:t>
            </a:r>
            <a:endParaRPr b="0" i="0" sz="1250" u="none" cap="none" strike="noStrike"/>
          </a:p>
        </p:txBody>
      </p:sp>
      <p:sp>
        <p:nvSpPr>
          <p:cNvPr id="351" name="Google Shape;351;p24"/>
          <p:cNvSpPr/>
          <p:nvPr/>
        </p:nvSpPr>
        <p:spPr>
          <a:xfrm>
            <a:off x="3878937" y="2238613"/>
            <a:ext cx="317400" cy="19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Petrona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02</a:t>
            </a:r>
            <a:endParaRPr b="0" i="0" sz="1250" u="none" cap="none" strike="noStrike"/>
          </a:p>
        </p:txBody>
      </p:sp>
      <p:sp>
        <p:nvSpPr>
          <p:cNvPr id="352" name="Google Shape;352;p24"/>
          <p:cNvSpPr/>
          <p:nvPr/>
        </p:nvSpPr>
        <p:spPr>
          <a:xfrm>
            <a:off x="3878937" y="2485430"/>
            <a:ext cx="2974200" cy="22800"/>
          </a:xfrm>
          <a:prstGeom prst="rect">
            <a:avLst/>
          </a:prstGeom>
          <a:solidFill>
            <a:srgbClr val="007EB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24"/>
          <p:cNvSpPr/>
          <p:nvPr/>
        </p:nvSpPr>
        <p:spPr>
          <a:xfrm>
            <a:off x="3878937" y="2610445"/>
            <a:ext cx="20841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12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00"/>
              <a:buFont typeface="Petrona"/>
              <a:buNone/>
            </a:pPr>
            <a:r>
              <a:rPr b="1" i="0" lang="en-US" sz="16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Record Origin Datum</a:t>
            </a:r>
            <a:endParaRPr b="0" i="0" sz="1600" u="none" cap="none" strike="noStrike"/>
          </a:p>
        </p:txBody>
      </p:sp>
      <p:sp>
        <p:nvSpPr>
          <p:cNvPr id="354" name="Google Shape;354;p24"/>
          <p:cNvSpPr/>
          <p:nvPr/>
        </p:nvSpPr>
        <p:spPr>
          <a:xfrm>
            <a:off x="3878937" y="2981920"/>
            <a:ext cx="29742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First GPS fix becomes the local coordinate origin (lat₀, lon₀).</a:t>
            </a:r>
            <a:endParaRPr b="0" i="0" sz="1250" u="none" cap="none" strike="noStrike"/>
          </a:p>
        </p:txBody>
      </p:sp>
      <p:sp>
        <p:nvSpPr>
          <p:cNvPr id="355" name="Google Shape;355;p24"/>
          <p:cNvSpPr/>
          <p:nvPr/>
        </p:nvSpPr>
        <p:spPr>
          <a:xfrm>
            <a:off x="793790" y="3644027"/>
            <a:ext cx="317400" cy="19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Petrona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03</a:t>
            </a:r>
            <a:endParaRPr b="0" i="0" sz="1250" u="none" cap="none" strike="noStrike"/>
          </a:p>
        </p:txBody>
      </p:sp>
      <p:sp>
        <p:nvSpPr>
          <p:cNvPr id="356" name="Google Shape;356;p24"/>
          <p:cNvSpPr/>
          <p:nvPr/>
        </p:nvSpPr>
        <p:spPr>
          <a:xfrm>
            <a:off x="793790" y="3890843"/>
            <a:ext cx="2974200" cy="22800"/>
          </a:xfrm>
          <a:prstGeom prst="rect">
            <a:avLst/>
          </a:prstGeom>
          <a:solidFill>
            <a:srgbClr val="007EB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24"/>
          <p:cNvSpPr/>
          <p:nvPr/>
        </p:nvSpPr>
        <p:spPr>
          <a:xfrm>
            <a:off x="793790" y="4015859"/>
            <a:ext cx="20841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12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00"/>
              <a:buFont typeface="Petrona"/>
              <a:buNone/>
            </a:pPr>
            <a:r>
              <a:rPr b="1" i="0" lang="en-US" sz="16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Project to Metric XY</a:t>
            </a:r>
            <a:endParaRPr b="0" i="0" sz="1600" u="none" cap="none" strike="noStrike"/>
          </a:p>
        </p:txBody>
      </p:sp>
      <p:sp>
        <p:nvSpPr>
          <p:cNvPr id="358" name="Google Shape;358;p24"/>
          <p:cNvSpPr/>
          <p:nvPr/>
        </p:nvSpPr>
        <p:spPr>
          <a:xfrm>
            <a:off x="793790" y="4387334"/>
            <a:ext cx="29742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x = (lat − lat₀) × 111320 | y = (lon − lon₀) × 111320 × cos(lat₀)</a:t>
            </a:r>
            <a:endParaRPr b="0" i="0" sz="1250" u="none" cap="none" strike="noStrike"/>
          </a:p>
        </p:txBody>
      </p:sp>
      <p:sp>
        <p:nvSpPr>
          <p:cNvPr id="359" name="Google Shape;359;p24"/>
          <p:cNvSpPr/>
          <p:nvPr/>
        </p:nvSpPr>
        <p:spPr>
          <a:xfrm>
            <a:off x="3878937" y="3644027"/>
            <a:ext cx="317400" cy="19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Petrona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04</a:t>
            </a:r>
            <a:endParaRPr b="0" i="0" sz="1250" u="none" cap="none" strike="noStrike"/>
          </a:p>
        </p:txBody>
      </p:sp>
      <p:sp>
        <p:nvSpPr>
          <p:cNvPr id="360" name="Google Shape;360;p24"/>
          <p:cNvSpPr/>
          <p:nvPr/>
        </p:nvSpPr>
        <p:spPr>
          <a:xfrm>
            <a:off x="3878937" y="3890843"/>
            <a:ext cx="2974200" cy="22800"/>
          </a:xfrm>
          <a:prstGeom prst="rect">
            <a:avLst/>
          </a:prstGeom>
          <a:solidFill>
            <a:srgbClr val="007EB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24"/>
          <p:cNvSpPr/>
          <p:nvPr/>
        </p:nvSpPr>
        <p:spPr>
          <a:xfrm>
            <a:off x="3878937" y="4015859"/>
            <a:ext cx="21309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12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00"/>
              <a:buFont typeface="Petrona"/>
              <a:buNone/>
            </a:pPr>
            <a:r>
              <a:rPr b="1" i="0" lang="en-US" sz="16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Rotate into EKF Frame</a:t>
            </a:r>
            <a:endParaRPr b="0" i="0" sz="1600" u="none" cap="none" strike="noStrike"/>
          </a:p>
        </p:txBody>
      </p:sp>
      <p:sp>
        <p:nvSpPr>
          <p:cNvPr id="362" name="Google Shape;362;p24"/>
          <p:cNvSpPr/>
          <p:nvPr/>
        </p:nvSpPr>
        <p:spPr>
          <a:xfrm>
            <a:off x="3878937" y="4387334"/>
            <a:ext cx="2974200" cy="6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Apply IMU heading at initialisation; output </a:t>
            </a:r>
            <a:r>
              <a:rPr b="0" i="0" lang="en-US" sz="1250" u="none" cap="none" strike="noStrike">
                <a:solidFill>
                  <a:srgbClr val="27252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/odometry/gps</a:t>
            </a: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→ fused into EKF #2.</a:t>
            </a:r>
            <a:endParaRPr b="0" i="0" sz="1250" u="none" cap="none" strike="noStrike"/>
          </a:p>
        </p:txBody>
      </p:sp>
      <p:sp>
        <p:nvSpPr>
          <p:cNvPr id="363" name="Google Shape;363;p24"/>
          <p:cNvSpPr/>
          <p:nvPr/>
        </p:nvSpPr>
        <p:spPr>
          <a:xfrm>
            <a:off x="793790" y="5273040"/>
            <a:ext cx="317400" cy="19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Petrona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05</a:t>
            </a:r>
            <a:endParaRPr b="0" i="0" sz="1250" u="none" cap="none" strike="noStrike"/>
          </a:p>
        </p:txBody>
      </p:sp>
      <p:sp>
        <p:nvSpPr>
          <p:cNvPr id="364" name="Google Shape;364;p24"/>
          <p:cNvSpPr/>
          <p:nvPr/>
        </p:nvSpPr>
        <p:spPr>
          <a:xfrm>
            <a:off x="793790" y="5519857"/>
            <a:ext cx="6059100" cy="22800"/>
          </a:xfrm>
          <a:prstGeom prst="rect">
            <a:avLst/>
          </a:prstGeom>
          <a:solidFill>
            <a:srgbClr val="007EB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24"/>
          <p:cNvSpPr/>
          <p:nvPr/>
        </p:nvSpPr>
        <p:spPr>
          <a:xfrm>
            <a:off x="793790" y="5644872"/>
            <a:ext cx="20841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12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00"/>
              <a:buFont typeface="Petrona"/>
              <a:buNone/>
            </a:pPr>
            <a:r>
              <a:rPr b="1" i="0" lang="en-US" sz="16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No GPS Heading</a:t>
            </a:r>
            <a:endParaRPr b="0" i="0" sz="1600" u="none" cap="none" strike="noStrike"/>
          </a:p>
        </p:txBody>
      </p:sp>
      <p:sp>
        <p:nvSpPr>
          <p:cNvPr id="366" name="Google Shape;366;p24"/>
          <p:cNvSpPr/>
          <p:nvPr/>
        </p:nvSpPr>
        <p:spPr>
          <a:xfrm>
            <a:off x="793790" y="6016347"/>
            <a:ext cx="60591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At low speed, two consecutive positions have noise-to-signal too high. Heading comes from IMU only.</a:t>
            </a:r>
            <a:endParaRPr b="0" i="0" sz="1250" u="none" cap="none" strike="noStrike"/>
          </a:p>
        </p:txBody>
      </p:sp>
      <p:sp>
        <p:nvSpPr>
          <p:cNvPr id="367" name="Google Shape;367;p24"/>
          <p:cNvSpPr/>
          <p:nvPr/>
        </p:nvSpPr>
        <p:spPr>
          <a:xfrm>
            <a:off x="793790" y="6692384"/>
            <a:ext cx="6059100" cy="762000"/>
          </a:xfrm>
          <a:prstGeom prst="roundRect">
            <a:avLst>
              <a:gd fmla="val 8752" name="adj"/>
            </a:avLst>
          </a:prstGeom>
          <a:solidFill>
            <a:srgbClr val="B6D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8" name="Google Shape;36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00" y="6911816"/>
            <a:ext cx="198358" cy="158710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24"/>
          <p:cNvSpPr/>
          <p:nvPr/>
        </p:nvSpPr>
        <p:spPr>
          <a:xfrm>
            <a:off x="1309568" y="6843117"/>
            <a:ext cx="53847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No GPS heading: at low speed, two consecutive positions have noise-to-signal too high. Heading comes from IMU only.</a:t>
            </a:r>
            <a:endParaRPr b="0" i="0" sz="1250" u="none" cap="none" strike="noStrike"/>
          </a:p>
        </p:txBody>
      </p:sp>
      <p:sp>
        <p:nvSpPr>
          <p:cNvPr id="370" name="Google Shape;370;p24"/>
          <p:cNvSpPr/>
          <p:nvPr/>
        </p:nvSpPr>
        <p:spPr>
          <a:xfrm>
            <a:off x="7247811" y="1853208"/>
            <a:ext cx="36873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1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Petrona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Measured GPS Noise — Stationary 60 s</a:t>
            </a:r>
            <a:endParaRPr b="0" i="0" sz="1600" u="none" cap="none" strike="noStrike"/>
          </a:p>
        </p:txBody>
      </p:sp>
      <p:sp>
        <p:nvSpPr>
          <p:cNvPr id="371" name="Google Shape;371;p24"/>
          <p:cNvSpPr/>
          <p:nvPr/>
        </p:nvSpPr>
        <p:spPr>
          <a:xfrm>
            <a:off x="7247811" y="2238613"/>
            <a:ext cx="6596400" cy="2360400"/>
          </a:xfrm>
          <a:prstGeom prst="roundRect">
            <a:avLst>
              <a:gd fmla="val 2825" name="adj"/>
            </a:avLst>
          </a:prstGeom>
          <a:noFill/>
          <a:ln cap="flat" cmpd="sng" w="9525">
            <a:solidFill>
              <a:srgbClr val="000000">
                <a:alpha val="784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24"/>
          <p:cNvSpPr/>
          <p:nvPr/>
        </p:nvSpPr>
        <p:spPr>
          <a:xfrm>
            <a:off x="7414379" y="2320528"/>
            <a:ext cx="13239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1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Axis</a:t>
            </a:r>
            <a:endParaRPr b="0" i="0" sz="1250" u="none" cap="none" strike="noStrike"/>
          </a:p>
        </p:txBody>
      </p:sp>
      <p:sp>
        <p:nvSpPr>
          <p:cNvPr id="373" name="Google Shape;373;p24"/>
          <p:cNvSpPr/>
          <p:nvPr/>
        </p:nvSpPr>
        <p:spPr>
          <a:xfrm>
            <a:off x="9063395" y="2320528"/>
            <a:ext cx="13203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1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Variance</a:t>
            </a:r>
            <a:endParaRPr b="0" i="0" sz="1250" u="none" cap="none" strike="noStrike"/>
          </a:p>
        </p:txBody>
      </p:sp>
      <p:sp>
        <p:nvSpPr>
          <p:cNvPr id="374" name="Google Shape;374;p24"/>
          <p:cNvSpPr/>
          <p:nvPr/>
        </p:nvSpPr>
        <p:spPr>
          <a:xfrm>
            <a:off x="10708600" y="2320528"/>
            <a:ext cx="13203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1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Std Dev</a:t>
            </a:r>
            <a:endParaRPr b="0" i="0" sz="1250" u="none" cap="none" strike="noStrike"/>
          </a:p>
        </p:txBody>
      </p:sp>
      <p:sp>
        <p:nvSpPr>
          <p:cNvPr id="375" name="Google Shape;375;p24"/>
          <p:cNvSpPr/>
          <p:nvPr/>
        </p:nvSpPr>
        <p:spPr>
          <a:xfrm>
            <a:off x="12353806" y="2320528"/>
            <a:ext cx="13239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1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Notes</a:t>
            </a:r>
            <a:endParaRPr b="0" i="0" sz="1250" u="none" cap="none" strike="noStrike"/>
          </a:p>
        </p:txBody>
      </p:sp>
      <p:sp>
        <p:nvSpPr>
          <p:cNvPr id="376" name="Google Shape;376;p24"/>
          <p:cNvSpPr/>
          <p:nvPr/>
        </p:nvSpPr>
        <p:spPr>
          <a:xfrm>
            <a:off x="7414379" y="2692718"/>
            <a:ext cx="13239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Latitude</a:t>
            </a:r>
            <a:endParaRPr b="0" i="0" sz="1250" u="none" cap="none" strike="noStrike"/>
          </a:p>
        </p:txBody>
      </p:sp>
      <p:sp>
        <p:nvSpPr>
          <p:cNvPr id="377" name="Google Shape;377;p24"/>
          <p:cNvSpPr/>
          <p:nvPr/>
        </p:nvSpPr>
        <p:spPr>
          <a:xfrm>
            <a:off x="9063395" y="2692718"/>
            <a:ext cx="13203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0.263 m²</a:t>
            </a:r>
            <a:endParaRPr b="0" i="0" sz="1250" u="none" cap="none" strike="noStrike"/>
          </a:p>
        </p:txBody>
      </p:sp>
      <p:sp>
        <p:nvSpPr>
          <p:cNvPr id="378" name="Google Shape;378;p24"/>
          <p:cNvSpPr/>
          <p:nvPr/>
        </p:nvSpPr>
        <p:spPr>
          <a:xfrm>
            <a:off x="10708600" y="2692718"/>
            <a:ext cx="13203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0.51 m</a:t>
            </a:r>
            <a:endParaRPr b="0" i="0" sz="1250" u="none" cap="none" strike="noStrike"/>
          </a:p>
        </p:txBody>
      </p:sp>
      <p:sp>
        <p:nvSpPr>
          <p:cNvPr id="379" name="Google Shape;379;p24"/>
          <p:cNvSpPr/>
          <p:nvPr/>
        </p:nvSpPr>
        <p:spPr>
          <a:xfrm>
            <a:off x="12353806" y="2692718"/>
            <a:ext cx="13239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Satellite drift + multipath</a:t>
            </a:r>
            <a:endParaRPr b="0" i="0" sz="1250" u="none" cap="none" strike="noStrike"/>
          </a:p>
        </p:txBody>
      </p:sp>
      <p:sp>
        <p:nvSpPr>
          <p:cNvPr id="380" name="Google Shape;380;p24"/>
          <p:cNvSpPr/>
          <p:nvPr/>
        </p:nvSpPr>
        <p:spPr>
          <a:xfrm>
            <a:off x="7414379" y="3280886"/>
            <a:ext cx="13239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Longitude</a:t>
            </a:r>
            <a:endParaRPr b="0" i="0" sz="1250" u="none" cap="none" strike="noStrike"/>
          </a:p>
        </p:txBody>
      </p:sp>
      <p:sp>
        <p:nvSpPr>
          <p:cNvPr id="381" name="Google Shape;381;p24"/>
          <p:cNvSpPr/>
          <p:nvPr/>
        </p:nvSpPr>
        <p:spPr>
          <a:xfrm>
            <a:off x="9063395" y="3280886"/>
            <a:ext cx="13203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0.245 m²</a:t>
            </a:r>
            <a:endParaRPr b="0" i="0" sz="1250" u="none" cap="none" strike="noStrike"/>
          </a:p>
        </p:txBody>
      </p:sp>
      <p:sp>
        <p:nvSpPr>
          <p:cNvPr id="382" name="Google Shape;382;p24"/>
          <p:cNvSpPr/>
          <p:nvPr/>
        </p:nvSpPr>
        <p:spPr>
          <a:xfrm>
            <a:off x="10708600" y="3280886"/>
            <a:ext cx="13203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0.49 m</a:t>
            </a:r>
            <a:endParaRPr b="0" i="0" sz="1250" u="none" cap="none" strike="noStrike"/>
          </a:p>
        </p:txBody>
      </p:sp>
      <p:sp>
        <p:nvSpPr>
          <p:cNvPr id="383" name="Google Shape;383;p24"/>
          <p:cNvSpPr/>
          <p:nvPr/>
        </p:nvSpPr>
        <p:spPr>
          <a:xfrm>
            <a:off x="12353806" y="3280886"/>
            <a:ext cx="13239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Slightly better than lat</a:t>
            </a:r>
            <a:endParaRPr b="0" i="0" sz="1250" u="none" cap="none" strike="noStrike"/>
          </a:p>
        </p:txBody>
      </p:sp>
      <p:sp>
        <p:nvSpPr>
          <p:cNvPr id="384" name="Google Shape;384;p24"/>
          <p:cNvSpPr/>
          <p:nvPr/>
        </p:nvSpPr>
        <p:spPr>
          <a:xfrm>
            <a:off x="7414379" y="3869055"/>
            <a:ext cx="13239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Altitude</a:t>
            </a:r>
            <a:endParaRPr b="0" i="0" sz="1250" u="none" cap="none" strike="noStrike"/>
          </a:p>
        </p:txBody>
      </p:sp>
      <p:sp>
        <p:nvSpPr>
          <p:cNvPr id="385" name="Google Shape;385;p24"/>
          <p:cNvSpPr/>
          <p:nvPr/>
        </p:nvSpPr>
        <p:spPr>
          <a:xfrm>
            <a:off x="9063395" y="3869055"/>
            <a:ext cx="13203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1.230 m²</a:t>
            </a:r>
            <a:endParaRPr b="0" i="0" sz="1250" u="none" cap="none" strike="noStrike"/>
          </a:p>
        </p:txBody>
      </p:sp>
      <p:sp>
        <p:nvSpPr>
          <p:cNvPr id="386" name="Google Shape;386;p24"/>
          <p:cNvSpPr/>
          <p:nvPr/>
        </p:nvSpPr>
        <p:spPr>
          <a:xfrm>
            <a:off x="10708600" y="3869055"/>
            <a:ext cx="13203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1.11 m</a:t>
            </a:r>
            <a:endParaRPr b="0" i="0" sz="1250" u="none" cap="none" strike="noStrike"/>
          </a:p>
        </p:txBody>
      </p:sp>
      <p:sp>
        <p:nvSpPr>
          <p:cNvPr id="387" name="Google Shape;387;p24"/>
          <p:cNvSpPr/>
          <p:nvPr/>
        </p:nvSpPr>
        <p:spPr>
          <a:xfrm>
            <a:off x="12353806" y="3869055"/>
            <a:ext cx="13239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Worst axis (vertical geometry)</a:t>
            </a:r>
            <a:endParaRPr b="0" i="0" sz="1250" u="none" cap="none" strike="noStrike"/>
          </a:p>
        </p:txBody>
      </p:sp>
      <p:sp>
        <p:nvSpPr>
          <p:cNvPr id="388" name="Google Shape;388;p24"/>
          <p:cNvSpPr/>
          <p:nvPr/>
        </p:nvSpPr>
        <p:spPr>
          <a:xfrm>
            <a:off x="7247811" y="4723924"/>
            <a:ext cx="6596400" cy="546000"/>
          </a:xfrm>
          <a:prstGeom prst="roundRect">
            <a:avLst>
              <a:gd fmla="val 12213" name="adj"/>
            </a:avLst>
          </a:prstGeom>
          <a:solidFill>
            <a:srgbClr val="FCF2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9" name="Google Shape;389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06521" y="4943356"/>
            <a:ext cx="198358" cy="158710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24"/>
          <p:cNvSpPr/>
          <p:nvPr/>
        </p:nvSpPr>
        <p:spPr>
          <a:xfrm>
            <a:off x="7763589" y="4874657"/>
            <a:ext cx="59217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Random walk radius: ~1 m over a 60-second window.</a:t>
            </a:r>
            <a:endParaRPr b="0" i="0" sz="1250" u="none" cap="none" strike="noStrike"/>
          </a:p>
        </p:txBody>
      </p:sp>
      <p:sp>
        <p:nvSpPr>
          <p:cNvPr id="391" name="Google Shape;391;p24"/>
          <p:cNvSpPr/>
          <p:nvPr/>
        </p:nvSpPr>
        <p:spPr>
          <a:xfrm>
            <a:off x="7247811" y="5394960"/>
            <a:ext cx="33633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1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Petrona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EKF config: only x,y fused from GPS</a:t>
            </a:r>
            <a:endParaRPr b="0" i="0" sz="1600" u="none" cap="none" strike="noStrike"/>
          </a:p>
        </p:txBody>
      </p:sp>
      <p:sp>
        <p:nvSpPr>
          <p:cNvPr id="392" name="Google Shape;392;p24"/>
          <p:cNvSpPr/>
          <p:nvPr/>
        </p:nvSpPr>
        <p:spPr>
          <a:xfrm>
            <a:off x="7247811" y="5780365"/>
            <a:ext cx="6596400" cy="1613400"/>
          </a:xfrm>
          <a:prstGeom prst="roundRect">
            <a:avLst>
              <a:gd fmla="val 4134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24"/>
          <p:cNvSpPr/>
          <p:nvPr/>
        </p:nvSpPr>
        <p:spPr>
          <a:xfrm>
            <a:off x="7239950" y="5780376"/>
            <a:ext cx="6612000" cy="1770300"/>
          </a:xfrm>
          <a:prstGeom prst="roundRect">
            <a:avLst>
              <a:gd fmla="val 1476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24"/>
          <p:cNvSpPr/>
          <p:nvPr/>
        </p:nvSpPr>
        <p:spPr>
          <a:xfrm>
            <a:off x="7438311" y="5939076"/>
            <a:ext cx="6215400" cy="12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odom1_config: </a:t>
            </a:r>
            <a:endParaRPr b="0" i="0" sz="1250" u="none" cap="none" strike="noStrike"/>
          </a:p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[true, true, false, # x, y: ENABLED</a:t>
            </a:r>
            <a:endParaRPr b="0" i="0" sz="1250" u="none" cap="none" strike="noStrike"/>
          </a:p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false, false, false, # orientation: DISABLED</a:t>
            </a:r>
            <a:endParaRPr b="0" i="0" sz="1250" u="none" cap="none" strike="noStrike"/>
          </a:p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false, false, false, # (GPS has no heading)</a:t>
            </a:r>
            <a:endParaRPr b="0" i="0" sz="1250" u="none" cap="none" strike="noStrike"/>
          </a:p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false, false, false,</a:t>
            </a:r>
            <a:endParaRPr b="0" i="0" sz="1250" u="none" cap="none" strike="noStrike"/>
          </a:p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false, false, false]</a:t>
            </a:r>
            <a:endParaRPr b="0" i="0" sz="1250" u="none" cap="none" strike="noStrike"/>
          </a:p>
        </p:txBody>
      </p:sp>
      <p:sp>
        <p:nvSpPr>
          <p:cNvPr id="395" name="Google Shape;395;p24"/>
          <p:cNvSpPr/>
          <p:nvPr/>
        </p:nvSpPr>
        <p:spPr>
          <a:xfrm>
            <a:off x="12845075" y="7780725"/>
            <a:ext cx="1680600" cy="356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25"/>
          <p:cNvSpPr/>
          <p:nvPr/>
        </p:nvSpPr>
        <p:spPr>
          <a:xfrm>
            <a:off x="793790" y="885468"/>
            <a:ext cx="101835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5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50"/>
              <a:buFont typeface="Petrona"/>
              <a:buNone/>
            </a:pPr>
            <a:r>
              <a:rPr b="1" i="0" lang="en-US" sz="325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Dual EKF Architecture — Why One EKF Is Not Enough</a:t>
            </a:r>
            <a:endParaRPr b="0" i="0" sz="3250" u="none" cap="none" strike="noStrike"/>
          </a:p>
        </p:txBody>
      </p:sp>
      <p:sp>
        <p:nvSpPr>
          <p:cNvPr id="402" name="Google Shape;402;p25"/>
          <p:cNvSpPr/>
          <p:nvPr/>
        </p:nvSpPr>
        <p:spPr>
          <a:xfrm>
            <a:off x="793790" y="1628775"/>
            <a:ext cx="130428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Separates smooth local estimation from globally-bounded GPS correction.</a:t>
            </a:r>
            <a:endParaRPr b="0" i="0" sz="1250" u="none" cap="none" strike="noStrike"/>
          </a:p>
        </p:txBody>
      </p:sp>
      <p:sp>
        <p:nvSpPr>
          <p:cNvPr id="403" name="Google Shape;403;p25"/>
          <p:cNvSpPr/>
          <p:nvPr/>
        </p:nvSpPr>
        <p:spPr>
          <a:xfrm>
            <a:off x="793790" y="1969770"/>
            <a:ext cx="4273500" cy="3199200"/>
          </a:xfrm>
          <a:prstGeom prst="roundRect">
            <a:avLst>
              <a:gd fmla="val 2084" name="adj"/>
            </a:avLst>
          </a:prstGeom>
          <a:solidFill>
            <a:srgbClr val="FAA1A1"/>
          </a:solidFill>
          <a:ln cap="flat" cmpd="sng" w="9525">
            <a:solidFill>
              <a:srgbClr val="E087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25"/>
          <p:cNvSpPr/>
          <p:nvPr/>
        </p:nvSpPr>
        <p:spPr>
          <a:xfrm>
            <a:off x="960120" y="2136100"/>
            <a:ext cx="20841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1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Petrona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✗ Single EKF + GPS</a:t>
            </a:r>
            <a:endParaRPr b="0" i="0" sz="1600" u="none" cap="none" strike="noStrike"/>
          </a:p>
        </p:txBody>
      </p:sp>
      <p:sp>
        <p:nvSpPr>
          <p:cNvPr id="405" name="Google Shape;405;p25"/>
          <p:cNvSpPr/>
          <p:nvPr/>
        </p:nvSpPr>
        <p:spPr>
          <a:xfrm>
            <a:off x="960120" y="2463165"/>
            <a:ext cx="3940800" cy="11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Inter"/>
              <a:buChar char="•"/>
            </a:pPr>
            <a:r>
              <a:rPr b="0" i="0" lang="en-US" sz="12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GPS at 10 Hz, σ ≈ 0.5 m</a:t>
            </a:r>
            <a:endParaRPr b="0" i="0" sz="1250" u="none" cap="none" strike="noStrike"/>
          </a:p>
          <a:p>
            <a:pPr indent="-342900" lvl="0" marL="34290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Inter"/>
              <a:buChar char="•"/>
            </a:pPr>
            <a:r>
              <a:rPr b="0" i="0" lang="en-US" sz="12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Growing uncertainty between updates</a:t>
            </a:r>
            <a:endParaRPr b="0" i="0" sz="1250" u="none" cap="none" strike="noStrike"/>
          </a:p>
          <a:p>
            <a:pPr indent="-342900" lvl="0" marL="34290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Inter"/>
              <a:buChar char="•"/>
            </a:pPr>
            <a:r>
              <a:rPr b="0" i="0" lang="en-US" sz="12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GPS arrival → EKF snaps toward fix</a:t>
            </a:r>
            <a:endParaRPr b="0" i="0" sz="1250" u="none" cap="none" strike="noStrike"/>
          </a:p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Inter"/>
              <a:buNone/>
            </a:pPr>
            <a:r>
              <a:rPr b="1" i="0" lang="en-US" sz="12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Result: visible jitter</a:t>
            </a:r>
            <a:r>
              <a:rPr b="0" i="0" lang="en-US" sz="12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— downstream planners receive jerky poses</a:t>
            </a:r>
            <a:endParaRPr b="0" i="0" sz="1250" u="none" cap="none" strike="noStrike"/>
          </a:p>
        </p:txBody>
      </p:sp>
      <p:sp>
        <p:nvSpPr>
          <p:cNvPr id="406" name="Google Shape;406;p25"/>
          <p:cNvSpPr/>
          <p:nvPr/>
        </p:nvSpPr>
        <p:spPr>
          <a:xfrm>
            <a:off x="5178385" y="1969770"/>
            <a:ext cx="4273500" cy="3199200"/>
          </a:xfrm>
          <a:prstGeom prst="roundRect">
            <a:avLst>
              <a:gd fmla="val 2084" name="adj"/>
            </a:avLst>
          </a:prstGeom>
          <a:solidFill>
            <a:srgbClr val="FFD1A7"/>
          </a:solidFill>
          <a:ln cap="flat" cmpd="sng" w="9525">
            <a:solidFill>
              <a:srgbClr val="E5B78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25"/>
          <p:cNvSpPr/>
          <p:nvPr/>
        </p:nvSpPr>
        <p:spPr>
          <a:xfrm>
            <a:off x="5344716" y="2136100"/>
            <a:ext cx="24117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1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Petrona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✗ Single EKF without GPS</a:t>
            </a:r>
            <a:endParaRPr b="0" i="0" sz="1600" u="none" cap="none" strike="noStrike"/>
          </a:p>
        </p:txBody>
      </p:sp>
      <p:sp>
        <p:nvSpPr>
          <p:cNvPr id="408" name="Google Shape;408;p25"/>
          <p:cNvSpPr/>
          <p:nvPr/>
        </p:nvSpPr>
        <p:spPr>
          <a:xfrm>
            <a:off x="5344716" y="2463165"/>
            <a:ext cx="3940800" cy="11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Inter"/>
              <a:buChar char="•"/>
            </a:pPr>
            <a:r>
              <a:rPr b="0" i="0" lang="en-US" sz="12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Wheel + IMU sources only</a:t>
            </a:r>
            <a:endParaRPr b="0" i="0" sz="1250" u="none" cap="none" strike="noStrike"/>
          </a:p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Drift accumulates </a:t>
            </a:r>
            <a:r>
              <a:rPr b="1" i="0" lang="en-US" sz="12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unboundedly</a:t>
            </a:r>
            <a:endParaRPr b="0" i="0" sz="1250" u="none" cap="none" strike="noStrike"/>
          </a:p>
          <a:p>
            <a:pPr indent="-342900" lvl="0" marL="34290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Inter"/>
              <a:buChar char="•"/>
            </a:pPr>
            <a:r>
              <a:rPr b="0" i="0" lang="en-US" sz="12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No global correction mechanism</a:t>
            </a:r>
            <a:endParaRPr b="0" i="0" sz="1250" u="none" cap="none" strike="noStrike"/>
          </a:p>
          <a:p>
            <a:pPr indent="-342900" lvl="0" marL="34290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Inter"/>
              <a:buChar char="•"/>
            </a:pPr>
            <a:r>
              <a:rPr b="0" i="0" lang="en-US" sz="12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Error grows linearly with distance (confirmed in baseline tests)</a:t>
            </a:r>
            <a:endParaRPr b="0" i="0" sz="1250" u="none" cap="none" strike="noStrike"/>
          </a:p>
        </p:txBody>
      </p:sp>
      <p:sp>
        <p:nvSpPr>
          <p:cNvPr id="409" name="Google Shape;409;p25"/>
          <p:cNvSpPr/>
          <p:nvPr/>
        </p:nvSpPr>
        <p:spPr>
          <a:xfrm>
            <a:off x="9562981" y="1969770"/>
            <a:ext cx="4273500" cy="3199200"/>
          </a:xfrm>
          <a:prstGeom prst="roundRect">
            <a:avLst>
              <a:gd fmla="val 2084" name="adj"/>
            </a:avLst>
          </a:prstGeom>
          <a:solidFill>
            <a:srgbClr val="AEE4BD"/>
          </a:solidFill>
          <a:ln cap="flat" cmpd="sng" w="9525">
            <a:solidFill>
              <a:srgbClr val="94CA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25"/>
          <p:cNvSpPr/>
          <p:nvPr/>
        </p:nvSpPr>
        <p:spPr>
          <a:xfrm>
            <a:off x="9729311" y="2136100"/>
            <a:ext cx="20841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1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Petrona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✓ Dual EKF Solution</a:t>
            </a:r>
            <a:endParaRPr b="0" i="0" sz="1600" u="none" cap="none" strike="noStrike"/>
          </a:p>
        </p:txBody>
      </p:sp>
      <p:sp>
        <p:nvSpPr>
          <p:cNvPr id="411" name="Google Shape;411;p25"/>
          <p:cNvSpPr/>
          <p:nvPr/>
        </p:nvSpPr>
        <p:spPr>
          <a:xfrm>
            <a:off x="9729311" y="2463165"/>
            <a:ext cx="3940800" cy="25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Inter"/>
              <a:buChar char="•"/>
            </a:pPr>
            <a:r>
              <a:rPr b="1" i="0" lang="en-US" sz="12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EKF #1 - Local (odom frame)</a:t>
            </a:r>
            <a:endParaRPr b="0" i="0" sz="1250" u="none" cap="none" strike="noStrike"/>
          </a:p>
          <a:p>
            <a:pPr indent="-342900" lvl="0" marL="34290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Inter"/>
              <a:buChar char="•"/>
            </a:pPr>
            <a:r>
              <a:rPr b="0" i="0" lang="en-US" sz="12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Fuses: Wheel + VO + LiDAR + IMU</a:t>
            </a:r>
            <a:endParaRPr b="0" i="0" sz="1250" u="none" cap="none" strike="noStrike"/>
          </a:p>
          <a:p>
            <a:pPr indent="-342900" lvl="0" marL="34290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Inter"/>
              <a:buChar char="•"/>
            </a:pPr>
            <a:r>
              <a:rPr b="0" i="0" lang="en-US" sz="12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No GPS → smooth, continuous</a:t>
            </a:r>
            <a:endParaRPr b="0" i="0" sz="1250" u="none" cap="none" strike="noStrike"/>
          </a:p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Publishes: </a:t>
            </a:r>
            <a:r>
              <a:rPr b="0" i="0" lang="en-US" sz="1250" u="none" cap="none" strike="noStrike">
                <a:solidFill>
                  <a:srgbClr val="000000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odom→base_link</a:t>
            </a:r>
            <a:r>
              <a:rPr b="0" i="0" lang="en-US" sz="12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TF</a:t>
            </a:r>
            <a:endParaRPr b="0" i="0" sz="1250" u="none" cap="none" strike="noStrike"/>
          </a:p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Output: </a:t>
            </a:r>
            <a:r>
              <a:rPr b="0" i="0" lang="en-US" sz="1250" u="none" cap="none" strike="noStrike">
                <a:solidFill>
                  <a:srgbClr val="000000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/odometry/local</a:t>
            </a:r>
            <a:endParaRPr b="0" i="0" sz="1250" u="none" cap="none" strike="noStrike"/>
          </a:p>
          <a:p>
            <a:pPr indent="-342900" lvl="0" marL="34290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Inter"/>
              <a:buChar char="•"/>
            </a:pPr>
            <a:r>
              <a:rPr b="1" i="0" lang="en-US" sz="12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EKF #2 - Global (map frame)</a:t>
            </a:r>
            <a:endParaRPr b="0" i="0" sz="1250" u="none" cap="none" strike="noStrike"/>
          </a:p>
          <a:p>
            <a:pPr indent="-342900" lvl="0" marL="34290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Inter"/>
              <a:buChar char="•"/>
            </a:pPr>
            <a:r>
              <a:rPr b="0" i="0" lang="en-US" sz="12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Fuses: All above + GPS</a:t>
            </a:r>
            <a:endParaRPr b="0" i="0" sz="1250" u="none" cap="none" strike="noStrike"/>
          </a:p>
          <a:p>
            <a:pPr indent="-342900" lvl="0" marL="34290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Inter"/>
              <a:buChar char="•"/>
            </a:pPr>
            <a:r>
              <a:rPr b="0" i="0" lang="en-US" sz="12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GPS → globally bounded drift</a:t>
            </a:r>
            <a:endParaRPr b="0" i="0" sz="1250" u="none" cap="none" strike="noStrike"/>
          </a:p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Publishes: </a:t>
            </a:r>
            <a:r>
              <a:rPr b="0" i="0" lang="en-US" sz="1250" u="none" cap="none" strike="noStrike">
                <a:solidFill>
                  <a:srgbClr val="000000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map→odom</a:t>
            </a:r>
            <a:r>
              <a:rPr b="0" i="0" lang="en-US" sz="12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TF</a:t>
            </a:r>
            <a:endParaRPr b="0" i="0" sz="1250" u="none" cap="none" strike="noStrike"/>
          </a:p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Output: </a:t>
            </a:r>
            <a:r>
              <a:rPr b="0" i="0" lang="en-US" sz="1250" u="none" cap="none" strike="noStrike">
                <a:solidFill>
                  <a:srgbClr val="000000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/odometry/global</a:t>
            </a:r>
            <a:endParaRPr b="0" i="0" sz="1250" u="none" cap="none" strike="noStrike"/>
          </a:p>
        </p:txBody>
      </p:sp>
      <p:sp>
        <p:nvSpPr>
          <p:cNvPr id="412" name="Google Shape;412;p25"/>
          <p:cNvSpPr/>
          <p:nvPr/>
        </p:nvSpPr>
        <p:spPr>
          <a:xfrm>
            <a:off x="793790" y="5280184"/>
            <a:ext cx="13042800" cy="1392900"/>
          </a:xfrm>
          <a:prstGeom prst="roundRect">
            <a:avLst>
              <a:gd fmla="val 4788" name="adj"/>
            </a:avLst>
          </a:prstGeom>
          <a:solidFill>
            <a:srgbClr val="D7E9FF"/>
          </a:solidFill>
          <a:ln cap="flat" cmpd="sng" w="9525">
            <a:solidFill>
              <a:srgbClr val="BDCF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25"/>
          <p:cNvSpPr/>
          <p:nvPr/>
        </p:nvSpPr>
        <p:spPr>
          <a:xfrm>
            <a:off x="960120" y="5446514"/>
            <a:ext cx="25410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1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Petrona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How the Two EKFs Interact</a:t>
            </a:r>
            <a:endParaRPr b="0" i="0" sz="1600" u="none" cap="none" strike="noStrike"/>
          </a:p>
        </p:txBody>
      </p:sp>
      <p:sp>
        <p:nvSpPr>
          <p:cNvPr id="414" name="Google Shape;414;p25"/>
          <p:cNvSpPr/>
          <p:nvPr/>
        </p:nvSpPr>
        <p:spPr>
          <a:xfrm>
            <a:off x="960120" y="5773579"/>
            <a:ext cx="12710100" cy="7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Inter"/>
              <a:buChar char="•"/>
            </a:pPr>
            <a:r>
              <a:rPr b="0" i="0" lang="en-US" sz="12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EKF #1 provides smooth high-frequency estimate (50 Hz) for local navigation.</a:t>
            </a:r>
            <a:endParaRPr b="0" i="0" sz="1250" u="none" cap="none" strike="noStrike"/>
          </a:p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EKF #2 computes the </a:t>
            </a:r>
            <a:r>
              <a:rPr b="0" i="0" lang="en-US" sz="1250" u="none" cap="none" strike="noStrike">
                <a:solidFill>
                  <a:srgbClr val="000000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map→odom</a:t>
            </a:r>
            <a:r>
              <a:rPr b="0" i="0" lang="en-US" sz="12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correction offset at ~10 Hz (GPS-driven).</a:t>
            </a:r>
            <a:endParaRPr b="0" i="0" sz="1250" u="none" cap="none" strike="noStrike"/>
          </a:p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GPS correction in EKF #2 shifts the local frame — </a:t>
            </a:r>
            <a:r>
              <a:rPr b="1" i="0" lang="en-US" sz="12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NO jitter reaches EKF #1</a:t>
            </a:r>
            <a:r>
              <a:rPr b="0" i="0" lang="en-US" sz="12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1250" u="none" cap="none" strike="noStrike"/>
          </a:p>
        </p:txBody>
      </p:sp>
      <p:sp>
        <p:nvSpPr>
          <p:cNvPr id="415" name="Google Shape;415;p25"/>
          <p:cNvSpPr/>
          <p:nvPr/>
        </p:nvSpPr>
        <p:spPr>
          <a:xfrm>
            <a:off x="793790" y="6798112"/>
            <a:ext cx="13042800" cy="546000"/>
          </a:xfrm>
          <a:prstGeom prst="roundRect">
            <a:avLst>
              <a:gd fmla="val 12213" name="adj"/>
            </a:avLst>
          </a:prstGeom>
          <a:solidFill>
            <a:srgbClr val="B6FC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6" name="Google Shape;41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00" y="7017544"/>
            <a:ext cx="198358" cy="158710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25"/>
          <p:cNvSpPr/>
          <p:nvPr/>
        </p:nvSpPr>
        <p:spPr>
          <a:xfrm>
            <a:off x="1309568" y="6948845"/>
            <a:ext cx="123684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Global pose = (map→odom from EKF #2) ∘ (odom→base_link from EKF #1). EKF #2 shifts the local frame at ~10 Hz — EKF #1 remains smooth and unaffected.</a:t>
            </a:r>
            <a:endParaRPr b="0" i="0" sz="1250" u="none" cap="none" strike="noStrike"/>
          </a:p>
        </p:txBody>
      </p:sp>
      <p:sp>
        <p:nvSpPr>
          <p:cNvPr id="418" name="Google Shape;418;p25"/>
          <p:cNvSpPr/>
          <p:nvPr/>
        </p:nvSpPr>
        <p:spPr>
          <a:xfrm>
            <a:off x="12845075" y="7780725"/>
            <a:ext cx="1680600" cy="356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13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26"/>
          <p:cNvSpPr/>
          <p:nvPr/>
        </p:nvSpPr>
        <p:spPr>
          <a:xfrm>
            <a:off x="793790" y="2023943"/>
            <a:ext cx="13042800" cy="14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50"/>
              <a:buFont typeface="Petrona"/>
              <a:buNone/>
            </a:pPr>
            <a:r>
              <a:rPr b="1" i="0" lang="en-US" sz="465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ROS2 Node Graph — The Local-Global Feedback Loop</a:t>
            </a:r>
            <a:endParaRPr b="0" i="0" sz="4650" u="none" cap="none" strike="noStrike"/>
          </a:p>
        </p:txBody>
      </p:sp>
      <p:sp>
        <p:nvSpPr>
          <p:cNvPr id="425" name="Google Shape;425;p26"/>
          <p:cNvSpPr/>
          <p:nvPr/>
        </p:nvSpPr>
        <p:spPr>
          <a:xfrm>
            <a:off x="793790" y="3966091"/>
            <a:ext cx="130428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How </a:t>
            </a:r>
            <a:r>
              <a:rPr b="0" i="0" lang="en-US" sz="1750" u="none" cap="none" strike="noStrike">
                <a:solidFill>
                  <a:srgbClr val="27252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navsat_transform_node</a:t>
            </a: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couples EKF #1 and EKF #2 into a closed feedback architecture.</a:t>
            </a:r>
            <a:endParaRPr b="0" i="0" sz="1750" u="none" cap="none" strike="noStrike"/>
          </a:p>
        </p:txBody>
      </p:sp>
      <p:sp>
        <p:nvSpPr>
          <p:cNvPr id="426" name="Google Shape;426;p26"/>
          <p:cNvSpPr/>
          <p:nvPr/>
        </p:nvSpPr>
        <p:spPr>
          <a:xfrm>
            <a:off x="793790" y="4676775"/>
            <a:ext cx="2976900" cy="3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Petrona"/>
              <a:buNone/>
            </a:pPr>
            <a:r>
              <a:rPr b="1" i="0" lang="en-US" sz="230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Node Topology</a:t>
            </a:r>
            <a:endParaRPr b="0" i="0" sz="2300" u="none" cap="none" strike="noStrike"/>
          </a:p>
        </p:txBody>
      </p:sp>
      <p:sp>
        <p:nvSpPr>
          <p:cNvPr id="427" name="Google Shape;427;p26"/>
          <p:cNvSpPr/>
          <p:nvPr/>
        </p:nvSpPr>
        <p:spPr>
          <a:xfrm>
            <a:off x="793790" y="5389007"/>
            <a:ext cx="13042800" cy="816600"/>
          </a:xfrm>
          <a:prstGeom prst="roundRect">
            <a:avLst>
              <a:gd fmla="val 11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26"/>
          <p:cNvSpPr/>
          <p:nvPr/>
        </p:nvSpPr>
        <p:spPr>
          <a:xfrm>
            <a:off x="782479" y="5389007"/>
            <a:ext cx="13065300" cy="816600"/>
          </a:xfrm>
          <a:prstGeom prst="roundRect">
            <a:avLst>
              <a:gd fmla="val 41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26"/>
          <p:cNvSpPr/>
          <p:nvPr/>
        </p:nvSpPr>
        <p:spPr>
          <a:xfrm>
            <a:off x="1065967" y="5615821"/>
            <a:ext cx="124986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/imu/data ──</a:t>
            </a:r>
            <a:endParaRPr b="0" i="0" sz="1750" u="none" cap="none" strike="noStrike"/>
          </a:p>
        </p:txBody>
      </p:sp>
      <p:sp>
        <p:nvSpPr>
          <p:cNvPr id="430" name="Google Shape;430;p26"/>
          <p:cNvSpPr/>
          <p:nvPr/>
        </p:nvSpPr>
        <p:spPr>
          <a:xfrm>
            <a:off x="12845075" y="7780725"/>
            <a:ext cx="1680600" cy="356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14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27"/>
          <p:cNvSpPr/>
          <p:nvPr/>
        </p:nvSpPr>
        <p:spPr>
          <a:xfrm>
            <a:off x="793790" y="776764"/>
            <a:ext cx="12406500" cy="5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2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etrona"/>
              <a:buNone/>
            </a:pPr>
            <a:r>
              <a:rPr b="1" i="0" lang="en-US" sz="350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Sensor Noise Characterisation — How R Values Were Derived</a:t>
            </a:r>
            <a:endParaRPr b="0" i="0" sz="3500" u="none" cap="none" strike="noStrike"/>
          </a:p>
        </p:txBody>
      </p:sp>
      <p:sp>
        <p:nvSpPr>
          <p:cNvPr id="437" name="Google Shape;437;p27"/>
          <p:cNvSpPr/>
          <p:nvPr/>
        </p:nvSpPr>
        <p:spPr>
          <a:xfrm>
            <a:off x="793790" y="1590080"/>
            <a:ext cx="130428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Stationary robot recorded for 60 s; any non-zero variance is pure sensor noise, directly used to populate measurement covariance matrix R.</a:t>
            </a:r>
            <a:endParaRPr b="0" i="0" sz="1300" u="none" cap="none" strike="noStrike"/>
          </a:p>
        </p:txBody>
      </p:sp>
      <p:sp>
        <p:nvSpPr>
          <p:cNvPr id="438" name="Google Shape;438;p27"/>
          <p:cNvSpPr/>
          <p:nvPr/>
        </p:nvSpPr>
        <p:spPr>
          <a:xfrm>
            <a:off x="793790" y="1971675"/>
            <a:ext cx="13042800" cy="4491600"/>
          </a:xfrm>
          <a:prstGeom prst="roundRect">
            <a:avLst>
              <a:gd fmla="val 1591" name="adj"/>
            </a:avLst>
          </a:prstGeom>
          <a:noFill/>
          <a:ln cap="flat" cmpd="sng" w="9525">
            <a:solidFill>
              <a:srgbClr val="000000">
                <a:alpha val="784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27"/>
          <p:cNvSpPr/>
          <p:nvPr/>
        </p:nvSpPr>
        <p:spPr>
          <a:xfrm>
            <a:off x="801410" y="1979295"/>
            <a:ext cx="13027500" cy="406200"/>
          </a:xfrm>
          <a:prstGeom prst="rect">
            <a:avLst/>
          </a:prstGeom>
          <a:solidFill>
            <a:srgbClr val="FFFFFF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27"/>
          <p:cNvSpPr/>
          <p:nvPr/>
        </p:nvSpPr>
        <p:spPr>
          <a:xfrm>
            <a:off x="971788" y="2063353"/>
            <a:ext cx="22629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Channel</a:t>
            </a:r>
            <a:endParaRPr b="0" i="0" sz="1300" u="none" cap="none" strike="noStrike"/>
          </a:p>
        </p:txBody>
      </p:sp>
      <p:sp>
        <p:nvSpPr>
          <p:cNvPr id="441" name="Google Shape;441;p27"/>
          <p:cNvSpPr/>
          <p:nvPr/>
        </p:nvSpPr>
        <p:spPr>
          <a:xfrm>
            <a:off x="3582353" y="2063353"/>
            <a:ext cx="15414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Mean</a:t>
            </a:r>
            <a:endParaRPr b="0" i="0" sz="1300" u="none" cap="none" strike="noStrike"/>
          </a:p>
        </p:txBody>
      </p:sp>
      <p:sp>
        <p:nvSpPr>
          <p:cNvPr id="442" name="Google Shape;442;p27"/>
          <p:cNvSpPr/>
          <p:nvPr/>
        </p:nvSpPr>
        <p:spPr>
          <a:xfrm>
            <a:off x="5471279" y="2063353"/>
            <a:ext cx="24960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Variance</a:t>
            </a:r>
            <a:endParaRPr b="0" i="0" sz="1300" u="none" cap="none" strike="noStrike"/>
          </a:p>
        </p:txBody>
      </p:sp>
      <p:sp>
        <p:nvSpPr>
          <p:cNvPr id="443" name="Google Shape;443;p27"/>
          <p:cNvSpPr/>
          <p:nvPr/>
        </p:nvSpPr>
        <p:spPr>
          <a:xfrm>
            <a:off x="8315087" y="2063353"/>
            <a:ext cx="14424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Std Dev</a:t>
            </a:r>
            <a:endParaRPr b="0" i="0" sz="1300" u="none" cap="none" strike="noStrike"/>
          </a:p>
        </p:txBody>
      </p:sp>
      <p:sp>
        <p:nvSpPr>
          <p:cNvPr id="444" name="Google Shape;444;p27"/>
          <p:cNvSpPr/>
          <p:nvPr/>
        </p:nvSpPr>
        <p:spPr>
          <a:xfrm>
            <a:off x="10105073" y="2063353"/>
            <a:ext cx="35538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Notes</a:t>
            </a:r>
            <a:endParaRPr b="0" i="0" sz="1300" u="none" cap="none" strike="noStrike"/>
          </a:p>
        </p:txBody>
      </p:sp>
      <p:sp>
        <p:nvSpPr>
          <p:cNvPr id="445" name="Google Shape;445;p27"/>
          <p:cNvSpPr/>
          <p:nvPr/>
        </p:nvSpPr>
        <p:spPr>
          <a:xfrm>
            <a:off x="801410" y="2385536"/>
            <a:ext cx="13027500" cy="406200"/>
          </a:xfrm>
          <a:prstGeom prst="rect">
            <a:avLst/>
          </a:prstGeom>
          <a:solidFill>
            <a:srgbClr val="000000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27"/>
          <p:cNvSpPr/>
          <p:nvPr/>
        </p:nvSpPr>
        <p:spPr>
          <a:xfrm>
            <a:off x="971788" y="2469594"/>
            <a:ext cx="22629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GPS Latitude</a:t>
            </a:r>
            <a:endParaRPr b="0" i="0" sz="1300" u="none" cap="none" strike="noStrike"/>
          </a:p>
        </p:txBody>
      </p:sp>
      <p:sp>
        <p:nvSpPr>
          <p:cNvPr id="447" name="Google Shape;447;p27"/>
          <p:cNvSpPr/>
          <p:nvPr/>
        </p:nvSpPr>
        <p:spPr>
          <a:xfrm>
            <a:off x="3582353" y="2469594"/>
            <a:ext cx="15414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~0</a:t>
            </a:r>
            <a:endParaRPr b="0" i="0" sz="1300" u="none" cap="none" strike="noStrike"/>
          </a:p>
        </p:txBody>
      </p:sp>
      <p:sp>
        <p:nvSpPr>
          <p:cNvPr id="448" name="Google Shape;448;p27"/>
          <p:cNvSpPr/>
          <p:nvPr/>
        </p:nvSpPr>
        <p:spPr>
          <a:xfrm>
            <a:off x="5471279" y="2469594"/>
            <a:ext cx="24960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0.263 m²</a:t>
            </a:r>
            <a:endParaRPr b="0" i="0" sz="1300" u="none" cap="none" strike="noStrike"/>
          </a:p>
        </p:txBody>
      </p:sp>
      <p:sp>
        <p:nvSpPr>
          <p:cNvPr id="449" name="Google Shape;449;p27"/>
          <p:cNvSpPr/>
          <p:nvPr/>
        </p:nvSpPr>
        <p:spPr>
          <a:xfrm>
            <a:off x="8315087" y="2469594"/>
            <a:ext cx="14424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0.51 m</a:t>
            </a:r>
            <a:endParaRPr b="0" i="0" sz="1300" u="none" cap="none" strike="noStrike"/>
          </a:p>
        </p:txBody>
      </p:sp>
      <p:sp>
        <p:nvSpPr>
          <p:cNvPr id="450" name="Google Shape;450;p27"/>
          <p:cNvSpPr/>
          <p:nvPr/>
        </p:nvSpPr>
        <p:spPr>
          <a:xfrm>
            <a:off x="10105073" y="2469594"/>
            <a:ext cx="35538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Random walk + satellite drift</a:t>
            </a:r>
            <a:endParaRPr b="0" i="0" sz="1300" u="none" cap="none" strike="noStrike"/>
          </a:p>
        </p:txBody>
      </p:sp>
      <p:sp>
        <p:nvSpPr>
          <p:cNvPr id="451" name="Google Shape;451;p27"/>
          <p:cNvSpPr/>
          <p:nvPr/>
        </p:nvSpPr>
        <p:spPr>
          <a:xfrm>
            <a:off x="801410" y="2791778"/>
            <a:ext cx="13027500" cy="406200"/>
          </a:xfrm>
          <a:prstGeom prst="rect">
            <a:avLst/>
          </a:prstGeom>
          <a:solidFill>
            <a:srgbClr val="FFFFFF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27"/>
          <p:cNvSpPr/>
          <p:nvPr/>
        </p:nvSpPr>
        <p:spPr>
          <a:xfrm>
            <a:off x="971788" y="2875836"/>
            <a:ext cx="22629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GPS Longitude</a:t>
            </a:r>
            <a:endParaRPr b="0" i="0" sz="1300" u="none" cap="none" strike="noStrike"/>
          </a:p>
        </p:txBody>
      </p:sp>
      <p:sp>
        <p:nvSpPr>
          <p:cNvPr id="453" name="Google Shape;453;p27"/>
          <p:cNvSpPr/>
          <p:nvPr/>
        </p:nvSpPr>
        <p:spPr>
          <a:xfrm>
            <a:off x="3582353" y="2875836"/>
            <a:ext cx="15414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~0</a:t>
            </a:r>
            <a:endParaRPr b="0" i="0" sz="1300" u="none" cap="none" strike="noStrike"/>
          </a:p>
        </p:txBody>
      </p:sp>
      <p:sp>
        <p:nvSpPr>
          <p:cNvPr id="454" name="Google Shape;454;p27"/>
          <p:cNvSpPr/>
          <p:nvPr/>
        </p:nvSpPr>
        <p:spPr>
          <a:xfrm>
            <a:off x="5471279" y="2875836"/>
            <a:ext cx="24960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0.245 m²</a:t>
            </a:r>
            <a:endParaRPr b="0" i="0" sz="1300" u="none" cap="none" strike="noStrike"/>
          </a:p>
        </p:txBody>
      </p:sp>
      <p:sp>
        <p:nvSpPr>
          <p:cNvPr id="455" name="Google Shape;455;p27"/>
          <p:cNvSpPr/>
          <p:nvPr/>
        </p:nvSpPr>
        <p:spPr>
          <a:xfrm>
            <a:off x="8315087" y="2875836"/>
            <a:ext cx="14424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0.49 m</a:t>
            </a:r>
            <a:endParaRPr b="0" i="0" sz="1300" u="none" cap="none" strike="noStrike"/>
          </a:p>
        </p:txBody>
      </p:sp>
      <p:sp>
        <p:nvSpPr>
          <p:cNvPr id="456" name="Google Shape;456;p27"/>
          <p:cNvSpPr/>
          <p:nvPr/>
        </p:nvSpPr>
        <p:spPr>
          <a:xfrm>
            <a:off x="10105073" y="2875836"/>
            <a:ext cx="35538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Slightly better than lat</a:t>
            </a:r>
            <a:endParaRPr b="0" i="0" sz="1300" u="none" cap="none" strike="noStrike"/>
          </a:p>
        </p:txBody>
      </p:sp>
      <p:sp>
        <p:nvSpPr>
          <p:cNvPr id="457" name="Google Shape;457;p27"/>
          <p:cNvSpPr/>
          <p:nvPr/>
        </p:nvSpPr>
        <p:spPr>
          <a:xfrm>
            <a:off x="801410" y="3198019"/>
            <a:ext cx="13027500" cy="406200"/>
          </a:xfrm>
          <a:prstGeom prst="rect">
            <a:avLst/>
          </a:prstGeom>
          <a:solidFill>
            <a:srgbClr val="000000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27"/>
          <p:cNvSpPr/>
          <p:nvPr/>
        </p:nvSpPr>
        <p:spPr>
          <a:xfrm>
            <a:off x="971788" y="3282077"/>
            <a:ext cx="22629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GPS Altitude</a:t>
            </a:r>
            <a:endParaRPr b="0" i="0" sz="1300" u="none" cap="none" strike="noStrike"/>
          </a:p>
        </p:txBody>
      </p:sp>
      <p:sp>
        <p:nvSpPr>
          <p:cNvPr id="459" name="Google Shape;459;p27"/>
          <p:cNvSpPr/>
          <p:nvPr/>
        </p:nvSpPr>
        <p:spPr>
          <a:xfrm>
            <a:off x="3582353" y="3282077"/>
            <a:ext cx="15414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~0</a:t>
            </a:r>
            <a:endParaRPr b="0" i="0" sz="1300" u="none" cap="none" strike="noStrike"/>
          </a:p>
        </p:txBody>
      </p:sp>
      <p:sp>
        <p:nvSpPr>
          <p:cNvPr id="460" name="Google Shape;460;p27"/>
          <p:cNvSpPr/>
          <p:nvPr/>
        </p:nvSpPr>
        <p:spPr>
          <a:xfrm>
            <a:off x="5471279" y="3282077"/>
            <a:ext cx="24960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1.230 m²</a:t>
            </a:r>
            <a:endParaRPr b="0" i="0" sz="1300" u="none" cap="none" strike="noStrike"/>
          </a:p>
        </p:txBody>
      </p:sp>
      <p:sp>
        <p:nvSpPr>
          <p:cNvPr id="461" name="Google Shape;461;p27"/>
          <p:cNvSpPr/>
          <p:nvPr/>
        </p:nvSpPr>
        <p:spPr>
          <a:xfrm>
            <a:off x="8315087" y="3282077"/>
            <a:ext cx="14424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1.11 m</a:t>
            </a:r>
            <a:endParaRPr b="0" i="0" sz="1300" u="none" cap="none" strike="noStrike"/>
          </a:p>
        </p:txBody>
      </p:sp>
      <p:sp>
        <p:nvSpPr>
          <p:cNvPr id="462" name="Google Shape;462;p27"/>
          <p:cNvSpPr/>
          <p:nvPr/>
        </p:nvSpPr>
        <p:spPr>
          <a:xfrm>
            <a:off x="10105073" y="3282077"/>
            <a:ext cx="35538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Worst GPS axis (vertical geometry)</a:t>
            </a:r>
            <a:endParaRPr b="0" i="0" sz="1300" u="none" cap="none" strike="noStrike"/>
          </a:p>
        </p:txBody>
      </p:sp>
      <p:sp>
        <p:nvSpPr>
          <p:cNvPr id="463" name="Google Shape;463;p27"/>
          <p:cNvSpPr/>
          <p:nvPr/>
        </p:nvSpPr>
        <p:spPr>
          <a:xfrm>
            <a:off x="801410" y="3604260"/>
            <a:ext cx="13027500" cy="406200"/>
          </a:xfrm>
          <a:prstGeom prst="rect">
            <a:avLst/>
          </a:prstGeom>
          <a:solidFill>
            <a:srgbClr val="FFFFFF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27"/>
          <p:cNvSpPr/>
          <p:nvPr/>
        </p:nvSpPr>
        <p:spPr>
          <a:xfrm>
            <a:off x="971788" y="3688318"/>
            <a:ext cx="22629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IMU Gyro X</a:t>
            </a:r>
            <a:endParaRPr b="0" i="0" sz="1300" u="none" cap="none" strike="noStrike"/>
          </a:p>
        </p:txBody>
      </p:sp>
      <p:sp>
        <p:nvSpPr>
          <p:cNvPr id="465" name="Google Shape;465;p27"/>
          <p:cNvSpPr/>
          <p:nvPr/>
        </p:nvSpPr>
        <p:spPr>
          <a:xfrm>
            <a:off x="3582353" y="3688318"/>
            <a:ext cx="15414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~0</a:t>
            </a:r>
            <a:endParaRPr b="0" i="0" sz="1300" u="none" cap="none" strike="noStrike"/>
          </a:p>
        </p:txBody>
      </p:sp>
      <p:sp>
        <p:nvSpPr>
          <p:cNvPr id="466" name="Google Shape;466;p27"/>
          <p:cNvSpPr/>
          <p:nvPr/>
        </p:nvSpPr>
        <p:spPr>
          <a:xfrm>
            <a:off x="5471279" y="3688318"/>
            <a:ext cx="24960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0.000226 (rad/s)²</a:t>
            </a:r>
            <a:endParaRPr b="0" i="0" sz="1300" u="none" cap="none" strike="noStrike"/>
          </a:p>
        </p:txBody>
      </p:sp>
      <p:sp>
        <p:nvSpPr>
          <p:cNvPr id="467" name="Google Shape;467;p27"/>
          <p:cNvSpPr/>
          <p:nvPr/>
        </p:nvSpPr>
        <p:spPr>
          <a:xfrm>
            <a:off x="8315087" y="3688318"/>
            <a:ext cx="14424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0.015 rad/s</a:t>
            </a:r>
            <a:endParaRPr b="0" i="0" sz="1300" u="none" cap="none" strike="noStrike"/>
          </a:p>
        </p:txBody>
      </p:sp>
      <p:sp>
        <p:nvSpPr>
          <p:cNvPr id="468" name="Google Shape;468;p27"/>
          <p:cNvSpPr/>
          <p:nvPr/>
        </p:nvSpPr>
        <p:spPr>
          <a:xfrm>
            <a:off x="10105073" y="3688318"/>
            <a:ext cx="35538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Clean, good axis</a:t>
            </a:r>
            <a:endParaRPr b="0" i="0" sz="1300" u="none" cap="none" strike="noStrike"/>
          </a:p>
        </p:txBody>
      </p:sp>
      <p:sp>
        <p:nvSpPr>
          <p:cNvPr id="469" name="Google Shape;469;p27"/>
          <p:cNvSpPr/>
          <p:nvPr/>
        </p:nvSpPr>
        <p:spPr>
          <a:xfrm>
            <a:off x="801410" y="4010501"/>
            <a:ext cx="13027500" cy="406200"/>
          </a:xfrm>
          <a:prstGeom prst="rect">
            <a:avLst/>
          </a:prstGeom>
          <a:solidFill>
            <a:srgbClr val="000000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27"/>
          <p:cNvSpPr/>
          <p:nvPr/>
        </p:nvSpPr>
        <p:spPr>
          <a:xfrm>
            <a:off x="971788" y="4094559"/>
            <a:ext cx="22629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IMU Gyro Y</a:t>
            </a:r>
            <a:endParaRPr b="0" i="0" sz="1300" u="none" cap="none" strike="noStrike"/>
          </a:p>
        </p:txBody>
      </p:sp>
      <p:sp>
        <p:nvSpPr>
          <p:cNvPr id="471" name="Google Shape;471;p27"/>
          <p:cNvSpPr/>
          <p:nvPr/>
        </p:nvSpPr>
        <p:spPr>
          <a:xfrm>
            <a:off x="3582353" y="4094559"/>
            <a:ext cx="15414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~0</a:t>
            </a:r>
            <a:endParaRPr b="0" i="0" sz="1300" u="none" cap="none" strike="noStrike"/>
          </a:p>
        </p:txBody>
      </p:sp>
      <p:sp>
        <p:nvSpPr>
          <p:cNvPr id="472" name="Google Shape;472;p27"/>
          <p:cNvSpPr/>
          <p:nvPr/>
        </p:nvSpPr>
        <p:spPr>
          <a:xfrm>
            <a:off x="5471279" y="4094559"/>
            <a:ext cx="24960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0.001462 (rad/s)²</a:t>
            </a:r>
            <a:endParaRPr b="0" i="0" sz="1300" u="none" cap="none" strike="noStrike"/>
          </a:p>
        </p:txBody>
      </p:sp>
      <p:sp>
        <p:nvSpPr>
          <p:cNvPr id="473" name="Google Shape;473;p27"/>
          <p:cNvSpPr/>
          <p:nvPr/>
        </p:nvSpPr>
        <p:spPr>
          <a:xfrm>
            <a:off x="8315087" y="4094559"/>
            <a:ext cx="14424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0.038 rad/s</a:t>
            </a:r>
            <a:endParaRPr b="0" i="0" sz="1300" u="none" cap="none" strike="noStrike"/>
          </a:p>
        </p:txBody>
      </p:sp>
      <p:sp>
        <p:nvSpPr>
          <p:cNvPr id="474" name="Google Shape;474;p27"/>
          <p:cNvSpPr/>
          <p:nvPr/>
        </p:nvSpPr>
        <p:spPr>
          <a:xfrm>
            <a:off x="10105073" y="4094559"/>
            <a:ext cx="35538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Moderate</a:t>
            </a:r>
            <a:endParaRPr b="0" i="0" sz="1300" u="none" cap="none" strike="noStrike"/>
          </a:p>
        </p:txBody>
      </p:sp>
      <p:sp>
        <p:nvSpPr>
          <p:cNvPr id="475" name="Google Shape;475;p27"/>
          <p:cNvSpPr/>
          <p:nvPr/>
        </p:nvSpPr>
        <p:spPr>
          <a:xfrm>
            <a:off x="801410" y="4416743"/>
            <a:ext cx="13027500" cy="414000"/>
          </a:xfrm>
          <a:prstGeom prst="rect">
            <a:avLst/>
          </a:prstGeom>
          <a:solidFill>
            <a:srgbClr val="FFFFFF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27"/>
          <p:cNvSpPr/>
          <p:nvPr/>
        </p:nvSpPr>
        <p:spPr>
          <a:xfrm>
            <a:off x="971788" y="4500801"/>
            <a:ext cx="22629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IMU Gyro Z</a:t>
            </a:r>
            <a:endParaRPr b="0" i="0" sz="1300" u="none" cap="none" strike="noStrike"/>
          </a:p>
        </p:txBody>
      </p:sp>
      <p:sp>
        <p:nvSpPr>
          <p:cNvPr id="477" name="Google Shape;477;p27"/>
          <p:cNvSpPr/>
          <p:nvPr/>
        </p:nvSpPr>
        <p:spPr>
          <a:xfrm>
            <a:off x="3582353" y="4500801"/>
            <a:ext cx="15414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~0</a:t>
            </a:r>
            <a:endParaRPr b="0" i="0" sz="1300" u="none" cap="none" strike="noStrike"/>
          </a:p>
        </p:txBody>
      </p:sp>
      <p:sp>
        <p:nvSpPr>
          <p:cNvPr id="478" name="Google Shape;478;p27"/>
          <p:cNvSpPr/>
          <p:nvPr/>
        </p:nvSpPr>
        <p:spPr>
          <a:xfrm>
            <a:off x="5471279" y="4500801"/>
            <a:ext cx="24960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0.041601 (rad/s)²</a:t>
            </a:r>
            <a:endParaRPr b="0" i="0" sz="1300" u="none" cap="none" strike="noStrike"/>
          </a:p>
        </p:txBody>
      </p:sp>
      <p:sp>
        <p:nvSpPr>
          <p:cNvPr id="479" name="Google Shape;479;p27"/>
          <p:cNvSpPr/>
          <p:nvPr/>
        </p:nvSpPr>
        <p:spPr>
          <a:xfrm>
            <a:off x="8315087" y="4500801"/>
            <a:ext cx="14424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0.204 rad/s</a:t>
            </a:r>
            <a:endParaRPr b="0" i="0" sz="1300" u="none" cap="none" strike="noStrike"/>
          </a:p>
        </p:txBody>
      </p:sp>
      <p:sp>
        <p:nvSpPr>
          <p:cNvPr id="480" name="Google Shape;480;p27"/>
          <p:cNvSpPr/>
          <p:nvPr/>
        </p:nvSpPr>
        <p:spPr>
          <a:xfrm>
            <a:off x="10105073" y="4500801"/>
            <a:ext cx="35538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⚠️</a:t>
            </a: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Highest — yaw drift</a:t>
            </a:r>
            <a:endParaRPr b="0" i="0" sz="1300" u="none" cap="none" strike="noStrike"/>
          </a:p>
        </p:txBody>
      </p:sp>
      <p:sp>
        <p:nvSpPr>
          <p:cNvPr id="481" name="Google Shape;481;p27"/>
          <p:cNvSpPr/>
          <p:nvPr/>
        </p:nvSpPr>
        <p:spPr>
          <a:xfrm>
            <a:off x="801410" y="4830604"/>
            <a:ext cx="13027500" cy="406200"/>
          </a:xfrm>
          <a:prstGeom prst="rect">
            <a:avLst/>
          </a:prstGeom>
          <a:solidFill>
            <a:srgbClr val="000000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27"/>
          <p:cNvSpPr/>
          <p:nvPr/>
        </p:nvSpPr>
        <p:spPr>
          <a:xfrm>
            <a:off x="971788" y="4914662"/>
            <a:ext cx="22629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IMU Accel X</a:t>
            </a:r>
            <a:endParaRPr b="0" i="0" sz="1300" u="none" cap="none" strike="noStrike"/>
          </a:p>
        </p:txBody>
      </p:sp>
      <p:sp>
        <p:nvSpPr>
          <p:cNvPr id="483" name="Google Shape;483;p27"/>
          <p:cNvSpPr/>
          <p:nvPr/>
        </p:nvSpPr>
        <p:spPr>
          <a:xfrm>
            <a:off x="3582353" y="4914662"/>
            <a:ext cx="15414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~0</a:t>
            </a:r>
            <a:endParaRPr b="0" i="0" sz="1300" u="none" cap="none" strike="noStrike"/>
          </a:p>
        </p:txBody>
      </p:sp>
      <p:sp>
        <p:nvSpPr>
          <p:cNvPr id="484" name="Google Shape;484;p27"/>
          <p:cNvSpPr/>
          <p:nvPr/>
        </p:nvSpPr>
        <p:spPr>
          <a:xfrm>
            <a:off x="5471279" y="4914662"/>
            <a:ext cx="24960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0.969666 (m/s²)²</a:t>
            </a:r>
            <a:endParaRPr b="0" i="0" sz="1300" u="none" cap="none" strike="noStrike"/>
          </a:p>
        </p:txBody>
      </p:sp>
      <p:sp>
        <p:nvSpPr>
          <p:cNvPr id="485" name="Google Shape;485;p27"/>
          <p:cNvSpPr/>
          <p:nvPr/>
        </p:nvSpPr>
        <p:spPr>
          <a:xfrm>
            <a:off x="8315087" y="4914662"/>
            <a:ext cx="14424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0.985 m/s²</a:t>
            </a:r>
            <a:endParaRPr b="0" i="0" sz="1300" u="none" cap="none" strike="noStrike"/>
          </a:p>
        </p:txBody>
      </p:sp>
      <p:sp>
        <p:nvSpPr>
          <p:cNvPr id="486" name="Google Shape;486;p27"/>
          <p:cNvSpPr/>
          <p:nvPr/>
        </p:nvSpPr>
        <p:spPr>
          <a:xfrm>
            <a:off x="10105073" y="4914662"/>
            <a:ext cx="35538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Very high — vibration</a:t>
            </a:r>
            <a:endParaRPr b="0" i="0" sz="1300" u="none" cap="none" strike="noStrike"/>
          </a:p>
        </p:txBody>
      </p:sp>
      <p:sp>
        <p:nvSpPr>
          <p:cNvPr id="487" name="Google Shape;487;p27"/>
          <p:cNvSpPr/>
          <p:nvPr/>
        </p:nvSpPr>
        <p:spPr>
          <a:xfrm>
            <a:off x="801410" y="5236845"/>
            <a:ext cx="13027500" cy="406200"/>
          </a:xfrm>
          <a:prstGeom prst="rect">
            <a:avLst/>
          </a:prstGeom>
          <a:solidFill>
            <a:srgbClr val="FFFFFF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27"/>
          <p:cNvSpPr/>
          <p:nvPr/>
        </p:nvSpPr>
        <p:spPr>
          <a:xfrm>
            <a:off x="971788" y="5320903"/>
            <a:ext cx="22629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IMU Accel Y</a:t>
            </a:r>
            <a:endParaRPr b="0" i="0" sz="1300" u="none" cap="none" strike="noStrike"/>
          </a:p>
        </p:txBody>
      </p:sp>
      <p:sp>
        <p:nvSpPr>
          <p:cNvPr id="489" name="Google Shape;489;p27"/>
          <p:cNvSpPr/>
          <p:nvPr/>
        </p:nvSpPr>
        <p:spPr>
          <a:xfrm>
            <a:off x="3582353" y="5320903"/>
            <a:ext cx="15414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~0</a:t>
            </a:r>
            <a:endParaRPr b="0" i="0" sz="1300" u="none" cap="none" strike="noStrike"/>
          </a:p>
        </p:txBody>
      </p:sp>
      <p:sp>
        <p:nvSpPr>
          <p:cNvPr id="490" name="Google Shape;490;p27"/>
          <p:cNvSpPr/>
          <p:nvPr/>
        </p:nvSpPr>
        <p:spPr>
          <a:xfrm>
            <a:off x="5471279" y="5320903"/>
            <a:ext cx="24960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0.565310 (m/s²)²</a:t>
            </a:r>
            <a:endParaRPr b="0" i="0" sz="1300" u="none" cap="none" strike="noStrike"/>
          </a:p>
        </p:txBody>
      </p:sp>
      <p:sp>
        <p:nvSpPr>
          <p:cNvPr id="491" name="Google Shape;491;p27"/>
          <p:cNvSpPr/>
          <p:nvPr/>
        </p:nvSpPr>
        <p:spPr>
          <a:xfrm>
            <a:off x="8315087" y="5320903"/>
            <a:ext cx="14424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0.752 m/s²</a:t>
            </a:r>
            <a:endParaRPr b="0" i="0" sz="1300" u="none" cap="none" strike="noStrike"/>
          </a:p>
        </p:txBody>
      </p:sp>
      <p:sp>
        <p:nvSpPr>
          <p:cNvPr id="492" name="Google Shape;492;p27"/>
          <p:cNvSpPr/>
          <p:nvPr/>
        </p:nvSpPr>
        <p:spPr>
          <a:xfrm>
            <a:off x="10105073" y="5320903"/>
            <a:ext cx="35538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High</a:t>
            </a:r>
            <a:endParaRPr b="0" i="0" sz="1300" u="none" cap="none" strike="noStrike"/>
          </a:p>
        </p:txBody>
      </p:sp>
      <p:sp>
        <p:nvSpPr>
          <p:cNvPr id="493" name="Google Shape;493;p27"/>
          <p:cNvSpPr/>
          <p:nvPr/>
        </p:nvSpPr>
        <p:spPr>
          <a:xfrm>
            <a:off x="801410" y="5643086"/>
            <a:ext cx="13027500" cy="406200"/>
          </a:xfrm>
          <a:prstGeom prst="rect">
            <a:avLst/>
          </a:prstGeom>
          <a:solidFill>
            <a:srgbClr val="000000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27"/>
          <p:cNvSpPr/>
          <p:nvPr/>
        </p:nvSpPr>
        <p:spPr>
          <a:xfrm>
            <a:off x="971788" y="5727144"/>
            <a:ext cx="22629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IMU Accel Z</a:t>
            </a:r>
            <a:endParaRPr b="0" i="0" sz="1300" u="none" cap="none" strike="noStrike"/>
          </a:p>
        </p:txBody>
      </p:sp>
      <p:sp>
        <p:nvSpPr>
          <p:cNvPr id="495" name="Google Shape;495;p27"/>
          <p:cNvSpPr/>
          <p:nvPr/>
        </p:nvSpPr>
        <p:spPr>
          <a:xfrm>
            <a:off x="3582353" y="5727144"/>
            <a:ext cx="15414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~9.81</a:t>
            </a:r>
            <a:endParaRPr b="0" i="0" sz="1300" u="none" cap="none" strike="noStrike"/>
          </a:p>
        </p:txBody>
      </p:sp>
      <p:sp>
        <p:nvSpPr>
          <p:cNvPr id="496" name="Google Shape;496;p27"/>
          <p:cNvSpPr/>
          <p:nvPr/>
        </p:nvSpPr>
        <p:spPr>
          <a:xfrm>
            <a:off x="5471279" y="5727144"/>
            <a:ext cx="24960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0.691300 (m/s²)²</a:t>
            </a:r>
            <a:endParaRPr b="0" i="0" sz="1300" u="none" cap="none" strike="noStrike"/>
          </a:p>
        </p:txBody>
      </p:sp>
      <p:sp>
        <p:nvSpPr>
          <p:cNvPr id="497" name="Google Shape;497;p27"/>
          <p:cNvSpPr/>
          <p:nvPr/>
        </p:nvSpPr>
        <p:spPr>
          <a:xfrm>
            <a:off x="8315087" y="5727144"/>
            <a:ext cx="14424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0.831 m/s²</a:t>
            </a:r>
            <a:endParaRPr b="0" i="0" sz="1300" u="none" cap="none" strike="noStrike"/>
          </a:p>
        </p:txBody>
      </p:sp>
      <p:sp>
        <p:nvSpPr>
          <p:cNvPr id="498" name="Google Shape;498;p27"/>
          <p:cNvSpPr/>
          <p:nvPr/>
        </p:nvSpPr>
        <p:spPr>
          <a:xfrm>
            <a:off x="10105073" y="5727144"/>
            <a:ext cx="35538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Gravity ± noise</a:t>
            </a:r>
            <a:endParaRPr b="0" i="0" sz="1300" u="none" cap="none" strike="noStrike"/>
          </a:p>
        </p:txBody>
      </p:sp>
      <p:sp>
        <p:nvSpPr>
          <p:cNvPr id="499" name="Google Shape;499;p27"/>
          <p:cNvSpPr/>
          <p:nvPr/>
        </p:nvSpPr>
        <p:spPr>
          <a:xfrm>
            <a:off x="801410" y="6049328"/>
            <a:ext cx="13027500" cy="406200"/>
          </a:xfrm>
          <a:prstGeom prst="rect">
            <a:avLst/>
          </a:prstGeom>
          <a:solidFill>
            <a:srgbClr val="FFFFFF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27"/>
          <p:cNvSpPr/>
          <p:nvPr/>
        </p:nvSpPr>
        <p:spPr>
          <a:xfrm>
            <a:off x="971788" y="6133386"/>
            <a:ext cx="22629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Wheel Odom vx</a:t>
            </a:r>
            <a:endParaRPr b="0" i="0" sz="1300" u="none" cap="none" strike="noStrike"/>
          </a:p>
        </p:txBody>
      </p:sp>
      <p:sp>
        <p:nvSpPr>
          <p:cNvPr id="501" name="Google Shape;501;p27"/>
          <p:cNvSpPr/>
          <p:nvPr/>
        </p:nvSpPr>
        <p:spPr>
          <a:xfrm>
            <a:off x="3582353" y="6133386"/>
            <a:ext cx="15414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~0</a:t>
            </a:r>
            <a:endParaRPr b="0" i="0" sz="1300" u="none" cap="none" strike="noStrike"/>
          </a:p>
        </p:txBody>
      </p:sp>
      <p:sp>
        <p:nvSpPr>
          <p:cNvPr id="502" name="Google Shape;502;p27"/>
          <p:cNvSpPr/>
          <p:nvPr/>
        </p:nvSpPr>
        <p:spPr>
          <a:xfrm>
            <a:off x="5471279" y="6133386"/>
            <a:ext cx="24960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~0.001 (m/s)²</a:t>
            </a:r>
            <a:endParaRPr b="0" i="0" sz="1300" u="none" cap="none" strike="noStrike"/>
          </a:p>
        </p:txBody>
      </p:sp>
      <p:sp>
        <p:nvSpPr>
          <p:cNvPr id="503" name="Google Shape;503;p27"/>
          <p:cNvSpPr/>
          <p:nvPr/>
        </p:nvSpPr>
        <p:spPr>
          <a:xfrm>
            <a:off x="8315087" y="6133386"/>
            <a:ext cx="14424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0.032 m/s</a:t>
            </a:r>
            <a:endParaRPr b="0" i="0" sz="1300" u="none" cap="none" strike="noStrike"/>
          </a:p>
        </p:txBody>
      </p:sp>
      <p:sp>
        <p:nvSpPr>
          <p:cNvPr id="504" name="Google Shape;504;p27"/>
          <p:cNvSpPr/>
          <p:nvPr/>
        </p:nvSpPr>
        <p:spPr>
          <a:xfrm>
            <a:off x="10105073" y="6133386"/>
            <a:ext cx="35538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Very clean (Gazebo)</a:t>
            </a:r>
            <a:endParaRPr b="0" i="0" sz="1300" u="none" cap="none" strike="noStrike"/>
          </a:p>
        </p:txBody>
      </p:sp>
      <p:sp>
        <p:nvSpPr>
          <p:cNvPr id="505" name="Google Shape;505;p27"/>
          <p:cNvSpPr/>
          <p:nvPr/>
        </p:nvSpPr>
        <p:spPr>
          <a:xfrm>
            <a:off x="793790" y="6606659"/>
            <a:ext cx="13042800" cy="846000"/>
          </a:xfrm>
          <a:prstGeom prst="roundRect">
            <a:avLst>
              <a:gd fmla="val 8445" name="adj"/>
            </a:avLst>
          </a:prstGeom>
          <a:solidFill>
            <a:srgbClr val="FCF2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06" name="Google Shape;50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3811" y="6853238"/>
            <a:ext cx="212646" cy="170021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27"/>
          <p:cNvSpPr/>
          <p:nvPr/>
        </p:nvSpPr>
        <p:spPr>
          <a:xfrm>
            <a:off x="1346478" y="6776680"/>
            <a:ext cx="123201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IMU Gyro Z variance (0.0416) is 184× larger than Gyro X (0.000226).</a:t>
            </a:r>
            <a:r>
              <a:rPr b="0" i="0" lang="en-US" sz="13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Yaw estimation from raw IMU is the weakest channel → LiDAR odometry is the primary yaw source.</a:t>
            </a:r>
            <a:endParaRPr b="0" i="0" sz="1300" u="none" cap="none" strike="noStrike"/>
          </a:p>
        </p:txBody>
      </p:sp>
      <p:sp>
        <p:nvSpPr>
          <p:cNvPr id="508" name="Google Shape;508;p27"/>
          <p:cNvSpPr/>
          <p:nvPr/>
        </p:nvSpPr>
        <p:spPr>
          <a:xfrm>
            <a:off x="12845075" y="7780725"/>
            <a:ext cx="1680600" cy="356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15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28"/>
          <p:cNvSpPr/>
          <p:nvPr/>
        </p:nvSpPr>
        <p:spPr>
          <a:xfrm>
            <a:off x="793801" y="943951"/>
            <a:ext cx="13374900" cy="6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2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etrona"/>
              <a:buNone/>
            </a:pPr>
            <a:r>
              <a:rPr b="1" i="0" lang="en-US" sz="350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Sensor Configuration Vectors — What Each </a:t>
            </a:r>
            <a:r>
              <a:rPr b="1" i="0" lang="en-US" sz="3500" u="none" cap="none" strike="noStrike">
                <a:solidFill>
                  <a:srgbClr val="27252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b="1" i="0" lang="en-US" sz="350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/</a:t>
            </a:r>
            <a:r>
              <a:rPr b="1" i="0" lang="en-US" sz="3500" u="none" cap="none" strike="noStrike">
                <a:solidFill>
                  <a:srgbClr val="27252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false</a:t>
            </a:r>
            <a:r>
              <a:rPr b="1" i="0" lang="en-US" sz="350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 Means</a:t>
            </a:r>
            <a:endParaRPr b="0" i="0" sz="3500" u="none" cap="none" strike="noStrike"/>
          </a:p>
        </p:txBody>
      </p:sp>
      <p:sp>
        <p:nvSpPr>
          <p:cNvPr id="515" name="Google Shape;515;p28"/>
          <p:cNvSpPr/>
          <p:nvPr/>
        </p:nvSpPr>
        <p:spPr>
          <a:xfrm>
            <a:off x="793790" y="1802998"/>
            <a:ext cx="130428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 15-element boolean vector selects which state dimensions each sensor updates in the EKF.</a:t>
            </a:r>
            <a:endParaRPr b="0" i="0" sz="1300" u="none" cap="none" strike="noStrike"/>
          </a:p>
        </p:txBody>
      </p:sp>
      <p:sp>
        <p:nvSpPr>
          <p:cNvPr id="516" name="Google Shape;516;p28"/>
          <p:cNvSpPr/>
          <p:nvPr/>
        </p:nvSpPr>
        <p:spPr>
          <a:xfrm>
            <a:off x="793790" y="2184593"/>
            <a:ext cx="13042800" cy="816300"/>
          </a:xfrm>
          <a:prstGeom prst="roundRect">
            <a:avLst>
              <a:gd fmla="val 8753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28"/>
          <p:cNvSpPr/>
          <p:nvPr/>
        </p:nvSpPr>
        <p:spPr>
          <a:xfrm>
            <a:off x="785336" y="2184593"/>
            <a:ext cx="13059600" cy="816300"/>
          </a:xfrm>
          <a:prstGeom prst="roundRect">
            <a:avLst>
              <a:gd fmla="val 3126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28"/>
          <p:cNvSpPr/>
          <p:nvPr/>
        </p:nvSpPr>
        <p:spPr>
          <a:xfrm>
            <a:off x="997982" y="2354614"/>
            <a:ext cx="12634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6A737D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# Index:  0    1    2     3     4    5    6    7    8    9    10    11   12   13   14</a:t>
            </a:r>
            <a:endParaRPr b="0" i="0" sz="1300" u="none" cap="none" strike="noStrike"/>
          </a:p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6A737D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# State:  x    y    z  roll  pitch  yaw  vx   vy   vz  vroll vpitch vyaw  ax   ay   az</a:t>
            </a:r>
            <a:endParaRPr b="0" i="0" sz="1300" u="none" cap="none" strike="noStrike"/>
          </a:p>
        </p:txBody>
      </p:sp>
      <p:sp>
        <p:nvSpPr>
          <p:cNvPr id="519" name="Google Shape;519;p28"/>
          <p:cNvSpPr/>
          <p:nvPr/>
        </p:nvSpPr>
        <p:spPr>
          <a:xfrm>
            <a:off x="793800" y="3144350"/>
            <a:ext cx="4262700" cy="4383300"/>
          </a:xfrm>
          <a:prstGeom prst="roundRect">
            <a:avLst>
              <a:gd fmla="val 1827" name="adj"/>
            </a:avLst>
          </a:prstGeom>
          <a:solidFill>
            <a:srgbClr val="FFFFFF">
              <a:alpha val="94900"/>
            </a:srgbClr>
          </a:solidFill>
          <a:ln cap="flat" cmpd="sng" w="22850">
            <a:solidFill>
              <a:srgbClr val="B2D4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28"/>
          <p:cNvSpPr/>
          <p:nvPr/>
        </p:nvSpPr>
        <p:spPr>
          <a:xfrm>
            <a:off x="986671" y="3337237"/>
            <a:ext cx="2666400" cy="2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Petrona"/>
              <a:buNone/>
            </a:pPr>
            <a:r>
              <a:rPr b="1" i="0" lang="en-US" sz="175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Wheel Odometry (odom0)</a:t>
            </a:r>
            <a:endParaRPr b="0" i="0" sz="1750" u="none" cap="none" strike="noStrike"/>
          </a:p>
        </p:txBody>
      </p:sp>
      <p:sp>
        <p:nvSpPr>
          <p:cNvPr id="521" name="Google Shape;521;p28"/>
          <p:cNvSpPr/>
          <p:nvPr/>
        </p:nvSpPr>
        <p:spPr>
          <a:xfrm>
            <a:off x="986671" y="3759671"/>
            <a:ext cx="3876900" cy="2483100"/>
          </a:xfrm>
          <a:prstGeom prst="roundRect">
            <a:avLst>
              <a:gd fmla="val 287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28"/>
          <p:cNvSpPr/>
          <p:nvPr/>
        </p:nvSpPr>
        <p:spPr>
          <a:xfrm>
            <a:off x="978225" y="3759676"/>
            <a:ext cx="3893700" cy="2858400"/>
          </a:xfrm>
          <a:prstGeom prst="roundRect">
            <a:avLst>
              <a:gd fmla="val 1028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28"/>
          <p:cNvSpPr/>
          <p:nvPr/>
        </p:nvSpPr>
        <p:spPr>
          <a:xfrm>
            <a:off x="1190863" y="3929692"/>
            <a:ext cx="3468300" cy="21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Consolas"/>
                <a:ea typeface="Consolas"/>
                <a:cs typeface="Consolas"/>
                <a:sym typeface="Consolas"/>
              </a:rPr>
              <a:t>[false,false,false, # x,y,z: DISABLED — abs pos drifts</a:t>
            </a:r>
            <a:endParaRPr b="0" i="0" sz="1300" u="none" cap="none" strike="noStrike"/>
          </a:p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Consolas"/>
                <a:ea typeface="Consolas"/>
                <a:cs typeface="Consolas"/>
                <a:sym typeface="Consolas"/>
              </a:rPr>
              <a:t> false,false,false, # roll,pitch,yaw: no heading</a:t>
            </a:r>
            <a:endParaRPr b="0" i="0" sz="1300" u="none" cap="none" strike="noStrike"/>
          </a:p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Consolas"/>
                <a:ea typeface="Consolas"/>
                <a:cs typeface="Consolas"/>
                <a:sym typeface="Consolas"/>
              </a:rPr>
              <a:t> true, false,false, # vx: ENABLED — forward velocity</a:t>
            </a:r>
            <a:endParaRPr b="0" i="0" sz="1300" u="none" cap="none" strike="noStrike"/>
          </a:p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Consolas"/>
                <a:ea typeface="Consolas"/>
                <a:cs typeface="Consolas"/>
                <a:sym typeface="Consolas"/>
              </a:rPr>
              <a:t> false,false,true,  # vyaw: ENABLED — turn rate</a:t>
            </a:r>
            <a:endParaRPr b="0" i="0" sz="1300" u="none" cap="none" strike="noStrike"/>
          </a:p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Consolas"/>
                <a:ea typeface="Consolas"/>
                <a:cs typeface="Consolas"/>
                <a:sym typeface="Consolas"/>
              </a:rPr>
              <a:t> false,false,false] # accel: DISABLED</a:t>
            </a:r>
            <a:endParaRPr b="0" i="0" sz="1300" u="none" cap="none" strike="noStrike"/>
          </a:p>
        </p:txBody>
      </p:sp>
      <p:sp>
        <p:nvSpPr>
          <p:cNvPr id="524" name="Google Shape;524;p28"/>
          <p:cNvSpPr/>
          <p:nvPr/>
        </p:nvSpPr>
        <p:spPr>
          <a:xfrm>
            <a:off x="986571" y="6869734"/>
            <a:ext cx="38769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vy = 0 mechanically — differential drive cannot move sideways.</a:t>
            </a:r>
            <a:endParaRPr b="0" i="0" sz="1300" u="none" cap="none" strike="noStrike"/>
          </a:p>
        </p:txBody>
      </p:sp>
      <p:sp>
        <p:nvSpPr>
          <p:cNvPr id="525" name="Google Shape;525;p28"/>
          <p:cNvSpPr/>
          <p:nvPr/>
        </p:nvSpPr>
        <p:spPr>
          <a:xfrm>
            <a:off x="5183850" y="3144350"/>
            <a:ext cx="4262700" cy="4383300"/>
          </a:xfrm>
          <a:prstGeom prst="roundRect">
            <a:avLst>
              <a:gd fmla="val 1827" name="adj"/>
            </a:avLst>
          </a:prstGeom>
          <a:solidFill>
            <a:srgbClr val="FFFFFF">
              <a:alpha val="94900"/>
            </a:srgbClr>
          </a:solidFill>
          <a:ln cap="flat" cmpd="sng" w="22850">
            <a:solidFill>
              <a:srgbClr val="B2D4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28"/>
          <p:cNvSpPr/>
          <p:nvPr/>
        </p:nvSpPr>
        <p:spPr>
          <a:xfrm>
            <a:off x="5376743" y="3337237"/>
            <a:ext cx="2232900" cy="2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Petrona"/>
              <a:buNone/>
            </a:pPr>
            <a:r>
              <a:rPr b="1" i="0" lang="en-US" sz="175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IMU (imu0)</a:t>
            </a:r>
            <a:endParaRPr b="0" i="0" sz="1750" u="none" cap="none" strike="noStrike"/>
          </a:p>
        </p:txBody>
      </p:sp>
      <p:sp>
        <p:nvSpPr>
          <p:cNvPr id="527" name="Google Shape;527;p28"/>
          <p:cNvSpPr/>
          <p:nvPr/>
        </p:nvSpPr>
        <p:spPr>
          <a:xfrm>
            <a:off x="5376743" y="3759671"/>
            <a:ext cx="3876900" cy="1768800"/>
          </a:xfrm>
          <a:prstGeom prst="roundRect">
            <a:avLst>
              <a:gd fmla="val 4040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28"/>
          <p:cNvSpPr/>
          <p:nvPr/>
        </p:nvSpPr>
        <p:spPr>
          <a:xfrm>
            <a:off x="5368300" y="3759679"/>
            <a:ext cx="3893700" cy="2801100"/>
          </a:xfrm>
          <a:prstGeom prst="roundRect">
            <a:avLst>
              <a:gd fmla="val 1443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28"/>
          <p:cNvSpPr/>
          <p:nvPr/>
        </p:nvSpPr>
        <p:spPr>
          <a:xfrm>
            <a:off x="5580936" y="3929692"/>
            <a:ext cx="3468300" cy="14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Consolas"/>
                <a:ea typeface="Consolas"/>
                <a:cs typeface="Consolas"/>
                <a:sym typeface="Consolas"/>
              </a:rPr>
              <a:t>[false,false,false, # position: none</a:t>
            </a:r>
            <a:endParaRPr b="0" i="0" sz="1300" u="none" cap="none" strike="noStrike"/>
          </a:p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Consolas"/>
                <a:ea typeface="Consolas"/>
                <a:cs typeface="Consolas"/>
                <a:sym typeface="Consolas"/>
              </a:rPr>
              <a:t> false,false,false, # orientation: DISABLED</a:t>
            </a:r>
            <a:endParaRPr b="0" i="0" sz="1300" u="none" cap="none" strike="noStrike"/>
          </a:p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Consolas"/>
                <a:ea typeface="Consolas"/>
                <a:cs typeface="Consolas"/>
                <a:sym typeface="Consolas"/>
              </a:rPr>
              <a:t> false,false,false, # velocity: not measured</a:t>
            </a:r>
            <a:endParaRPr b="0" i="0" sz="1300" u="none" cap="none" strike="noStrike"/>
          </a:p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300">
                <a:solidFill>
                  <a:srgbClr val="272525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b="0" i="0" lang="en-US" sz="1300" u="none" cap="none" strike="noStrike">
                <a:solidFill>
                  <a:srgbClr val="272525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300">
                <a:solidFill>
                  <a:srgbClr val="272525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b="0" i="0" lang="en-US" sz="1300" u="none" cap="none" strike="noStrike">
                <a:solidFill>
                  <a:srgbClr val="272525"/>
                </a:solidFill>
                <a:latin typeface="Consolas"/>
                <a:ea typeface="Consolas"/>
                <a:cs typeface="Consolas"/>
                <a:sym typeface="Consolas"/>
              </a:rPr>
              <a:t>, true,  # vroll,vpitch,vyaw: ENABLED</a:t>
            </a:r>
            <a:endParaRPr b="0" i="0" sz="1300" u="none" cap="none" strike="noStrike"/>
          </a:p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300">
                <a:solidFill>
                  <a:srgbClr val="272525"/>
                </a:solidFill>
                <a:latin typeface="Consolas"/>
                <a:ea typeface="Consolas"/>
                <a:cs typeface="Consolas"/>
                <a:sym typeface="Consolas"/>
              </a:rPr>
              <a:t>true, true, true</a:t>
            </a:r>
            <a:r>
              <a:rPr b="0" i="0" lang="en-US" sz="1300" u="none" cap="none" strike="noStrike">
                <a:solidFill>
                  <a:srgbClr val="272525"/>
                </a:solidFill>
                <a:latin typeface="Consolas"/>
                <a:ea typeface="Consolas"/>
                <a:cs typeface="Consolas"/>
                <a:sym typeface="Consolas"/>
              </a:rPr>
              <a:t>]  # ax,ay,az: ENABLED</a:t>
            </a:r>
            <a:endParaRPr b="0" i="0" sz="1300" u="none" cap="none" strike="noStrike"/>
          </a:p>
        </p:txBody>
      </p:sp>
      <p:sp>
        <p:nvSpPr>
          <p:cNvPr id="530" name="Google Shape;530;p28"/>
          <p:cNvSpPr/>
          <p:nvPr/>
        </p:nvSpPr>
        <p:spPr>
          <a:xfrm>
            <a:off x="5376755" y="6822934"/>
            <a:ext cx="38769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Orientation DISABLED — no magnetometer → 150° drift observed when rows were enabled.</a:t>
            </a:r>
            <a:endParaRPr b="0" i="0" sz="1300" u="none" cap="none" strike="noStrike"/>
          </a:p>
        </p:txBody>
      </p:sp>
      <p:sp>
        <p:nvSpPr>
          <p:cNvPr id="531" name="Google Shape;531;p28"/>
          <p:cNvSpPr/>
          <p:nvPr/>
        </p:nvSpPr>
        <p:spPr>
          <a:xfrm>
            <a:off x="9573925" y="3144350"/>
            <a:ext cx="4262700" cy="4383300"/>
          </a:xfrm>
          <a:prstGeom prst="roundRect">
            <a:avLst>
              <a:gd fmla="val 1827" name="adj"/>
            </a:avLst>
          </a:prstGeom>
          <a:solidFill>
            <a:srgbClr val="FFFFFF">
              <a:alpha val="94900"/>
            </a:srgbClr>
          </a:solidFill>
          <a:ln cap="flat" cmpd="sng" w="22850">
            <a:solidFill>
              <a:srgbClr val="B2D4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28"/>
          <p:cNvSpPr/>
          <p:nvPr/>
        </p:nvSpPr>
        <p:spPr>
          <a:xfrm>
            <a:off x="9766816" y="3337237"/>
            <a:ext cx="2247300" cy="2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Petrona"/>
              <a:buNone/>
            </a:pPr>
            <a:r>
              <a:rPr b="1" i="0" lang="en-US" sz="175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LiDAR Odom (odom2)</a:t>
            </a:r>
            <a:endParaRPr b="0" i="0" sz="1750" u="none" cap="none" strike="noStrike"/>
          </a:p>
        </p:txBody>
      </p:sp>
      <p:sp>
        <p:nvSpPr>
          <p:cNvPr id="533" name="Google Shape;533;p28"/>
          <p:cNvSpPr/>
          <p:nvPr/>
        </p:nvSpPr>
        <p:spPr>
          <a:xfrm>
            <a:off x="9766816" y="3759671"/>
            <a:ext cx="3876900" cy="2007000"/>
          </a:xfrm>
          <a:prstGeom prst="roundRect">
            <a:avLst>
              <a:gd fmla="val 3560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28"/>
          <p:cNvSpPr/>
          <p:nvPr/>
        </p:nvSpPr>
        <p:spPr>
          <a:xfrm>
            <a:off x="9758375" y="3759676"/>
            <a:ext cx="3893700" cy="2801100"/>
          </a:xfrm>
          <a:prstGeom prst="roundRect">
            <a:avLst>
              <a:gd fmla="val 1272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28"/>
          <p:cNvSpPr/>
          <p:nvPr/>
        </p:nvSpPr>
        <p:spPr>
          <a:xfrm>
            <a:off x="9971008" y="3929692"/>
            <a:ext cx="3468300" cy="16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Consolas"/>
                <a:ea typeface="Consolas"/>
                <a:cs typeface="Consolas"/>
                <a:sym typeface="Consolas"/>
              </a:rPr>
              <a:t>[true, true, false, # x,y: ENABLED — scan match</a:t>
            </a:r>
            <a:endParaRPr b="0" i="0" sz="1300" u="none" cap="none" strike="noStrike"/>
          </a:p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Consolas"/>
                <a:ea typeface="Consolas"/>
                <a:cs typeface="Consolas"/>
                <a:sym typeface="Consolas"/>
              </a:rPr>
              <a:t> false,false,true,  # yaw: ENABLED — scan heading</a:t>
            </a:r>
            <a:endParaRPr b="0" i="0" sz="1300" u="none" cap="none" strike="noStrike"/>
          </a:p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Consolas"/>
                <a:ea typeface="Consolas"/>
                <a:cs typeface="Consolas"/>
                <a:sym typeface="Consolas"/>
              </a:rPr>
              <a:t> false,false,false, # velocities: DISABLED</a:t>
            </a:r>
            <a:endParaRPr b="0" i="0" sz="1300" u="none" cap="none" strike="noStrike"/>
          </a:p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Consolas"/>
                <a:ea typeface="Consolas"/>
                <a:cs typeface="Consolas"/>
                <a:sym typeface="Consolas"/>
              </a:rPr>
              <a:t> false,false,false,</a:t>
            </a:r>
            <a:endParaRPr b="0" i="0" sz="1300" u="none" cap="none" strike="noStrike"/>
          </a:p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Consolas"/>
                <a:ea typeface="Consolas"/>
                <a:cs typeface="Consolas"/>
                <a:sym typeface="Consolas"/>
              </a:rPr>
              <a:t> false,false,false] # differential: true</a:t>
            </a:r>
            <a:endParaRPr b="0" i="0" sz="1300" u="none" cap="none" strike="noStrike"/>
          </a:p>
        </p:txBody>
      </p:sp>
      <p:sp>
        <p:nvSpPr>
          <p:cNvPr id="536" name="Google Shape;536;p28"/>
          <p:cNvSpPr/>
          <p:nvPr/>
        </p:nvSpPr>
        <p:spPr>
          <a:xfrm>
            <a:off x="9766916" y="6822934"/>
            <a:ext cx="38769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differential: true</a:t>
            </a: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— use Δpose, not absolute pose. Prevents loop-closure jumps.</a:t>
            </a:r>
            <a:endParaRPr b="0" i="0" sz="1300" u="none" cap="none" strike="noStrike"/>
          </a:p>
        </p:txBody>
      </p:sp>
      <p:sp>
        <p:nvSpPr>
          <p:cNvPr id="537" name="Google Shape;537;p28"/>
          <p:cNvSpPr/>
          <p:nvPr/>
        </p:nvSpPr>
        <p:spPr>
          <a:xfrm>
            <a:off x="12845075" y="7780725"/>
            <a:ext cx="1680600" cy="356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16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29"/>
          <p:cNvSpPr/>
          <p:nvPr/>
        </p:nvSpPr>
        <p:spPr>
          <a:xfrm>
            <a:off x="793790" y="1026914"/>
            <a:ext cx="11854200" cy="5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2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etrona"/>
              <a:buNone/>
            </a:pPr>
            <a:r>
              <a:rPr b="1" i="0" lang="en-US" sz="350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Process Noise Covariance Q — Tuning Uncertainty Growth</a:t>
            </a:r>
            <a:endParaRPr b="0" i="0" sz="3500" u="none" cap="none" strike="noStrike"/>
          </a:p>
        </p:txBody>
      </p:sp>
      <p:sp>
        <p:nvSpPr>
          <p:cNvPr id="544" name="Google Shape;544;p29"/>
          <p:cNvSpPr/>
          <p:nvPr/>
        </p:nvSpPr>
        <p:spPr>
          <a:xfrm>
            <a:off x="793790" y="1840230"/>
            <a:ext cx="130428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Q controls how fast the filter distrusts its own prediction between measurements.</a:t>
            </a:r>
            <a:endParaRPr b="0" i="0" sz="1300" u="none" cap="none" strike="noStrike"/>
          </a:p>
        </p:txBody>
      </p:sp>
      <p:sp>
        <p:nvSpPr>
          <p:cNvPr id="545" name="Google Shape;545;p29"/>
          <p:cNvSpPr/>
          <p:nvPr/>
        </p:nvSpPr>
        <p:spPr>
          <a:xfrm>
            <a:off x="671274" y="2221825"/>
            <a:ext cx="4944000" cy="4980900"/>
          </a:xfrm>
          <a:prstGeom prst="roundRect">
            <a:avLst>
              <a:gd fmla="val 2478" name="adj"/>
            </a:avLst>
          </a:prstGeom>
          <a:solidFill>
            <a:srgbClr val="007EBD">
              <a:alpha val="9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29"/>
          <p:cNvSpPr/>
          <p:nvPr/>
        </p:nvSpPr>
        <p:spPr>
          <a:xfrm>
            <a:off x="841296" y="2349341"/>
            <a:ext cx="2232900" cy="2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Petrona"/>
              <a:buNone/>
            </a:pPr>
            <a:r>
              <a:rPr b="1" i="0" lang="en-US" sz="175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Q Tuning Principle</a:t>
            </a:r>
            <a:endParaRPr b="0" i="0" sz="1750" u="none" cap="none" strike="noStrike"/>
          </a:p>
        </p:txBody>
      </p:sp>
      <p:sp>
        <p:nvSpPr>
          <p:cNvPr id="547" name="Google Shape;547;p29"/>
          <p:cNvSpPr/>
          <p:nvPr/>
        </p:nvSpPr>
        <p:spPr>
          <a:xfrm>
            <a:off x="841296" y="2755821"/>
            <a:ext cx="4603800" cy="9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High Q</a:t>
            </a:r>
            <a:r>
              <a:rPr b="0" i="0" lang="en-US" sz="13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→ uncertainty grows fast → filter trusts next measurement heavily</a:t>
            </a:r>
            <a:endParaRPr b="0" i="0" sz="1300" u="none" cap="none" strike="noStrike"/>
          </a:p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Low Q</a:t>
            </a:r>
            <a:r>
              <a:rPr b="0" i="0" lang="en-US" sz="13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→ uncertainty grows slowly → filter trusts its own motion model</a:t>
            </a:r>
            <a:endParaRPr b="0" i="0" sz="1300" u="none" cap="none" strike="noStrike"/>
          </a:p>
        </p:txBody>
      </p:sp>
      <p:sp>
        <p:nvSpPr>
          <p:cNvPr id="548" name="Google Shape;548;p29"/>
          <p:cNvSpPr/>
          <p:nvPr/>
        </p:nvSpPr>
        <p:spPr>
          <a:xfrm>
            <a:off x="841296" y="3896439"/>
            <a:ext cx="4603800" cy="1322400"/>
          </a:xfrm>
          <a:prstGeom prst="roundRect">
            <a:avLst>
              <a:gd fmla="val 5403" name="adj"/>
            </a:avLst>
          </a:prstGeom>
          <a:solidFill>
            <a:srgbClr val="B3E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49" name="Google Shape;549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317" y="4143018"/>
            <a:ext cx="212646" cy="170021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29"/>
          <p:cNvSpPr/>
          <p:nvPr/>
        </p:nvSpPr>
        <p:spPr>
          <a:xfrm>
            <a:off x="1393984" y="4066461"/>
            <a:ext cx="38811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Q ≈ (expected state change per timestep)² × safety_factor. The 15×15 Q matrix is diagonal — state dimensions assumed independently uncertain.</a:t>
            </a:r>
            <a:endParaRPr b="0" i="0" sz="1300" u="none" cap="none" strike="noStrike"/>
          </a:p>
        </p:txBody>
      </p:sp>
      <p:sp>
        <p:nvSpPr>
          <p:cNvPr id="551" name="Google Shape;551;p29"/>
          <p:cNvSpPr/>
          <p:nvPr/>
        </p:nvSpPr>
        <p:spPr>
          <a:xfrm>
            <a:off x="5915382" y="2365296"/>
            <a:ext cx="7928700" cy="4693800"/>
          </a:xfrm>
          <a:prstGeom prst="roundRect">
            <a:avLst>
              <a:gd fmla="val 1522" name="adj"/>
            </a:avLst>
          </a:prstGeom>
          <a:noFill/>
          <a:ln cap="flat" cmpd="sng" w="9525">
            <a:solidFill>
              <a:srgbClr val="000000">
                <a:alpha val="784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29"/>
          <p:cNvSpPr/>
          <p:nvPr/>
        </p:nvSpPr>
        <p:spPr>
          <a:xfrm>
            <a:off x="5923002" y="2372916"/>
            <a:ext cx="7913400" cy="406200"/>
          </a:xfrm>
          <a:prstGeom prst="rect">
            <a:avLst/>
          </a:prstGeom>
          <a:solidFill>
            <a:srgbClr val="FFFFFF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29"/>
          <p:cNvSpPr/>
          <p:nvPr/>
        </p:nvSpPr>
        <p:spPr>
          <a:xfrm>
            <a:off x="6093262" y="2456974"/>
            <a:ext cx="8019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State</a:t>
            </a:r>
            <a:endParaRPr b="0" i="0" sz="1300" u="none" cap="none" strike="noStrike"/>
          </a:p>
        </p:txBody>
      </p:sp>
      <p:sp>
        <p:nvSpPr>
          <p:cNvPr id="554" name="Google Shape;554;p29"/>
          <p:cNvSpPr/>
          <p:nvPr/>
        </p:nvSpPr>
        <p:spPr>
          <a:xfrm>
            <a:off x="7242929" y="2456974"/>
            <a:ext cx="6486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Q Value</a:t>
            </a:r>
            <a:endParaRPr b="0" i="0" sz="1300" u="none" cap="none" strike="noStrike"/>
          </a:p>
        </p:txBody>
      </p:sp>
      <p:sp>
        <p:nvSpPr>
          <p:cNvPr id="555" name="Google Shape;555;p29"/>
          <p:cNvSpPr/>
          <p:nvPr/>
        </p:nvSpPr>
        <p:spPr>
          <a:xfrm>
            <a:off x="8239125" y="2456974"/>
            <a:ext cx="32355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Justification</a:t>
            </a:r>
            <a:endParaRPr b="0" i="0" sz="1300" u="none" cap="none" strike="noStrike"/>
          </a:p>
        </p:txBody>
      </p:sp>
      <p:sp>
        <p:nvSpPr>
          <p:cNvPr id="556" name="Google Shape;556;p29"/>
          <p:cNvSpPr/>
          <p:nvPr/>
        </p:nvSpPr>
        <p:spPr>
          <a:xfrm>
            <a:off x="11822311" y="2456974"/>
            <a:ext cx="18441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Derivation</a:t>
            </a:r>
            <a:endParaRPr b="0" i="0" sz="1300" u="none" cap="none" strike="noStrike"/>
          </a:p>
        </p:txBody>
      </p:sp>
      <p:sp>
        <p:nvSpPr>
          <p:cNvPr id="557" name="Google Shape;557;p29"/>
          <p:cNvSpPr/>
          <p:nvPr/>
        </p:nvSpPr>
        <p:spPr>
          <a:xfrm>
            <a:off x="5923002" y="2779157"/>
            <a:ext cx="7913400" cy="882600"/>
          </a:xfrm>
          <a:prstGeom prst="rect">
            <a:avLst/>
          </a:prstGeom>
          <a:solidFill>
            <a:srgbClr val="000000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29"/>
          <p:cNvSpPr/>
          <p:nvPr/>
        </p:nvSpPr>
        <p:spPr>
          <a:xfrm>
            <a:off x="6093262" y="2863215"/>
            <a:ext cx="8019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x position</a:t>
            </a:r>
            <a:endParaRPr b="0" i="0" sz="1300" u="none" cap="none" strike="noStrike"/>
          </a:p>
        </p:txBody>
      </p:sp>
      <p:sp>
        <p:nvSpPr>
          <p:cNvPr id="559" name="Google Shape;559;p29"/>
          <p:cNvSpPr/>
          <p:nvPr/>
        </p:nvSpPr>
        <p:spPr>
          <a:xfrm>
            <a:off x="7242929" y="2863215"/>
            <a:ext cx="6486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0.025</a:t>
            </a:r>
            <a:endParaRPr b="0" i="0" sz="1300" u="none" cap="none" strike="noStrike"/>
          </a:p>
        </p:txBody>
      </p:sp>
      <p:sp>
        <p:nvSpPr>
          <p:cNvPr id="560" name="Google Shape;560;p29"/>
          <p:cNvSpPr/>
          <p:nvPr/>
        </p:nvSpPr>
        <p:spPr>
          <a:xfrm>
            <a:off x="8239125" y="2863215"/>
            <a:ext cx="32355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Tightened from 0.05 — LiDAR reliable</a:t>
            </a:r>
            <a:endParaRPr b="0" i="0" sz="1300" u="none" cap="none" strike="noStrike"/>
          </a:p>
        </p:txBody>
      </p:sp>
      <p:sp>
        <p:nvSpPr>
          <p:cNvPr id="561" name="Google Shape;561;p29"/>
          <p:cNvSpPr/>
          <p:nvPr/>
        </p:nvSpPr>
        <p:spPr>
          <a:xfrm>
            <a:off x="11822311" y="2863215"/>
            <a:ext cx="18441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Δx at 50 Hz, 0.5 m/s ≈ 0.01 m → Q ≈ 0.01²×2.5 = 0.025</a:t>
            </a:r>
            <a:endParaRPr b="0" i="0" sz="1300" u="none" cap="none" strike="noStrike"/>
          </a:p>
        </p:txBody>
      </p:sp>
      <p:sp>
        <p:nvSpPr>
          <p:cNvPr id="562" name="Google Shape;562;p29"/>
          <p:cNvSpPr/>
          <p:nvPr/>
        </p:nvSpPr>
        <p:spPr>
          <a:xfrm>
            <a:off x="5923002" y="3661648"/>
            <a:ext cx="7913400" cy="406200"/>
          </a:xfrm>
          <a:prstGeom prst="rect">
            <a:avLst/>
          </a:prstGeom>
          <a:solidFill>
            <a:srgbClr val="FFFFFF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29"/>
          <p:cNvSpPr/>
          <p:nvPr/>
        </p:nvSpPr>
        <p:spPr>
          <a:xfrm>
            <a:off x="6093262" y="3745706"/>
            <a:ext cx="8019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y position</a:t>
            </a:r>
            <a:endParaRPr b="0" i="0" sz="1300" u="none" cap="none" strike="noStrike"/>
          </a:p>
        </p:txBody>
      </p:sp>
      <p:sp>
        <p:nvSpPr>
          <p:cNvPr id="564" name="Google Shape;564;p29"/>
          <p:cNvSpPr/>
          <p:nvPr/>
        </p:nvSpPr>
        <p:spPr>
          <a:xfrm>
            <a:off x="7242929" y="3745706"/>
            <a:ext cx="6486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0.025</a:t>
            </a:r>
            <a:endParaRPr b="0" i="0" sz="1300" u="none" cap="none" strike="noStrike"/>
          </a:p>
        </p:txBody>
      </p:sp>
      <p:sp>
        <p:nvSpPr>
          <p:cNvPr id="565" name="Google Shape;565;p29"/>
          <p:cNvSpPr/>
          <p:nvPr/>
        </p:nvSpPr>
        <p:spPr>
          <a:xfrm>
            <a:off x="8239125" y="3745706"/>
            <a:ext cx="32355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Same as x (symmetric ground robot)</a:t>
            </a:r>
            <a:endParaRPr b="0" i="0" sz="1300" u="none" cap="none" strike="noStrike"/>
          </a:p>
        </p:txBody>
      </p:sp>
      <p:sp>
        <p:nvSpPr>
          <p:cNvPr id="566" name="Google Shape;566;p29"/>
          <p:cNvSpPr/>
          <p:nvPr/>
        </p:nvSpPr>
        <p:spPr>
          <a:xfrm>
            <a:off x="11822311" y="3745706"/>
            <a:ext cx="18441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Symmetric treatment</a:t>
            </a:r>
            <a:endParaRPr b="0" i="0" sz="1300" u="none" cap="none" strike="noStrike"/>
          </a:p>
        </p:txBody>
      </p:sp>
      <p:sp>
        <p:nvSpPr>
          <p:cNvPr id="567" name="Google Shape;567;p29"/>
          <p:cNvSpPr/>
          <p:nvPr/>
        </p:nvSpPr>
        <p:spPr>
          <a:xfrm>
            <a:off x="5923002" y="4067889"/>
            <a:ext cx="7913400" cy="406200"/>
          </a:xfrm>
          <a:prstGeom prst="rect">
            <a:avLst/>
          </a:prstGeom>
          <a:solidFill>
            <a:srgbClr val="000000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29"/>
          <p:cNvSpPr/>
          <p:nvPr/>
        </p:nvSpPr>
        <p:spPr>
          <a:xfrm>
            <a:off x="6093262" y="4151947"/>
            <a:ext cx="8019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z position</a:t>
            </a:r>
            <a:endParaRPr b="0" i="0" sz="1300" u="none" cap="none" strike="noStrike"/>
          </a:p>
        </p:txBody>
      </p:sp>
      <p:sp>
        <p:nvSpPr>
          <p:cNvPr id="569" name="Google Shape;569;p29"/>
          <p:cNvSpPr/>
          <p:nvPr/>
        </p:nvSpPr>
        <p:spPr>
          <a:xfrm>
            <a:off x="7242929" y="4151947"/>
            <a:ext cx="6486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0.06</a:t>
            </a:r>
            <a:endParaRPr b="0" i="0" sz="1300" u="none" cap="none" strike="noStrike"/>
          </a:p>
        </p:txBody>
      </p:sp>
      <p:sp>
        <p:nvSpPr>
          <p:cNvPr id="570" name="Google Shape;570;p29"/>
          <p:cNvSpPr/>
          <p:nvPr/>
        </p:nvSpPr>
        <p:spPr>
          <a:xfrm>
            <a:off x="8239125" y="4151947"/>
            <a:ext cx="32355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Looser — ground robot, z not critical</a:t>
            </a:r>
            <a:endParaRPr b="0" i="0" sz="1300" u="none" cap="none" strike="noStrike"/>
          </a:p>
        </p:txBody>
      </p:sp>
      <p:sp>
        <p:nvSpPr>
          <p:cNvPr id="571" name="Google Shape;571;p29"/>
          <p:cNvSpPr/>
          <p:nvPr/>
        </p:nvSpPr>
        <p:spPr>
          <a:xfrm>
            <a:off x="11822311" y="4151947"/>
            <a:ext cx="18441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Not safety-critical</a:t>
            </a:r>
            <a:endParaRPr b="0" i="0" sz="1300" u="none" cap="none" strike="noStrike"/>
          </a:p>
        </p:txBody>
      </p:sp>
      <p:sp>
        <p:nvSpPr>
          <p:cNvPr id="572" name="Google Shape;572;p29"/>
          <p:cNvSpPr/>
          <p:nvPr/>
        </p:nvSpPr>
        <p:spPr>
          <a:xfrm>
            <a:off x="5923002" y="4474131"/>
            <a:ext cx="7913400" cy="644400"/>
          </a:xfrm>
          <a:prstGeom prst="rect">
            <a:avLst/>
          </a:prstGeom>
          <a:solidFill>
            <a:srgbClr val="FFFFFF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29"/>
          <p:cNvSpPr/>
          <p:nvPr/>
        </p:nvSpPr>
        <p:spPr>
          <a:xfrm>
            <a:off x="6093262" y="4558189"/>
            <a:ext cx="8019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yaw</a:t>
            </a:r>
            <a:endParaRPr b="0" i="0" sz="1300" u="none" cap="none" strike="noStrike"/>
          </a:p>
        </p:txBody>
      </p:sp>
      <p:sp>
        <p:nvSpPr>
          <p:cNvPr id="574" name="Google Shape;574;p29"/>
          <p:cNvSpPr/>
          <p:nvPr/>
        </p:nvSpPr>
        <p:spPr>
          <a:xfrm>
            <a:off x="7242929" y="4558189"/>
            <a:ext cx="6486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0.0</a:t>
            </a:r>
            <a:r>
              <a:rPr lang="en-US" sz="13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8</a:t>
            </a:r>
            <a:endParaRPr b="0" i="0" sz="1300" u="none" cap="none" strike="noStrike"/>
          </a:p>
        </p:txBody>
      </p:sp>
      <p:sp>
        <p:nvSpPr>
          <p:cNvPr id="575" name="Google Shape;575;p29"/>
          <p:cNvSpPr/>
          <p:nvPr/>
        </p:nvSpPr>
        <p:spPr>
          <a:xfrm>
            <a:off x="8239125" y="4558189"/>
            <a:ext cx="3235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Gyro Z is noisiest IMU channel (var=0.0416)</a:t>
            </a:r>
            <a:endParaRPr b="0" i="0" sz="1300" u="none" cap="none" strike="noStrike"/>
          </a:p>
        </p:txBody>
      </p:sp>
      <p:sp>
        <p:nvSpPr>
          <p:cNvPr id="576" name="Google Shape;576;p29"/>
          <p:cNvSpPr/>
          <p:nvPr/>
        </p:nvSpPr>
        <p:spPr>
          <a:xfrm>
            <a:off x="11822311" y="4558189"/>
            <a:ext cx="18441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Δθ per step ≈ 0.029 rad → Q_yaw ≈ 0.06</a:t>
            </a:r>
            <a:endParaRPr b="0" i="0" sz="1300" u="none" cap="none" strike="noStrike"/>
          </a:p>
        </p:txBody>
      </p:sp>
      <p:sp>
        <p:nvSpPr>
          <p:cNvPr id="577" name="Google Shape;577;p29"/>
          <p:cNvSpPr/>
          <p:nvPr/>
        </p:nvSpPr>
        <p:spPr>
          <a:xfrm>
            <a:off x="5923002" y="5118497"/>
            <a:ext cx="7913400" cy="644400"/>
          </a:xfrm>
          <a:prstGeom prst="rect">
            <a:avLst/>
          </a:prstGeom>
          <a:solidFill>
            <a:srgbClr val="000000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29"/>
          <p:cNvSpPr/>
          <p:nvPr/>
        </p:nvSpPr>
        <p:spPr>
          <a:xfrm>
            <a:off x="6093262" y="5202555"/>
            <a:ext cx="8019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vx</a:t>
            </a:r>
            <a:endParaRPr b="0" i="0" sz="1300" u="none" cap="none" strike="noStrike"/>
          </a:p>
        </p:txBody>
      </p:sp>
      <p:sp>
        <p:nvSpPr>
          <p:cNvPr id="579" name="Google Shape;579;p29"/>
          <p:cNvSpPr/>
          <p:nvPr/>
        </p:nvSpPr>
        <p:spPr>
          <a:xfrm>
            <a:off x="7242929" y="5202555"/>
            <a:ext cx="6486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0.04</a:t>
            </a:r>
            <a:endParaRPr b="0" i="0" sz="1300" u="none" cap="none" strike="noStrike"/>
          </a:p>
        </p:txBody>
      </p:sp>
      <p:sp>
        <p:nvSpPr>
          <p:cNvPr id="580" name="Google Shape;580;p29"/>
          <p:cNvSpPr/>
          <p:nvPr/>
        </p:nvSpPr>
        <p:spPr>
          <a:xfrm>
            <a:off x="8239125" y="5202555"/>
            <a:ext cx="3235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Raised from 0.025 — wheel slip on varied terrain</a:t>
            </a:r>
            <a:endParaRPr b="0" i="0" sz="1300" u="none" cap="none" strike="noStrike"/>
          </a:p>
        </p:txBody>
      </p:sp>
      <p:sp>
        <p:nvSpPr>
          <p:cNvPr id="581" name="Google Shape;581;p29"/>
          <p:cNvSpPr/>
          <p:nvPr/>
        </p:nvSpPr>
        <p:spPr>
          <a:xfrm>
            <a:off x="11822311" y="5202555"/>
            <a:ext cx="18441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Accounts for slip uncertainty</a:t>
            </a:r>
            <a:endParaRPr b="0" i="0" sz="1300" u="none" cap="none" strike="noStrike"/>
          </a:p>
        </p:txBody>
      </p:sp>
      <p:sp>
        <p:nvSpPr>
          <p:cNvPr id="582" name="Google Shape;582;p29"/>
          <p:cNvSpPr/>
          <p:nvPr/>
        </p:nvSpPr>
        <p:spPr>
          <a:xfrm>
            <a:off x="5923002" y="5762863"/>
            <a:ext cx="7913400" cy="644400"/>
          </a:xfrm>
          <a:prstGeom prst="rect">
            <a:avLst/>
          </a:prstGeom>
          <a:solidFill>
            <a:srgbClr val="FFFFFF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29"/>
          <p:cNvSpPr/>
          <p:nvPr/>
        </p:nvSpPr>
        <p:spPr>
          <a:xfrm>
            <a:off x="6093262" y="5846921"/>
            <a:ext cx="8019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vyaw</a:t>
            </a:r>
            <a:endParaRPr b="0" i="0" sz="1300" u="none" cap="none" strike="noStrike"/>
          </a:p>
        </p:txBody>
      </p:sp>
      <p:sp>
        <p:nvSpPr>
          <p:cNvPr id="584" name="Google Shape;584;p29"/>
          <p:cNvSpPr/>
          <p:nvPr/>
        </p:nvSpPr>
        <p:spPr>
          <a:xfrm>
            <a:off x="7242929" y="5846921"/>
            <a:ext cx="6486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0.04</a:t>
            </a:r>
            <a:endParaRPr b="0" i="0" sz="1300" u="none" cap="none" strike="noStrike"/>
          </a:p>
        </p:txBody>
      </p:sp>
      <p:sp>
        <p:nvSpPr>
          <p:cNvPr id="585" name="Google Shape;585;p29"/>
          <p:cNvSpPr/>
          <p:nvPr/>
        </p:nvSpPr>
        <p:spPr>
          <a:xfrm>
            <a:off x="8239125" y="5846921"/>
            <a:ext cx="32355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Wheel + IMU both contribute</a:t>
            </a:r>
            <a:endParaRPr b="0" i="0" sz="1300" u="none" cap="none" strike="noStrike"/>
          </a:p>
        </p:txBody>
      </p:sp>
      <p:sp>
        <p:nvSpPr>
          <p:cNvPr id="586" name="Google Shape;586;p29"/>
          <p:cNvSpPr/>
          <p:nvPr/>
        </p:nvSpPr>
        <p:spPr>
          <a:xfrm>
            <a:off x="11822311" y="5846921"/>
            <a:ext cx="18441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Moderate uncertainty between updates</a:t>
            </a:r>
            <a:endParaRPr b="0" i="0" sz="1300" u="none" cap="none" strike="noStrike"/>
          </a:p>
        </p:txBody>
      </p:sp>
      <p:sp>
        <p:nvSpPr>
          <p:cNvPr id="587" name="Google Shape;587;p29"/>
          <p:cNvSpPr/>
          <p:nvPr/>
        </p:nvSpPr>
        <p:spPr>
          <a:xfrm>
            <a:off x="5923002" y="6407229"/>
            <a:ext cx="7913400" cy="644400"/>
          </a:xfrm>
          <a:prstGeom prst="rect">
            <a:avLst/>
          </a:prstGeom>
          <a:solidFill>
            <a:srgbClr val="000000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29"/>
          <p:cNvSpPr/>
          <p:nvPr/>
        </p:nvSpPr>
        <p:spPr>
          <a:xfrm>
            <a:off x="6093262" y="6491288"/>
            <a:ext cx="8019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ax, ay</a:t>
            </a:r>
            <a:endParaRPr b="0" i="0" sz="1300" u="none" cap="none" strike="noStrike"/>
          </a:p>
        </p:txBody>
      </p:sp>
      <p:sp>
        <p:nvSpPr>
          <p:cNvPr id="589" name="Google Shape;589;p29"/>
          <p:cNvSpPr/>
          <p:nvPr/>
        </p:nvSpPr>
        <p:spPr>
          <a:xfrm>
            <a:off x="7242929" y="6491288"/>
            <a:ext cx="6486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0.01</a:t>
            </a:r>
            <a:endParaRPr b="0" i="0" sz="1300" u="none" cap="none" strike="noStrike"/>
          </a:p>
        </p:txBody>
      </p:sp>
      <p:sp>
        <p:nvSpPr>
          <p:cNvPr id="590" name="Google Shape;590;p29"/>
          <p:cNvSpPr/>
          <p:nvPr/>
        </p:nvSpPr>
        <p:spPr>
          <a:xfrm>
            <a:off x="8239125" y="6491288"/>
            <a:ext cx="3235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Accelerations change slowly on ground robot</a:t>
            </a:r>
            <a:endParaRPr b="0" i="0" sz="1300" u="none" cap="none" strike="noStrike"/>
          </a:p>
        </p:txBody>
      </p:sp>
      <p:sp>
        <p:nvSpPr>
          <p:cNvPr id="591" name="Google Shape;591;p29"/>
          <p:cNvSpPr/>
          <p:nvPr/>
        </p:nvSpPr>
        <p:spPr>
          <a:xfrm>
            <a:off x="11822311" y="6491288"/>
            <a:ext cx="18441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Small step-to-step change expected</a:t>
            </a:r>
            <a:endParaRPr b="0" i="0" sz="1300" u="none" cap="none" strike="noStrike"/>
          </a:p>
        </p:txBody>
      </p:sp>
      <p:sp>
        <p:nvSpPr>
          <p:cNvPr id="592" name="Google Shape;592;p29"/>
          <p:cNvSpPr/>
          <p:nvPr/>
        </p:nvSpPr>
        <p:spPr>
          <a:xfrm>
            <a:off x="12845075" y="7780725"/>
            <a:ext cx="1680600" cy="356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17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30"/>
          <p:cNvSpPr/>
          <p:nvPr/>
        </p:nvSpPr>
        <p:spPr>
          <a:xfrm>
            <a:off x="793790" y="1143595"/>
            <a:ext cx="12267300" cy="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50"/>
              <a:buFont typeface="Petrona"/>
              <a:buNone/>
            </a:pPr>
            <a:r>
              <a:rPr b="1" i="0" lang="en-US" sz="395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Initial Estimate Covariance P₀ — Startup Uncertainty</a:t>
            </a:r>
            <a:endParaRPr b="0" i="0" sz="3950" u="none" cap="none" strike="noStrike"/>
          </a:p>
        </p:txBody>
      </p:sp>
      <p:sp>
        <p:nvSpPr>
          <p:cNvPr id="599" name="Google Shape;599;p30"/>
          <p:cNvSpPr/>
          <p:nvPr/>
        </p:nvSpPr>
        <p:spPr>
          <a:xfrm>
            <a:off x="793790" y="2103834"/>
            <a:ext cx="13042800" cy="2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P₀ encodes how certain we are about the robot's state at t = 0. The two EKFs require fundamentally different initialisations.</a:t>
            </a:r>
            <a:endParaRPr b="0" i="0" sz="1500" u="none" cap="none" strike="noStrike"/>
          </a:p>
        </p:txBody>
      </p:sp>
      <p:sp>
        <p:nvSpPr>
          <p:cNvPr id="600" name="Google Shape;600;p30"/>
          <p:cNvSpPr/>
          <p:nvPr/>
        </p:nvSpPr>
        <p:spPr>
          <a:xfrm>
            <a:off x="654963" y="2573417"/>
            <a:ext cx="6564000" cy="4512600"/>
          </a:xfrm>
          <a:prstGeom prst="roundRect">
            <a:avLst>
              <a:gd fmla="val 3076" name="adj"/>
            </a:avLst>
          </a:prstGeom>
          <a:solidFill>
            <a:srgbClr val="007EBD">
              <a:alpha val="9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30"/>
          <p:cNvSpPr/>
          <p:nvPr/>
        </p:nvSpPr>
        <p:spPr>
          <a:xfrm>
            <a:off x="847725" y="2737247"/>
            <a:ext cx="3354900" cy="3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Petrona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EKF #1 — Local (odom frame)</a:t>
            </a:r>
            <a:endParaRPr b="0" i="0" sz="1950" u="none" cap="none" strike="noStrike"/>
          </a:p>
        </p:txBody>
      </p:sp>
      <p:sp>
        <p:nvSpPr>
          <p:cNvPr id="602" name="Google Shape;602;p30"/>
          <p:cNvSpPr/>
          <p:nvPr/>
        </p:nvSpPr>
        <p:spPr>
          <a:xfrm>
            <a:off x="847725" y="3237786"/>
            <a:ext cx="6178500" cy="956100"/>
          </a:xfrm>
          <a:prstGeom prst="roundRect">
            <a:avLst>
              <a:gd fmla="val 8470" name="adj"/>
            </a:avLst>
          </a:prstGeom>
          <a:solidFill>
            <a:srgbClr val="0D8B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30"/>
          <p:cNvSpPr/>
          <p:nvPr/>
        </p:nvSpPr>
        <p:spPr>
          <a:xfrm>
            <a:off x="838200" y="3237786"/>
            <a:ext cx="6197400" cy="956100"/>
          </a:xfrm>
          <a:prstGeom prst="roundRect">
            <a:avLst>
              <a:gd fmla="val 3025" name="adj"/>
            </a:avLst>
          </a:prstGeom>
          <a:solidFill>
            <a:srgbClr val="0D8B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30"/>
          <p:cNvSpPr/>
          <p:nvPr/>
        </p:nvSpPr>
        <p:spPr>
          <a:xfrm>
            <a:off x="1079183" y="3430548"/>
            <a:ext cx="5715600" cy="5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initial_estimate_covariance:</a:t>
            </a:r>
            <a:endParaRPr b="0" i="0" sz="1500" u="none" cap="none" strike="noStrike"/>
          </a:p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diagonal value = 1e-9</a:t>
            </a:r>
            <a:endParaRPr b="0" i="0" sz="1500" u="none" cap="none" strike="noStrike"/>
          </a:p>
        </p:txBody>
      </p:sp>
      <p:sp>
        <p:nvSpPr>
          <p:cNvPr id="605" name="Google Shape;605;p30"/>
          <p:cNvSpPr/>
          <p:nvPr/>
        </p:nvSpPr>
        <p:spPr>
          <a:xfrm>
            <a:off x="847725" y="4378166"/>
            <a:ext cx="6178500" cy="15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Inter"/>
              <a:buChar char="•"/>
            </a:pPr>
            <a:r>
              <a:rPr b="0" i="0" lang="en-US" sz="15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Robot starts at known origin (0, 0, 0)</a:t>
            </a:r>
            <a:endParaRPr b="0" i="0" sz="1500" u="none" cap="none" strike="noStrike"/>
          </a:p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odom frame is </a:t>
            </a:r>
            <a:r>
              <a:rPr b="1" i="0" lang="en-US" sz="15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defined relative to start</a:t>
            </a:r>
            <a:r>
              <a:rPr b="0" i="0" lang="en-US" sz="15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— initial pose is exact by definition</a:t>
            </a:r>
            <a:endParaRPr b="0" i="0" sz="1500" u="none" cap="none" strike="noStrike"/>
          </a:p>
          <a:p>
            <a:pPr indent="-342900" lvl="0" marL="34290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Inter"/>
              <a:buChar char="•"/>
            </a:pPr>
            <a:r>
              <a:rPr b="0" i="0" lang="en-US" sz="15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Near-zero uncertainty → EKF trusts its initial state fully</a:t>
            </a:r>
            <a:endParaRPr b="0" i="0" sz="1500" u="none" cap="none" strike="noStrike"/>
          </a:p>
          <a:p>
            <a:pPr indent="-342900" lvl="0" marL="34290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Inter"/>
              <a:buChar char="•"/>
            </a:pPr>
            <a:r>
              <a:rPr b="0" i="0" lang="en-US" sz="15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Avoids unnecessary filter relaxation at startup</a:t>
            </a:r>
            <a:endParaRPr b="0" i="0" sz="1500" u="none" cap="none" strike="noStrike"/>
          </a:p>
        </p:txBody>
      </p:sp>
      <p:sp>
        <p:nvSpPr>
          <p:cNvPr id="606" name="Google Shape;606;p30"/>
          <p:cNvSpPr/>
          <p:nvPr/>
        </p:nvSpPr>
        <p:spPr>
          <a:xfrm>
            <a:off x="7557968" y="2737247"/>
            <a:ext cx="3366300" cy="3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Petrona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EKF #2 — Global (map frame)</a:t>
            </a:r>
            <a:endParaRPr b="0" i="0" sz="1950" u="none" cap="none" strike="noStrike"/>
          </a:p>
        </p:txBody>
      </p:sp>
      <p:sp>
        <p:nvSpPr>
          <p:cNvPr id="607" name="Google Shape;607;p30"/>
          <p:cNvSpPr/>
          <p:nvPr/>
        </p:nvSpPr>
        <p:spPr>
          <a:xfrm>
            <a:off x="7557968" y="3237786"/>
            <a:ext cx="6286200" cy="956100"/>
          </a:xfrm>
          <a:prstGeom prst="roundRect">
            <a:avLst>
              <a:gd fmla="val 8470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30"/>
          <p:cNvSpPr/>
          <p:nvPr/>
        </p:nvSpPr>
        <p:spPr>
          <a:xfrm>
            <a:off x="7548443" y="3237786"/>
            <a:ext cx="6305400" cy="956100"/>
          </a:xfrm>
          <a:prstGeom prst="roundRect">
            <a:avLst>
              <a:gd fmla="val 3025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30"/>
          <p:cNvSpPr/>
          <p:nvPr/>
        </p:nvSpPr>
        <p:spPr>
          <a:xfrm>
            <a:off x="7789426" y="3430548"/>
            <a:ext cx="5823300" cy="5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27252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initial_estimate_covariance:</a:t>
            </a:r>
            <a:endParaRPr b="0" i="0" sz="1500" u="none" cap="none" strike="noStrike"/>
          </a:p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27252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x, y, vx, vy = </a:t>
            </a:r>
            <a:r>
              <a:rPr lang="en-US" sz="1500">
                <a:solidFill>
                  <a:srgbClr val="27252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1e-9</a:t>
            </a:r>
            <a:r>
              <a:rPr b="0" i="0" lang="en-US" sz="1500" u="none" cap="none" strike="noStrike">
                <a:solidFill>
                  <a:srgbClr val="27252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m² / (m/s)²</a:t>
            </a:r>
            <a:endParaRPr b="0" i="0" sz="1500" u="none" cap="none" strike="noStrike"/>
          </a:p>
        </p:txBody>
      </p:sp>
      <p:sp>
        <p:nvSpPr>
          <p:cNvPr id="610" name="Google Shape;610;p30"/>
          <p:cNvSpPr/>
          <p:nvPr/>
        </p:nvSpPr>
        <p:spPr>
          <a:xfrm>
            <a:off x="7557968" y="4378166"/>
            <a:ext cx="6286200" cy="13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00"/>
              <a:buFont typeface="Inter"/>
              <a:buChar char="•"/>
            </a:pPr>
            <a:r>
              <a:rPr b="0" i="0" lang="en-US" sz="15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map frame = real-world absolute frame</a:t>
            </a:r>
            <a:endParaRPr b="0" i="0" sz="1500" u="none" cap="none" strike="noStrike"/>
          </a:p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Before the first GPS fix, </a:t>
            </a:r>
            <a:r>
              <a:rPr b="1" i="0" lang="en-US" sz="15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global position is completely unknown</a:t>
            </a:r>
            <a:endParaRPr b="0" i="0" sz="1500" u="none" cap="none" strike="noStrike"/>
          </a:p>
          <a:p>
            <a:pPr indent="-342900" lvl="0" marL="34290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00"/>
              <a:buFont typeface="Inter"/>
              <a:buChar char="•"/>
            </a:pPr>
            <a:r>
              <a:rPr b="0" i="0" lang="en-US" sz="15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Large P₀ forces EKF to trust the first GPS measurement heavily</a:t>
            </a:r>
            <a:endParaRPr b="0" i="0" sz="1500" u="none" cap="none" strike="noStrike"/>
          </a:p>
          <a:p>
            <a:pPr indent="-342900" lvl="0" marL="34290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00"/>
              <a:buFont typeface="Inter"/>
              <a:buChar char="•"/>
            </a:pPr>
            <a:r>
              <a:rPr b="0" i="0" lang="en-US" sz="15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Enables fast initial convergence to GPS position</a:t>
            </a:r>
            <a:endParaRPr b="0" i="0" sz="1500" u="none" cap="none" strike="noStrike"/>
          </a:p>
        </p:txBody>
      </p:sp>
      <p:sp>
        <p:nvSpPr>
          <p:cNvPr id="611" name="Google Shape;611;p30"/>
          <p:cNvSpPr/>
          <p:nvPr/>
        </p:nvSpPr>
        <p:spPr>
          <a:xfrm>
            <a:off x="7557968" y="5875377"/>
            <a:ext cx="6286200" cy="1026300"/>
          </a:xfrm>
          <a:prstGeom prst="roundRect">
            <a:avLst>
              <a:gd fmla="val 7891" name="adj"/>
            </a:avLst>
          </a:prstGeom>
          <a:solidFill>
            <a:srgbClr val="B6D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12" name="Google Shape;612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50731" y="6160889"/>
            <a:ext cx="240983" cy="192762"/>
          </a:xfrm>
          <a:prstGeom prst="rect">
            <a:avLst/>
          </a:prstGeom>
          <a:noFill/>
          <a:ln>
            <a:noFill/>
          </a:ln>
        </p:spPr>
      </p:pic>
      <p:sp>
        <p:nvSpPr>
          <p:cNvPr id="613" name="Google Shape;613;p30"/>
          <p:cNvSpPr/>
          <p:nvPr/>
        </p:nvSpPr>
        <p:spPr>
          <a:xfrm>
            <a:off x="8184475" y="6087308"/>
            <a:ext cx="5466900" cy="5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Asymmetric P₀ is intentional: local certainty vs. global ignorance.</a:t>
            </a:r>
            <a:endParaRPr b="0" i="0" sz="1500" u="none" cap="none" strike="noStrike"/>
          </a:p>
        </p:txBody>
      </p:sp>
      <p:sp>
        <p:nvSpPr>
          <p:cNvPr id="614" name="Google Shape;614;p30"/>
          <p:cNvSpPr/>
          <p:nvPr/>
        </p:nvSpPr>
        <p:spPr>
          <a:xfrm>
            <a:off x="12845075" y="7780725"/>
            <a:ext cx="1680600" cy="356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18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31"/>
          <p:cNvSpPr/>
          <p:nvPr/>
        </p:nvSpPr>
        <p:spPr>
          <a:xfrm>
            <a:off x="793790" y="1122998"/>
            <a:ext cx="9884700" cy="5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2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etrona"/>
              <a:buNone/>
            </a:pPr>
            <a:r>
              <a:rPr b="1" i="0" lang="en-US" sz="350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Mahalanobis Distance Gates — Outlier Rejection</a:t>
            </a:r>
            <a:endParaRPr b="0" i="0" sz="3500" u="none" cap="none" strike="noStrike"/>
          </a:p>
        </p:txBody>
      </p:sp>
      <p:sp>
        <p:nvSpPr>
          <p:cNvPr id="621" name="Google Shape;621;p31"/>
          <p:cNvSpPr/>
          <p:nvPr/>
        </p:nvSpPr>
        <p:spPr>
          <a:xfrm>
            <a:off x="793790" y="1936313"/>
            <a:ext cx="130428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Adaptive threshold based on current filter uncertainty P — the gate opens when the filter is uncertain and tightens as it converges.</a:t>
            </a:r>
            <a:endParaRPr b="0" i="0" sz="1300" u="none" cap="none" strike="noStrike"/>
          </a:p>
        </p:txBody>
      </p:sp>
      <p:sp>
        <p:nvSpPr>
          <p:cNvPr id="622" name="Google Shape;622;p31"/>
          <p:cNvSpPr/>
          <p:nvPr/>
        </p:nvSpPr>
        <p:spPr>
          <a:xfrm>
            <a:off x="793790" y="2445425"/>
            <a:ext cx="2559000" cy="2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Petrona"/>
              <a:buNone/>
            </a:pPr>
            <a:r>
              <a:rPr b="1" i="0" lang="en-US" sz="175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Innovation Gate Formula</a:t>
            </a:r>
            <a:endParaRPr b="0" i="0" sz="1750" u="none" cap="none" strike="noStrike"/>
          </a:p>
        </p:txBody>
      </p:sp>
      <p:sp>
        <p:nvSpPr>
          <p:cNvPr id="623" name="Google Shape;623;p31"/>
          <p:cNvSpPr/>
          <p:nvPr/>
        </p:nvSpPr>
        <p:spPr>
          <a:xfrm>
            <a:off x="793790" y="2885837"/>
            <a:ext cx="5640900" cy="2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None/>
            </a:pPr>
            <a:r>
              <a:t/>
            </a:r>
            <a:endParaRPr b="0" i="0" sz="1500" u="none" cap="none" strike="noStrike"/>
          </a:p>
        </p:txBody>
      </p:sp>
      <p:pic>
        <p:nvPicPr>
          <p:cNvPr descr="preencoded.png" id="624" name="Google Shape;624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2885837"/>
            <a:ext cx="5640944" cy="295632"/>
          </a:xfrm>
          <a:prstGeom prst="rect">
            <a:avLst/>
          </a:prstGeom>
          <a:noFill/>
          <a:ln>
            <a:noFill/>
          </a:ln>
        </p:spPr>
      </p:pic>
      <p:sp>
        <p:nvSpPr>
          <p:cNvPr id="625" name="Google Shape;625;p31"/>
          <p:cNvSpPr/>
          <p:nvPr/>
        </p:nvSpPr>
        <p:spPr>
          <a:xfrm>
            <a:off x="793790" y="3342918"/>
            <a:ext cx="5640900" cy="2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where </a:t>
            </a:r>
            <a:r>
              <a:rPr b="0" i="1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 = H_t P_t^- H_t^\top + R</a:t>
            </a: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(innovation covariance)</a:t>
            </a:r>
            <a:endParaRPr b="0" i="0" sz="1300" u="none" cap="none" strike="noStrike"/>
          </a:p>
        </p:txBody>
      </p:sp>
      <p:sp>
        <p:nvSpPr>
          <p:cNvPr id="626" name="Google Shape;626;p31"/>
          <p:cNvSpPr/>
          <p:nvPr/>
        </p:nvSpPr>
        <p:spPr>
          <a:xfrm>
            <a:off x="793790" y="4053816"/>
            <a:ext cx="2756700" cy="1547400"/>
          </a:xfrm>
          <a:prstGeom prst="roundRect">
            <a:avLst>
              <a:gd fmla="val 7091" name="adj"/>
            </a:avLst>
          </a:prstGeom>
          <a:solidFill>
            <a:srgbClr val="FFFFFF">
              <a:alpha val="94900"/>
            </a:srgbClr>
          </a:solidFill>
          <a:ln cap="flat" cmpd="sng" w="22850">
            <a:solidFill>
              <a:srgbClr val="B2D4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31"/>
          <p:cNvSpPr/>
          <p:nvPr/>
        </p:nvSpPr>
        <p:spPr>
          <a:xfrm>
            <a:off x="770930" y="4053816"/>
            <a:ext cx="91500" cy="1547400"/>
          </a:xfrm>
          <a:prstGeom prst="roundRect">
            <a:avLst>
              <a:gd fmla="val 78140" name="adj"/>
            </a:avLst>
          </a:prstGeom>
          <a:solidFill>
            <a:srgbClr val="007EB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31"/>
          <p:cNvSpPr/>
          <p:nvPr/>
        </p:nvSpPr>
        <p:spPr>
          <a:xfrm>
            <a:off x="1055251" y="4246697"/>
            <a:ext cx="2232900" cy="2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Petrona"/>
              <a:buNone/>
            </a:pPr>
            <a:r>
              <a:rPr b="1" i="0" lang="en-US" sz="175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P large → gate OPENS</a:t>
            </a:r>
            <a:endParaRPr b="0" i="0" sz="1750" u="none" cap="none" strike="noStrike"/>
          </a:p>
        </p:txBody>
      </p:sp>
      <p:sp>
        <p:nvSpPr>
          <p:cNvPr id="629" name="Google Shape;629;p31"/>
          <p:cNvSpPr/>
          <p:nvPr/>
        </p:nvSpPr>
        <p:spPr>
          <a:xfrm>
            <a:off x="1055251" y="4653176"/>
            <a:ext cx="23022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Filter uncertain; more measurements pass through.</a:t>
            </a:r>
            <a:endParaRPr b="0" i="0" sz="1300" u="none" cap="none" strike="noStrike"/>
          </a:p>
        </p:txBody>
      </p:sp>
      <p:sp>
        <p:nvSpPr>
          <p:cNvPr id="630" name="Google Shape;630;p31"/>
          <p:cNvSpPr/>
          <p:nvPr/>
        </p:nvSpPr>
        <p:spPr>
          <a:xfrm>
            <a:off x="3677960" y="4053816"/>
            <a:ext cx="2756700" cy="1547400"/>
          </a:xfrm>
          <a:prstGeom prst="roundRect">
            <a:avLst>
              <a:gd fmla="val 7091" name="adj"/>
            </a:avLst>
          </a:prstGeom>
          <a:solidFill>
            <a:srgbClr val="FFFFFF">
              <a:alpha val="94900"/>
            </a:srgbClr>
          </a:solidFill>
          <a:ln cap="flat" cmpd="sng" w="22850">
            <a:solidFill>
              <a:srgbClr val="B2D4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31"/>
          <p:cNvSpPr/>
          <p:nvPr/>
        </p:nvSpPr>
        <p:spPr>
          <a:xfrm>
            <a:off x="3655100" y="4053816"/>
            <a:ext cx="91500" cy="1547400"/>
          </a:xfrm>
          <a:prstGeom prst="roundRect">
            <a:avLst>
              <a:gd fmla="val 78140" name="adj"/>
            </a:avLst>
          </a:prstGeom>
          <a:solidFill>
            <a:srgbClr val="007EB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31"/>
          <p:cNvSpPr/>
          <p:nvPr/>
        </p:nvSpPr>
        <p:spPr>
          <a:xfrm>
            <a:off x="3939421" y="4246697"/>
            <a:ext cx="2302500" cy="5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Petrona"/>
              <a:buNone/>
            </a:pPr>
            <a:r>
              <a:rPr b="1" i="0" lang="en-US" sz="175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P small → gate TIGHTENS</a:t>
            </a:r>
            <a:endParaRPr b="0" i="0" sz="1750" u="none" cap="none" strike="noStrike"/>
          </a:p>
        </p:txBody>
      </p:sp>
      <p:sp>
        <p:nvSpPr>
          <p:cNvPr id="633" name="Google Shape;633;p31"/>
          <p:cNvSpPr/>
          <p:nvPr/>
        </p:nvSpPr>
        <p:spPr>
          <a:xfrm>
            <a:off x="3939421" y="4932140"/>
            <a:ext cx="2302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Filter converged; only close measurements accepted.</a:t>
            </a:r>
            <a:endParaRPr b="0" i="0" sz="1300" u="none" cap="none" strike="noStrike"/>
          </a:p>
        </p:txBody>
      </p:sp>
      <p:sp>
        <p:nvSpPr>
          <p:cNvPr id="634" name="Google Shape;634;p31"/>
          <p:cNvSpPr/>
          <p:nvPr/>
        </p:nvSpPr>
        <p:spPr>
          <a:xfrm>
            <a:off x="793790" y="5744741"/>
            <a:ext cx="5640900" cy="1084200"/>
          </a:xfrm>
          <a:prstGeom prst="roundRect">
            <a:avLst>
              <a:gd fmla="val 6590" name="adj"/>
            </a:avLst>
          </a:prstGeom>
          <a:solidFill>
            <a:srgbClr val="B3E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35" name="Google Shape;635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3811" y="5991320"/>
            <a:ext cx="212646" cy="170021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31"/>
          <p:cNvSpPr/>
          <p:nvPr/>
        </p:nvSpPr>
        <p:spPr>
          <a:xfrm>
            <a:off x="1346478" y="5914763"/>
            <a:ext cx="49182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Measurements inside the 2σ uncertainty ellipse are accepted; those outside are rejected. Ellipse adapts dynamically with P.</a:t>
            </a:r>
            <a:endParaRPr b="0" i="0" sz="1300" u="none" cap="none" strike="noStrike"/>
          </a:p>
        </p:txBody>
      </p:sp>
      <p:sp>
        <p:nvSpPr>
          <p:cNvPr id="637" name="Google Shape;637;p31"/>
          <p:cNvSpPr/>
          <p:nvPr/>
        </p:nvSpPr>
        <p:spPr>
          <a:xfrm>
            <a:off x="6857405" y="2445425"/>
            <a:ext cx="3131400" cy="2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Petrona"/>
              <a:buNone/>
            </a:pPr>
            <a:r>
              <a:rPr b="1" i="0" lang="en-US" sz="175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Per-Sensor Gate Configuration</a:t>
            </a:r>
            <a:endParaRPr b="0" i="0" sz="1750" u="none" cap="none" strike="noStrike"/>
          </a:p>
        </p:txBody>
      </p:sp>
      <p:sp>
        <p:nvSpPr>
          <p:cNvPr id="638" name="Google Shape;638;p31"/>
          <p:cNvSpPr/>
          <p:nvPr/>
        </p:nvSpPr>
        <p:spPr>
          <a:xfrm>
            <a:off x="6857405" y="2867858"/>
            <a:ext cx="6986700" cy="4095300"/>
          </a:xfrm>
          <a:prstGeom prst="roundRect">
            <a:avLst>
              <a:gd fmla="val 1745" name="adj"/>
            </a:avLst>
          </a:prstGeom>
          <a:noFill/>
          <a:ln cap="flat" cmpd="sng" w="9525">
            <a:solidFill>
              <a:srgbClr val="000000">
                <a:alpha val="784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31"/>
          <p:cNvSpPr/>
          <p:nvPr/>
        </p:nvSpPr>
        <p:spPr>
          <a:xfrm>
            <a:off x="7035165" y="2959537"/>
            <a:ext cx="1398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Sensor</a:t>
            </a:r>
            <a:endParaRPr b="0" i="0" sz="1300" u="none" cap="none" strike="noStrike"/>
          </a:p>
        </p:txBody>
      </p:sp>
      <p:sp>
        <p:nvSpPr>
          <p:cNvPr id="640" name="Google Shape;640;p31"/>
          <p:cNvSpPr/>
          <p:nvPr/>
        </p:nvSpPr>
        <p:spPr>
          <a:xfrm>
            <a:off x="8735513" y="2959525"/>
            <a:ext cx="829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Threshold</a:t>
            </a:r>
            <a:endParaRPr b="0" i="0" sz="1300" u="none" cap="none" strike="noStrike"/>
          </a:p>
        </p:txBody>
      </p:sp>
      <p:sp>
        <p:nvSpPr>
          <p:cNvPr id="641" name="Google Shape;641;p31"/>
          <p:cNvSpPr/>
          <p:nvPr/>
        </p:nvSpPr>
        <p:spPr>
          <a:xfrm>
            <a:off x="9912548" y="2959537"/>
            <a:ext cx="9372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σ Noise</a:t>
            </a:r>
            <a:endParaRPr b="0" i="0" sz="1300" u="none" cap="none" strike="noStrike"/>
          </a:p>
        </p:txBody>
      </p:sp>
      <p:sp>
        <p:nvSpPr>
          <p:cNvPr id="642" name="Google Shape;642;p31"/>
          <p:cNvSpPr/>
          <p:nvPr/>
        </p:nvSpPr>
        <p:spPr>
          <a:xfrm>
            <a:off x="11197352" y="2959537"/>
            <a:ext cx="24690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Reason</a:t>
            </a:r>
            <a:endParaRPr b="0" i="0" sz="1300" u="none" cap="none" strike="noStrike"/>
          </a:p>
        </p:txBody>
      </p:sp>
      <p:sp>
        <p:nvSpPr>
          <p:cNvPr id="643" name="Google Shape;643;p31"/>
          <p:cNvSpPr/>
          <p:nvPr/>
        </p:nvSpPr>
        <p:spPr>
          <a:xfrm>
            <a:off x="7035165" y="3611523"/>
            <a:ext cx="13983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Visual Odom pose</a:t>
            </a:r>
            <a:endParaRPr b="0" i="0" sz="1300" u="none" cap="none" strike="noStrike"/>
          </a:p>
        </p:txBody>
      </p:sp>
      <p:sp>
        <p:nvSpPr>
          <p:cNvPr id="644" name="Google Shape;644;p31"/>
          <p:cNvSpPr/>
          <p:nvPr/>
        </p:nvSpPr>
        <p:spPr>
          <a:xfrm>
            <a:off x="8781098" y="3611523"/>
            <a:ext cx="7839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1.5</a:t>
            </a:r>
            <a:endParaRPr b="0" i="0" sz="1300" u="none" cap="none" strike="noStrike"/>
          </a:p>
        </p:txBody>
      </p:sp>
      <p:sp>
        <p:nvSpPr>
          <p:cNvPr id="645" name="Google Shape;645;p31"/>
          <p:cNvSpPr/>
          <p:nvPr/>
        </p:nvSpPr>
        <p:spPr>
          <a:xfrm>
            <a:off x="9912548" y="3611523"/>
            <a:ext cx="9372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0.48 m/s</a:t>
            </a:r>
            <a:endParaRPr b="0" i="0" sz="1300" u="none" cap="none" strike="noStrike"/>
          </a:p>
        </p:txBody>
      </p:sp>
      <p:sp>
        <p:nvSpPr>
          <p:cNvPr id="646" name="Google Shape;646;p31"/>
          <p:cNvSpPr/>
          <p:nvPr/>
        </p:nvSpPr>
        <p:spPr>
          <a:xfrm>
            <a:off x="11197352" y="3611523"/>
            <a:ext cx="2469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Noisy — aggressive rejection (~13% under Gaussian)</a:t>
            </a:r>
            <a:endParaRPr b="0" i="0" sz="1300" u="none" cap="none" strike="noStrike"/>
          </a:p>
        </p:txBody>
      </p:sp>
      <p:sp>
        <p:nvSpPr>
          <p:cNvPr id="647" name="Google Shape;647;p31"/>
          <p:cNvSpPr/>
          <p:nvPr/>
        </p:nvSpPr>
        <p:spPr>
          <a:xfrm>
            <a:off x="7035165" y="4263509"/>
            <a:ext cx="13983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LiDAR Odom pose</a:t>
            </a:r>
            <a:endParaRPr b="0" i="0" sz="1300" u="none" cap="none" strike="noStrike"/>
          </a:p>
        </p:txBody>
      </p:sp>
      <p:sp>
        <p:nvSpPr>
          <p:cNvPr id="648" name="Google Shape;648;p31"/>
          <p:cNvSpPr/>
          <p:nvPr/>
        </p:nvSpPr>
        <p:spPr>
          <a:xfrm>
            <a:off x="8781098" y="4263509"/>
            <a:ext cx="7839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.0</a:t>
            </a:r>
            <a:endParaRPr b="0" i="0" sz="1300" u="none" cap="none" strike="noStrike"/>
          </a:p>
        </p:txBody>
      </p:sp>
      <p:sp>
        <p:nvSpPr>
          <p:cNvPr id="649" name="Google Shape;649;p31"/>
          <p:cNvSpPr/>
          <p:nvPr/>
        </p:nvSpPr>
        <p:spPr>
          <a:xfrm>
            <a:off x="9912548" y="4263509"/>
            <a:ext cx="9372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0.07 m/s</a:t>
            </a:r>
            <a:endParaRPr b="0" i="0" sz="1300" u="none" cap="none" strike="noStrike"/>
          </a:p>
        </p:txBody>
      </p:sp>
      <p:sp>
        <p:nvSpPr>
          <p:cNvPr id="650" name="Google Shape;650;p31"/>
          <p:cNvSpPr/>
          <p:nvPr/>
        </p:nvSpPr>
        <p:spPr>
          <a:xfrm>
            <a:off x="11197352" y="4263509"/>
            <a:ext cx="2469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Cleaner signal — allow more through (~5% rejected)</a:t>
            </a:r>
            <a:endParaRPr b="0" i="0" sz="1300" u="none" cap="none" strike="noStrike"/>
          </a:p>
        </p:txBody>
      </p:sp>
      <p:sp>
        <p:nvSpPr>
          <p:cNvPr id="651" name="Google Shape;651;p31"/>
          <p:cNvSpPr/>
          <p:nvPr/>
        </p:nvSpPr>
        <p:spPr>
          <a:xfrm>
            <a:off x="7035165" y="4915495"/>
            <a:ext cx="1398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GPS position</a:t>
            </a:r>
            <a:endParaRPr b="0" i="0" sz="1300" u="none" cap="none" strike="noStrike"/>
          </a:p>
        </p:txBody>
      </p:sp>
      <p:sp>
        <p:nvSpPr>
          <p:cNvPr id="652" name="Google Shape;652;p31"/>
          <p:cNvSpPr/>
          <p:nvPr/>
        </p:nvSpPr>
        <p:spPr>
          <a:xfrm>
            <a:off x="8781098" y="4915495"/>
            <a:ext cx="7839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.0</a:t>
            </a:r>
            <a:endParaRPr b="0" i="0" sz="1300" u="none" cap="none" strike="noStrike"/>
          </a:p>
        </p:txBody>
      </p:sp>
      <p:sp>
        <p:nvSpPr>
          <p:cNvPr id="653" name="Google Shape;653;p31"/>
          <p:cNvSpPr/>
          <p:nvPr/>
        </p:nvSpPr>
        <p:spPr>
          <a:xfrm>
            <a:off x="9912548" y="4915495"/>
            <a:ext cx="9372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0.5 m</a:t>
            </a:r>
            <a:endParaRPr b="0" i="0" sz="1300" u="none" cap="none" strike="noStrike"/>
          </a:p>
        </p:txBody>
      </p:sp>
      <p:sp>
        <p:nvSpPr>
          <p:cNvPr id="654" name="Google Shape;654;p31"/>
          <p:cNvSpPr/>
          <p:nvPr/>
        </p:nvSpPr>
        <p:spPr>
          <a:xfrm>
            <a:off x="11197352" y="4915495"/>
            <a:ext cx="2469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Known noise level — standard gate</a:t>
            </a:r>
            <a:endParaRPr b="0" i="0" sz="1300" u="none" cap="none" strike="noStrike"/>
          </a:p>
        </p:txBody>
      </p:sp>
      <p:sp>
        <p:nvSpPr>
          <p:cNvPr id="655" name="Google Shape;655;p31"/>
          <p:cNvSpPr/>
          <p:nvPr/>
        </p:nvSpPr>
        <p:spPr>
          <a:xfrm>
            <a:off x="7035165" y="5567482"/>
            <a:ext cx="1398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IMU pose</a:t>
            </a:r>
            <a:endParaRPr b="0" i="0" sz="1300" u="none" cap="none" strike="noStrike"/>
          </a:p>
        </p:txBody>
      </p:sp>
      <p:sp>
        <p:nvSpPr>
          <p:cNvPr id="656" name="Google Shape;656;p31"/>
          <p:cNvSpPr/>
          <p:nvPr/>
        </p:nvSpPr>
        <p:spPr>
          <a:xfrm>
            <a:off x="8781098" y="5567482"/>
            <a:ext cx="7839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0.8</a:t>
            </a:r>
            <a:endParaRPr b="0" i="0" sz="1300" u="none" cap="none" strike="noStrike"/>
          </a:p>
        </p:txBody>
      </p:sp>
      <p:sp>
        <p:nvSpPr>
          <p:cNvPr id="657" name="Google Shape;657;p31"/>
          <p:cNvSpPr/>
          <p:nvPr/>
        </p:nvSpPr>
        <p:spPr>
          <a:xfrm>
            <a:off x="9912548" y="5567482"/>
            <a:ext cx="9372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high</a:t>
            </a:r>
            <a:endParaRPr b="0" i="0" sz="1300" u="none" cap="none" strike="noStrike"/>
          </a:p>
        </p:txBody>
      </p:sp>
      <p:sp>
        <p:nvSpPr>
          <p:cNvPr id="658" name="Google Shape;658;p31"/>
          <p:cNvSpPr/>
          <p:nvPr/>
        </p:nvSpPr>
        <p:spPr>
          <a:xfrm>
            <a:off x="11197352" y="5567482"/>
            <a:ext cx="2469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Aggressive — raw IMU full noise</a:t>
            </a:r>
            <a:endParaRPr b="0" i="0" sz="1300" u="none" cap="none" strike="noStrike"/>
          </a:p>
        </p:txBody>
      </p:sp>
      <p:sp>
        <p:nvSpPr>
          <p:cNvPr id="659" name="Google Shape;659;p31"/>
          <p:cNvSpPr/>
          <p:nvPr/>
        </p:nvSpPr>
        <p:spPr>
          <a:xfrm>
            <a:off x="7035165" y="6219468"/>
            <a:ext cx="1398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IMU twist</a:t>
            </a:r>
            <a:endParaRPr b="0" i="0" sz="1300" u="none" cap="none" strike="noStrike"/>
          </a:p>
        </p:txBody>
      </p:sp>
      <p:sp>
        <p:nvSpPr>
          <p:cNvPr id="660" name="Google Shape;660;p31"/>
          <p:cNvSpPr/>
          <p:nvPr/>
        </p:nvSpPr>
        <p:spPr>
          <a:xfrm>
            <a:off x="8781098" y="6219468"/>
            <a:ext cx="7839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0.8</a:t>
            </a:r>
            <a:endParaRPr b="0" i="0" sz="1300" u="none" cap="none" strike="noStrike"/>
          </a:p>
        </p:txBody>
      </p:sp>
      <p:sp>
        <p:nvSpPr>
          <p:cNvPr id="661" name="Google Shape;661;p31"/>
          <p:cNvSpPr/>
          <p:nvPr/>
        </p:nvSpPr>
        <p:spPr>
          <a:xfrm>
            <a:off x="9912548" y="6219468"/>
            <a:ext cx="9372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high</a:t>
            </a:r>
            <a:endParaRPr b="0" i="0" sz="1300" u="none" cap="none" strike="noStrike"/>
          </a:p>
        </p:txBody>
      </p:sp>
      <p:sp>
        <p:nvSpPr>
          <p:cNvPr id="662" name="Google Shape;662;p31"/>
          <p:cNvSpPr/>
          <p:nvPr/>
        </p:nvSpPr>
        <p:spPr>
          <a:xfrm>
            <a:off x="11197352" y="6219468"/>
            <a:ext cx="24690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Gyro Z large variance</a:t>
            </a:r>
            <a:endParaRPr b="0" i="0" sz="1300" u="none" cap="none" strike="noStrike"/>
          </a:p>
        </p:txBody>
      </p:sp>
      <p:sp>
        <p:nvSpPr>
          <p:cNvPr id="663" name="Google Shape;663;p31"/>
          <p:cNvSpPr/>
          <p:nvPr/>
        </p:nvSpPr>
        <p:spPr>
          <a:xfrm>
            <a:off x="7035165" y="6633329"/>
            <a:ext cx="1398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IMU accel</a:t>
            </a:r>
            <a:endParaRPr b="0" i="0" sz="1300" u="none" cap="none" strike="noStrike"/>
          </a:p>
        </p:txBody>
      </p:sp>
      <p:sp>
        <p:nvSpPr>
          <p:cNvPr id="664" name="Google Shape;664;p31"/>
          <p:cNvSpPr/>
          <p:nvPr/>
        </p:nvSpPr>
        <p:spPr>
          <a:xfrm>
            <a:off x="8781098" y="6633329"/>
            <a:ext cx="7839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0.8</a:t>
            </a:r>
            <a:endParaRPr b="0" i="0" sz="1300" u="none" cap="none" strike="noStrike"/>
          </a:p>
        </p:txBody>
      </p:sp>
      <p:sp>
        <p:nvSpPr>
          <p:cNvPr id="665" name="Google Shape;665;p31"/>
          <p:cNvSpPr/>
          <p:nvPr/>
        </p:nvSpPr>
        <p:spPr>
          <a:xfrm>
            <a:off x="9912548" y="6633329"/>
            <a:ext cx="9372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0.98 m/s²</a:t>
            </a:r>
            <a:endParaRPr b="0" i="0" sz="1300" u="none" cap="none" strike="noStrike"/>
          </a:p>
        </p:txBody>
      </p:sp>
      <p:sp>
        <p:nvSpPr>
          <p:cNvPr id="666" name="Google Shape;666;p31"/>
          <p:cNvSpPr/>
          <p:nvPr/>
        </p:nvSpPr>
        <p:spPr>
          <a:xfrm>
            <a:off x="11197352" y="6633329"/>
            <a:ext cx="24690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Accelerometer very noisy</a:t>
            </a:r>
            <a:endParaRPr b="0" i="0" sz="1300" u="none" cap="none" strike="noStrike"/>
          </a:p>
        </p:txBody>
      </p:sp>
      <p:pic>
        <p:nvPicPr>
          <p:cNvPr id="667" name="Google Shape;667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5449" y="2429651"/>
            <a:ext cx="5071701" cy="1420075"/>
          </a:xfrm>
          <a:prstGeom prst="rect">
            <a:avLst/>
          </a:prstGeom>
          <a:noFill/>
          <a:ln>
            <a:noFill/>
          </a:ln>
        </p:spPr>
      </p:pic>
      <p:sp>
        <p:nvSpPr>
          <p:cNvPr id="668" name="Google Shape;668;p31"/>
          <p:cNvSpPr/>
          <p:nvPr/>
        </p:nvSpPr>
        <p:spPr>
          <a:xfrm>
            <a:off x="12845075" y="7780725"/>
            <a:ext cx="1680600" cy="356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19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32"/>
          <p:cNvSpPr/>
          <p:nvPr/>
        </p:nvSpPr>
        <p:spPr>
          <a:xfrm>
            <a:off x="793790" y="635198"/>
            <a:ext cx="10937700" cy="5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2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etrona"/>
              <a:buNone/>
            </a:pPr>
            <a:r>
              <a:rPr b="1" i="0" lang="en-US" sz="350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Differential Mode — Relative vs. Absolute Pose Fusion</a:t>
            </a:r>
            <a:endParaRPr b="0" i="0" sz="3500" u="none" cap="none" strike="noStrike"/>
          </a:p>
        </p:txBody>
      </p:sp>
      <p:sp>
        <p:nvSpPr>
          <p:cNvPr id="675" name="Google Shape;675;p32"/>
          <p:cNvSpPr/>
          <p:nvPr/>
        </p:nvSpPr>
        <p:spPr>
          <a:xfrm>
            <a:off x="793790" y="1448514"/>
            <a:ext cx="130428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Isolates loop-closure jumps for rejection without discarding valid relative motion increments.</a:t>
            </a:r>
            <a:endParaRPr b="0" i="0" sz="1300" u="none" cap="none" strike="noStrike"/>
          </a:p>
        </p:txBody>
      </p:sp>
      <p:sp>
        <p:nvSpPr>
          <p:cNvPr id="676" name="Google Shape;676;p32"/>
          <p:cNvSpPr/>
          <p:nvPr/>
        </p:nvSpPr>
        <p:spPr>
          <a:xfrm>
            <a:off x="793800" y="1973573"/>
            <a:ext cx="6313800" cy="2815200"/>
          </a:xfrm>
          <a:prstGeom prst="roundRect">
            <a:avLst>
              <a:gd fmla="val 5841" name="adj"/>
            </a:avLst>
          </a:prstGeom>
          <a:solidFill>
            <a:srgbClr val="FFFFFF">
              <a:alpha val="94900"/>
            </a:srgbClr>
          </a:solidFill>
          <a:ln cap="flat" cmpd="sng" w="2285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32"/>
          <p:cNvSpPr/>
          <p:nvPr/>
        </p:nvSpPr>
        <p:spPr>
          <a:xfrm>
            <a:off x="770925" y="1973575"/>
            <a:ext cx="91500" cy="2815200"/>
          </a:xfrm>
          <a:prstGeom prst="roundRect">
            <a:avLst>
              <a:gd fmla="val 78140" name="adj"/>
            </a:avLst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32"/>
          <p:cNvSpPr/>
          <p:nvPr/>
        </p:nvSpPr>
        <p:spPr>
          <a:xfrm>
            <a:off x="1055250" y="2166448"/>
            <a:ext cx="4285500" cy="2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Petrona"/>
              <a:buNone/>
            </a:pPr>
            <a:r>
              <a:rPr b="1" i="0" lang="en-US" sz="175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✗ Problem: Absolute Pose Fusion</a:t>
            </a:r>
            <a:endParaRPr b="0" i="0" sz="1750" u="none" cap="none" strike="noStrike"/>
          </a:p>
        </p:txBody>
      </p:sp>
      <p:sp>
        <p:nvSpPr>
          <p:cNvPr id="679" name="Google Shape;679;p32"/>
          <p:cNvSpPr/>
          <p:nvPr/>
        </p:nvSpPr>
        <p:spPr>
          <a:xfrm>
            <a:off x="1055251" y="2572941"/>
            <a:ext cx="5859600" cy="10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Char char="•"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VO publishes absolute poses in its own frame</a:t>
            </a:r>
            <a:endParaRPr b="0" i="0" sz="1300" u="none" cap="none" strike="noStrike"/>
          </a:p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RTAB-Map loop closure: x = 5.0 m → x = 7.0 m in </a:t>
            </a:r>
            <a:r>
              <a:rPr b="1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one step</a:t>
            </a:r>
            <a:endParaRPr b="0" i="0" sz="1300" u="none" cap="none" strike="noStrike"/>
          </a:p>
          <a:p>
            <a:pPr indent="-342900" lvl="0" marL="34290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Char char="•"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EKF sees a sudden +2 m jump</a:t>
            </a:r>
            <a:endParaRPr b="0" i="0" sz="1300" u="none" cap="none" strike="noStrike"/>
          </a:p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Violates smooth-motion assumption → </a:t>
            </a:r>
            <a:r>
              <a:rPr b="1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filter diverges</a:t>
            </a:r>
            <a:endParaRPr b="0" i="0" sz="1300" u="none" cap="none" strike="noStrike"/>
          </a:p>
        </p:txBody>
      </p:sp>
      <p:sp>
        <p:nvSpPr>
          <p:cNvPr id="680" name="Google Shape;680;p32"/>
          <p:cNvSpPr/>
          <p:nvPr/>
        </p:nvSpPr>
        <p:spPr>
          <a:xfrm>
            <a:off x="7530346" y="1973580"/>
            <a:ext cx="6313800" cy="2815200"/>
          </a:xfrm>
          <a:prstGeom prst="roundRect">
            <a:avLst>
              <a:gd fmla="val 3898" name="adj"/>
            </a:avLst>
          </a:prstGeom>
          <a:solidFill>
            <a:srgbClr val="FFFFFF">
              <a:alpha val="94900"/>
            </a:srgbClr>
          </a:solidFill>
          <a:ln cap="flat" cmpd="sng" w="2285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32"/>
          <p:cNvSpPr/>
          <p:nvPr/>
        </p:nvSpPr>
        <p:spPr>
          <a:xfrm>
            <a:off x="7507486" y="1973580"/>
            <a:ext cx="91500" cy="2815200"/>
          </a:xfrm>
          <a:prstGeom prst="roundRect">
            <a:avLst>
              <a:gd fmla="val 78140" name="adj"/>
            </a:avLst>
          </a:prstGeom>
          <a:solidFill>
            <a:srgbClr val="27AE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32"/>
          <p:cNvSpPr/>
          <p:nvPr/>
        </p:nvSpPr>
        <p:spPr>
          <a:xfrm>
            <a:off x="7791798" y="2166451"/>
            <a:ext cx="39396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Petrona"/>
              <a:buNone/>
            </a:pPr>
            <a:r>
              <a:rPr b="1" i="0" lang="en-US" sz="175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✓ Solution: Differential Mode</a:t>
            </a:r>
            <a:endParaRPr b="0" i="0" sz="1750" u="none" cap="none" strike="noStrike"/>
          </a:p>
        </p:txBody>
      </p:sp>
      <p:sp>
        <p:nvSpPr>
          <p:cNvPr id="683" name="Google Shape;683;p32"/>
          <p:cNvSpPr/>
          <p:nvPr/>
        </p:nvSpPr>
        <p:spPr>
          <a:xfrm>
            <a:off x="7791807" y="2588895"/>
            <a:ext cx="5859600" cy="2007000"/>
          </a:xfrm>
          <a:prstGeom prst="roundRect">
            <a:avLst>
              <a:gd fmla="val 3560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32"/>
          <p:cNvSpPr/>
          <p:nvPr/>
        </p:nvSpPr>
        <p:spPr>
          <a:xfrm>
            <a:off x="7783350" y="2588900"/>
            <a:ext cx="5876400" cy="2110800"/>
          </a:xfrm>
          <a:prstGeom prst="roundRect">
            <a:avLst>
              <a:gd fmla="val 1272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32"/>
          <p:cNvSpPr/>
          <p:nvPr/>
        </p:nvSpPr>
        <p:spPr>
          <a:xfrm>
            <a:off x="7995999" y="2758916"/>
            <a:ext cx="5451300" cy="16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odom1_differential: true</a:t>
            </a:r>
            <a:endParaRPr b="0" i="0" sz="1300" u="none" cap="none" strike="noStrike"/>
          </a:p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# EKF computes relative transform:</a:t>
            </a:r>
            <a:endParaRPr b="0" i="0" sz="1300" u="none" cap="none" strike="noStrike"/>
          </a:p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z_k = T(t_{k-1})^{-1} · T(t_k)</a:t>
            </a:r>
            <a:endParaRPr b="0" i="0" sz="1300" u="none" cap="none" strike="noStrike"/>
          </a:p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# Loop closure: Δx = 2.0 m</a:t>
            </a:r>
            <a:endParaRPr b="0" i="0" sz="1300" u="none" cap="none" strike="noStrike"/>
          </a:p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→ d_M &gt;&gt; 1.5 → REJECTED</a:t>
            </a:r>
            <a:endParaRPr b="0" i="0" sz="1300" u="none" cap="none" strike="noStrike"/>
          </a:p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# Normal motion: Δx = 0.01 m</a:t>
            </a:r>
            <a:endParaRPr b="0" i="0" sz="1300" u="none" cap="none" strike="noStrike"/>
          </a:p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→ ACCEPTED</a:t>
            </a:r>
            <a:endParaRPr b="0" i="0" sz="1300" u="none" cap="none" strike="noStrike"/>
          </a:p>
        </p:txBody>
      </p:sp>
      <p:sp>
        <p:nvSpPr>
          <p:cNvPr id="686" name="Google Shape;686;p32"/>
          <p:cNvSpPr/>
          <p:nvPr/>
        </p:nvSpPr>
        <p:spPr>
          <a:xfrm>
            <a:off x="793790" y="5123498"/>
            <a:ext cx="3685500" cy="2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Petrona"/>
              <a:buNone/>
            </a:pPr>
            <a:r>
              <a:rPr b="1" i="0" lang="en-US" sz="175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Absolute vs. Differential — Timeline</a:t>
            </a:r>
            <a:endParaRPr b="0" i="0" sz="1750" u="none" cap="none" strike="noStrike"/>
          </a:p>
        </p:txBody>
      </p:sp>
      <p:sp>
        <p:nvSpPr>
          <p:cNvPr id="687" name="Google Shape;687;p32"/>
          <p:cNvSpPr/>
          <p:nvPr/>
        </p:nvSpPr>
        <p:spPr>
          <a:xfrm>
            <a:off x="793790" y="5593794"/>
            <a:ext cx="13042800" cy="1249200"/>
          </a:xfrm>
          <a:prstGeom prst="roundRect">
            <a:avLst>
              <a:gd fmla="val 5720" name="adj"/>
            </a:avLst>
          </a:prstGeom>
          <a:noFill/>
          <a:ln cap="flat" cmpd="sng" w="9525">
            <a:solidFill>
              <a:srgbClr val="000000">
                <a:alpha val="784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32"/>
          <p:cNvSpPr/>
          <p:nvPr/>
        </p:nvSpPr>
        <p:spPr>
          <a:xfrm>
            <a:off x="972026" y="5685473"/>
            <a:ext cx="15177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Mode</a:t>
            </a:r>
            <a:endParaRPr b="0" i="0" sz="1300" u="none" cap="none" strike="noStrike"/>
          </a:p>
        </p:txBody>
      </p:sp>
      <p:sp>
        <p:nvSpPr>
          <p:cNvPr id="689" name="Google Shape;689;p32"/>
          <p:cNvSpPr/>
          <p:nvPr/>
        </p:nvSpPr>
        <p:spPr>
          <a:xfrm>
            <a:off x="2837378" y="5685473"/>
            <a:ext cx="15138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t=1</a:t>
            </a:r>
            <a:endParaRPr b="0" i="0" sz="1300" u="none" cap="none" strike="noStrike"/>
          </a:p>
        </p:txBody>
      </p:sp>
      <p:sp>
        <p:nvSpPr>
          <p:cNvPr id="690" name="Google Shape;690;p32"/>
          <p:cNvSpPr/>
          <p:nvPr/>
        </p:nvSpPr>
        <p:spPr>
          <a:xfrm>
            <a:off x="4698921" y="5685473"/>
            <a:ext cx="15138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t=2</a:t>
            </a:r>
            <a:endParaRPr b="0" i="0" sz="1300" u="none" cap="none" strike="noStrike"/>
          </a:p>
        </p:txBody>
      </p:sp>
      <p:sp>
        <p:nvSpPr>
          <p:cNvPr id="691" name="Google Shape;691;p32"/>
          <p:cNvSpPr/>
          <p:nvPr/>
        </p:nvSpPr>
        <p:spPr>
          <a:xfrm>
            <a:off x="6560463" y="5685473"/>
            <a:ext cx="15138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t=3</a:t>
            </a:r>
            <a:endParaRPr b="0" i="0" sz="1300" u="none" cap="none" strike="noStrike"/>
          </a:p>
        </p:txBody>
      </p:sp>
      <p:sp>
        <p:nvSpPr>
          <p:cNvPr id="692" name="Google Shape;692;p32"/>
          <p:cNvSpPr/>
          <p:nvPr/>
        </p:nvSpPr>
        <p:spPr>
          <a:xfrm>
            <a:off x="8422005" y="5685473"/>
            <a:ext cx="15138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t=4</a:t>
            </a:r>
            <a:endParaRPr b="0" i="0" sz="1300" u="none" cap="none" strike="noStrike"/>
          </a:p>
        </p:txBody>
      </p:sp>
      <p:sp>
        <p:nvSpPr>
          <p:cNvPr id="693" name="Google Shape;693;p32"/>
          <p:cNvSpPr/>
          <p:nvPr/>
        </p:nvSpPr>
        <p:spPr>
          <a:xfrm>
            <a:off x="10283547" y="5685473"/>
            <a:ext cx="15138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F44444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F44444"/>
                </a:solidFill>
                <a:latin typeface="Inter"/>
                <a:ea typeface="Inter"/>
                <a:cs typeface="Inter"/>
                <a:sym typeface="Inter"/>
              </a:rPr>
              <a:t>t=5 (closure)</a:t>
            </a:r>
            <a:endParaRPr b="0" i="0" sz="1300" u="none" cap="none" strike="noStrike"/>
          </a:p>
        </p:txBody>
      </p:sp>
      <p:sp>
        <p:nvSpPr>
          <p:cNvPr id="694" name="Google Shape;694;p32"/>
          <p:cNvSpPr/>
          <p:nvPr/>
        </p:nvSpPr>
        <p:spPr>
          <a:xfrm>
            <a:off x="12145089" y="5685473"/>
            <a:ext cx="15177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t=6</a:t>
            </a:r>
            <a:endParaRPr b="0" i="0" sz="1300" u="none" cap="none" strike="noStrike"/>
          </a:p>
        </p:txBody>
      </p:sp>
      <p:sp>
        <p:nvSpPr>
          <p:cNvPr id="695" name="Google Shape;695;p32"/>
          <p:cNvSpPr/>
          <p:nvPr/>
        </p:nvSpPr>
        <p:spPr>
          <a:xfrm>
            <a:off x="972026" y="6099334"/>
            <a:ext cx="15177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F44444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F44444"/>
                </a:solidFill>
                <a:latin typeface="Inter"/>
                <a:ea typeface="Inter"/>
                <a:cs typeface="Inter"/>
                <a:sym typeface="Inter"/>
              </a:rPr>
              <a:t>Absolute x</a:t>
            </a:r>
            <a:endParaRPr b="0" i="0" sz="1300" u="none" cap="none" strike="noStrike"/>
          </a:p>
        </p:txBody>
      </p:sp>
      <p:sp>
        <p:nvSpPr>
          <p:cNvPr id="696" name="Google Shape;696;p32"/>
          <p:cNvSpPr/>
          <p:nvPr/>
        </p:nvSpPr>
        <p:spPr>
          <a:xfrm>
            <a:off x="2837378" y="6099334"/>
            <a:ext cx="15138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1.0</a:t>
            </a:r>
            <a:endParaRPr b="0" i="0" sz="1300" u="none" cap="none" strike="noStrike"/>
          </a:p>
        </p:txBody>
      </p:sp>
      <p:sp>
        <p:nvSpPr>
          <p:cNvPr id="697" name="Google Shape;697;p32"/>
          <p:cNvSpPr/>
          <p:nvPr/>
        </p:nvSpPr>
        <p:spPr>
          <a:xfrm>
            <a:off x="4698921" y="6099334"/>
            <a:ext cx="15138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2.0</a:t>
            </a:r>
            <a:endParaRPr b="0" i="0" sz="1300" u="none" cap="none" strike="noStrike"/>
          </a:p>
        </p:txBody>
      </p:sp>
      <p:sp>
        <p:nvSpPr>
          <p:cNvPr id="698" name="Google Shape;698;p32"/>
          <p:cNvSpPr/>
          <p:nvPr/>
        </p:nvSpPr>
        <p:spPr>
          <a:xfrm>
            <a:off x="6560463" y="6099334"/>
            <a:ext cx="15138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3.0</a:t>
            </a:r>
            <a:endParaRPr b="0" i="0" sz="1300" u="none" cap="none" strike="noStrike"/>
          </a:p>
        </p:txBody>
      </p:sp>
      <p:sp>
        <p:nvSpPr>
          <p:cNvPr id="699" name="Google Shape;699;p32"/>
          <p:cNvSpPr/>
          <p:nvPr/>
        </p:nvSpPr>
        <p:spPr>
          <a:xfrm>
            <a:off x="8422005" y="6099334"/>
            <a:ext cx="15138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5.0</a:t>
            </a:r>
            <a:endParaRPr b="0" i="0" sz="1300" u="none" cap="none" strike="noStrike"/>
          </a:p>
        </p:txBody>
      </p:sp>
      <p:sp>
        <p:nvSpPr>
          <p:cNvPr id="700" name="Google Shape;700;p32"/>
          <p:cNvSpPr/>
          <p:nvPr/>
        </p:nvSpPr>
        <p:spPr>
          <a:xfrm>
            <a:off x="10283547" y="6099334"/>
            <a:ext cx="15138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F44444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F44444"/>
                </a:solidFill>
                <a:latin typeface="Inter"/>
                <a:ea typeface="Inter"/>
                <a:cs typeface="Inter"/>
                <a:sym typeface="Inter"/>
              </a:rPr>
              <a:t>7.0</a:t>
            </a:r>
            <a:endParaRPr b="0" i="0" sz="1300" u="none" cap="none" strike="noStrike"/>
          </a:p>
        </p:txBody>
      </p:sp>
      <p:sp>
        <p:nvSpPr>
          <p:cNvPr id="701" name="Google Shape;701;p32"/>
          <p:cNvSpPr/>
          <p:nvPr/>
        </p:nvSpPr>
        <p:spPr>
          <a:xfrm>
            <a:off x="12145089" y="6099334"/>
            <a:ext cx="15177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8.0</a:t>
            </a:r>
            <a:endParaRPr b="0" i="0" sz="1300" u="none" cap="none" strike="noStrike"/>
          </a:p>
        </p:txBody>
      </p:sp>
      <p:sp>
        <p:nvSpPr>
          <p:cNvPr id="702" name="Google Shape;702;p32"/>
          <p:cNvSpPr/>
          <p:nvPr/>
        </p:nvSpPr>
        <p:spPr>
          <a:xfrm>
            <a:off x="972026" y="6513195"/>
            <a:ext cx="15177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1F7135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1F7135"/>
                </a:solidFill>
                <a:latin typeface="Inter"/>
                <a:ea typeface="Inter"/>
                <a:cs typeface="Inter"/>
                <a:sym typeface="Inter"/>
              </a:rPr>
              <a:t>Δx (diff)</a:t>
            </a:r>
            <a:endParaRPr b="0" i="0" sz="1300" u="none" cap="none" strike="noStrike"/>
          </a:p>
        </p:txBody>
      </p:sp>
      <p:sp>
        <p:nvSpPr>
          <p:cNvPr id="703" name="Google Shape;703;p32"/>
          <p:cNvSpPr/>
          <p:nvPr/>
        </p:nvSpPr>
        <p:spPr>
          <a:xfrm>
            <a:off x="2837378" y="6513195"/>
            <a:ext cx="15138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1F713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1F7135"/>
                </a:solidFill>
                <a:latin typeface="Inter"/>
                <a:ea typeface="Inter"/>
                <a:cs typeface="Inter"/>
                <a:sym typeface="Inter"/>
              </a:rPr>
              <a:t>Δ1.0</a:t>
            </a:r>
            <a:endParaRPr b="0" i="0" sz="1300" u="none" cap="none" strike="noStrike"/>
          </a:p>
        </p:txBody>
      </p:sp>
      <p:sp>
        <p:nvSpPr>
          <p:cNvPr id="704" name="Google Shape;704;p32"/>
          <p:cNvSpPr/>
          <p:nvPr/>
        </p:nvSpPr>
        <p:spPr>
          <a:xfrm>
            <a:off x="4698921" y="6513195"/>
            <a:ext cx="15138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1F713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1F7135"/>
                </a:solidFill>
                <a:latin typeface="Inter"/>
                <a:ea typeface="Inter"/>
                <a:cs typeface="Inter"/>
                <a:sym typeface="Inter"/>
              </a:rPr>
              <a:t>Δ1.0</a:t>
            </a:r>
            <a:endParaRPr b="0" i="0" sz="1300" u="none" cap="none" strike="noStrike"/>
          </a:p>
        </p:txBody>
      </p:sp>
      <p:sp>
        <p:nvSpPr>
          <p:cNvPr id="705" name="Google Shape;705;p32"/>
          <p:cNvSpPr/>
          <p:nvPr/>
        </p:nvSpPr>
        <p:spPr>
          <a:xfrm>
            <a:off x="6560463" y="6513195"/>
            <a:ext cx="15138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1F713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1F7135"/>
                </a:solidFill>
                <a:latin typeface="Inter"/>
                <a:ea typeface="Inter"/>
                <a:cs typeface="Inter"/>
                <a:sym typeface="Inter"/>
              </a:rPr>
              <a:t>Δ1.0</a:t>
            </a:r>
            <a:endParaRPr b="0" i="0" sz="1300" u="none" cap="none" strike="noStrike"/>
          </a:p>
        </p:txBody>
      </p:sp>
      <p:sp>
        <p:nvSpPr>
          <p:cNvPr id="706" name="Google Shape;706;p32"/>
          <p:cNvSpPr/>
          <p:nvPr/>
        </p:nvSpPr>
        <p:spPr>
          <a:xfrm>
            <a:off x="8422005" y="6513195"/>
            <a:ext cx="15138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1F713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1F7135"/>
                </a:solidFill>
                <a:latin typeface="Inter"/>
                <a:ea typeface="Inter"/>
                <a:cs typeface="Inter"/>
                <a:sym typeface="Inter"/>
              </a:rPr>
              <a:t>Δ1.0</a:t>
            </a:r>
            <a:endParaRPr b="0" i="0" sz="1300" u="none" cap="none" strike="noStrike"/>
          </a:p>
        </p:txBody>
      </p:sp>
      <p:sp>
        <p:nvSpPr>
          <p:cNvPr id="707" name="Google Shape;707;p32"/>
          <p:cNvSpPr/>
          <p:nvPr/>
        </p:nvSpPr>
        <p:spPr>
          <a:xfrm>
            <a:off x="10283547" y="6513195"/>
            <a:ext cx="15138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F44444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F44444"/>
                </a:solidFill>
                <a:latin typeface="Inter"/>
                <a:ea typeface="Inter"/>
                <a:cs typeface="Inter"/>
                <a:sym typeface="Inter"/>
              </a:rPr>
              <a:t>REJECT</a:t>
            </a:r>
            <a:endParaRPr b="0" i="0" sz="1300" u="none" cap="none" strike="noStrike"/>
          </a:p>
        </p:txBody>
      </p:sp>
      <p:sp>
        <p:nvSpPr>
          <p:cNvPr id="708" name="Google Shape;708;p32"/>
          <p:cNvSpPr/>
          <p:nvPr/>
        </p:nvSpPr>
        <p:spPr>
          <a:xfrm>
            <a:off x="12145089" y="6513195"/>
            <a:ext cx="15177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1F713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1F7135"/>
                </a:solidFill>
                <a:latin typeface="Inter"/>
                <a:ea typeface="Inter"/>
                <a:cs typeface="Inter"/>
                <a:sym typeface="Inter"/>
              </a:rPr>
              <a:t>Δ1.0</a:t>
            </a:r>
            <a:endParaRPr b="0" i="0" sz="1300" u="none" cap="none" strike="noStrike"/>
          </a:p>
        </p:txBody>
      </p:sp>
      <p:sp>
        <p:nvSpPr>
          <p:cNvPr id="709" name="Google Shape;709;p32"/>
          <p:cNvSpPr/>
          <p:nvPr/>
        </p:nvSpPr>
        <p:spPr>
          <a:xfrm>
            <a:off x="793790" y="6986468"/>
            <a:ext cx="13042800" cy="607800"/>
          </a:xfrm>
          <a:prstGeom prst="roundRect">
            <a:avLst>
              <a:gd fmla="val 11753" name="adj"/>
            </a:avLst>
          </a:prstGeom>
          <a:solidFill>
            <a:srgbClr val="FCF2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10" name="Google Shape;71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3811" y="7233047"/>
            <a:ext cx="212646" cy="170021"/>
          </a:xfrm>
          <a:prstGeom prst="rect">
            <a:avLst/>
          </a:prstGeom>
          <a:noFill/>
          <a:ln>
            <a:noFill/>
          </a:ln>
        </p:spPr>
      </p:pic>
      <p:sp>
        <p:nvSpPr>
          <p:cNvPr id="711" name="Google Shape;711;p32"/>
          <p:cNvSpPr/>
          <p:nvPr/>
        </p:nvSpPr>
        <p:spPr>
          <a:xfrm>
            <a:off x="1346478" y="7156490"/>
            <a:ext cx="123201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When NOT to use differential:</a:t>
            </a:r>
            <a:r>
              <a:rPr b="0" i="0" lang="en-US" sz="13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Wheel odom (already a rate signal) and GPS (removes the global correction benefit).</a:t>
            </a:r>
            <a:endParaRPr b="0" i="0" sz="1300" u="none" cap="none" strike="noStrike"/>
          </a:p>
        </p:txBody>
      </p:sp>
      <p:sp>
        <p:nvSpPr>
          <p:cNvPr id="712" name="Google Shape;712;p32"/>
          <p:cNvSpPr/>
          <p:nvPr/>
        </p:nvSpPr>
        <p:spPr>
          <a:xfrm>
            <a:off x="12845075" y="7780725"/>
            <a:ext cx="1680600" cy="356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33"/>
          <p:cNvSpPr/>
          <p:nvPr/>
        </p:nvSpPr>
        <p:spPr>
          <a:xfrm>
            <a:off x="644962" y="506595"/>
            <a:ext cx="10762800" cy="4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Petrona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Control Input Fusion — Using /cmd_vel for Better Prediction</a:t>
            </a:r>
            <a:endParaRPr b="0" i="0" sz="3000" u="none" cap="none" strike="noStrike"/>
          </a:p>
        </p:txBody>
      </p:sp>
      <p:sp>
        <p:nvSpPr>
          <p:cNvPr id="719" name="Google Shape;719;p33"/>
          <p:cNvSpPr/>
          <p:nvPr/>
        </p:nvSpPr>
        <p:spPr>
          <a:xfrm>
            <a:off x="644962" y="1201183"/>
            <a:ext cx="13340400" cy="2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82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None/>
            </a:pPr>
            <a:r>
              <a:rPr b="0" i="0" lang="en-US" sz="14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Incorporating commanded velocity into the predict step reduces prediction error</a:t>
            </a:r>
            <a:endParaRPr b="0" i="0" sz="1450" u="none" cap="none" strike="noStrike"/>
          </a:p>
        </p:txBody>
      </p:sp>
      <p:sp>
        <p:nvSpPr>
          <p:cNvPr id="720" name="Google Shape;720;p33"/>
          <p:cNvSpPr/>
          <p:nvPr/>
        </p:nvSpPr>
        <p:spPr>
          <a:xfrm>
            <a:off x="644950" y="1727538"/>
            <a:ext cx="5809500" cy="2473800"/>
          </a:xfrm>
          <a:prstGeom prst="roundRect">
            <a:avLst>
              <a:gd fmla="val 2966" name="adj"/>
            </a:avLst>
          </a:prstGeom>
          <a:solidFill>
            <a:srgbClr val="FFFFFF">
              <a:alpha val="94900"/>
            </a:srgbClr>
          </a:solidFill>
          <a:ln cap="flat" cmpd="sng" w="22850">
            <a:solidFill>
              <a:srgbClr val="CC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" name="Google Shape;721;p33"/>
          <p:cNvSpPr/>
          <p:nvPr/>
        </p:nvSpPr>
        <p:spPr>
          <a:xfrm>
            <a:off x="622100" y="1727538"/>
            <a:ext cx="91500" cy="2473800"/>
          </a:xfrm>
          <a:prstGeom prst="roundRect">
            <a:avLst>
              <a:gd fmla="val 84651" name="adj"/>
            </a:avLst>
          </a:prstGeom>
          <a:solidFill>
            <a:srgbClr val="CC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p33"/>
          <p:cNvSpPr/>
          <p:nvPr/>
        </p:nvSpPr>
        <p:spPr>
          <a:xfrm>
            <a:off x="920591" y="1934589"/>
            <a:ext cx="2445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68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900"/>
              <a:buFont typeface="Petrona"/>
              <a:buNone/>
            </a:pPr>
            <a:r>
              <a:rPr b="1" i="0" lang="en-US" sz="19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Without control input</a:t>
            </a:r>
            <a:endParaRPr b="0" i="0" sz="1900" u="none" cap="none" strike="noStrike"/>
          </a:p>
        </p:txBody>
      </p:sp>
      <p:sp>
        <p:nvSpPr>
          <p:cNvPr id="723" name="Google Shape;723;p33"/>
          <p:cNvSpPr/>
          <p:nvPr/>
        </p:nvSpPr>
        <p:spPr>
          <a:xfrm>
            <a:off x="920606" y="2386663"/>
            <a:ext cx="5237400" cy="10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82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None/>
            </a:pPr>
            <a:r>
              <a:rPr b="0" i="0" lang="en-US" sz="14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Predict step assumes </a:t>
            </a:r>
            <a:r>
              <a:rPr b="1" i="0" lang="en-US" sz="14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CONSTANT VELOCITY</a:t>
            </a:r>
            <a:r>
              <a:rPr b="0" i="0" lang="en-US" sz="14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. When robot accelerates/decelerates or turns, prediction error grows.</a:t>
            </a:r>
            <a:endParaRPr b="0" i="0" sz="1450" u="none" cap="none" strike="noStrike"/>
          </a:p>
        </p:txBody>
      </p:sp>
      <p:sp>
        <p:nvSpPr>
          <p:cNvPr id="724" name="Google Shape;724;p33"/>
          <p:cNvSpPr/>
          <p:nvPr/>
        </p:nvSpPr>
        <p:spPr>
          <a:xfrm>
            <a:off x="897805" y="3109713"/>
            <a:ext cx="51351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82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None/>
            </a:pPr>
            <a:r>
              <a:rPr b="0" i="0" lang="en-US" sz="14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With </a:t>
            </a:r>
            <a:r>
              <a:rPr b="0" i="0" lang="en-US" sz="1450" u="none" cap="none" strike="noStrike">
                <a:solidFill>
                  <a:srgbClr val="27252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use_control: true</a:t>
            </a:r>
            <a:r>
              <a:rPr b="0" i="0" lang="en-US" sz="14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— EKF incorporates </a:t>
            </a:r>
            <a:r>
              <a:rPr b="0" i="0" lang="en-US" sz="1450" u="none" cap="none" strike="noStrike">
                <a:solidFill>
                  <a:srgbClr val="27252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/cmd_vel</a:t>
            </a:r>
            <a:r>
              <a:rPr b="0" i="0" lang="en-US" sz="14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into prediction:</a:t>
            </a:r>
            <a:endParaRPr b="0" i="0" sz="1450" u="none" cap="none" strike="noStrike"/>
          </a:p>
          <a:p>
            <a:pPr indent="0" lvl="0" marL="0" marR="0" rtl="0" algn="l">
              <a:lnSpc>
                <a:spcPct val="14482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Consolas"/>
              <a:buNone/>
            </a:pPr>
            <a:r>
              <a:rPr b="0" i="0" lang="en-US" sz="1450" u="none" cap="none" strike="noStrike">
                <a:solidFill>
                  <a:srgbClr val="27252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x̂_predict = f( x̂, u_cmd_vel )</a:t>
            </a:r>
            <a:endParaRPr b="0" i="0" sz="1450" u="none" cap="none" strike="noStrike"/>
          </a:p>
        </p:txBody>
      </p:sp>
      <p:sp>
        <p:nvSpPr>
          <p:cNvPr id="725" name="Google Shape;725;p33"/>
          <p:cNvSpPr/>
          <p:nvPr/>
        </p:nvSpPr>
        <p:spPr>
          <a:xfrm>
            <a:off x="6905350" y="1727538"/>
            <a:ext cx="7080000" cy="6069600"/>
          </a:xfrm>
          <a:prstGeom prst="roundRect">
            <a:avLst>
              <a:gd fmla="val 2966" name="adj"/>
            </a:avLst>
          </a:prstGeom>
          <a:solidFill>
            <a:srgbClr val="FFFFFF">
              <a:alpha val="94900"/>
            </a:srgbClr>
          </a:solidFill>
          <a:ln cap="flat" cmpd="sng" w="22850">
            <a:solidFill>
              <a:srgbClr val="007E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6" name="Google Shape;726;p33"/>
          <p:cNvSpPr/>
          <p:nvPr/>
        </p:nvSpPr>
        <p:spPr>
          <a:xfrm>
            <a:off x="6882476" y="1727538"/>
            <a:ext cx="91500" cy="5962800"/>
          </a:xfrm>
          <a:prstGeom prst="roundRect">
            <a:avLst>
              <a:gd fmla="val 84651" name="adj"/>
            </a:avLst>
          </a:prstGeom>
          <a:solidFill>
            <a:srgbClr val="007EB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p33"/>
          <p:cNvSpPr/>
          <p:nvPr/>
        </p:nvSpPr>
        <p:spPr>
          <a:xfrm>
            <a:off x="7180969" y="1934589"/>
            <a:ext cx="24189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68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900"/>
              <a:buFont typeface="Petrona"/>
              <a:buNone/>
            </a:pPr>
            <a:r>
              <a:rPr b="1" i="0" lang="en-US" sz="19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Configuration</a:t>
            </a:r>
            <a:endParaRPr b="0" i="0" sz="1900" u="none" cap="none" strike="noStrike"/>
          </a:p>
        </p:txBody>
      </p:sp>
      <p:sp>
        <p:nvSpPr>
          <p:cNvPr id="728" name="Google Shape;728;p33"/>
          <p:cNvSpPr/>
          <p:nvPr/>
        </p:nvSpPr>
        <p:spPr>
          <a:xfrm>
            <a:off x="7180969" y="2405362"/>
            <a:ext cx="3216900" cy="4643100"/>
          </a:xfrm>
          <a:prstGeom prst="roundRect">
            <a:avLst>
              <a:gd fmla="val 2406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p33"/>
          <p:cNvSpPr/>
          <p:nvPr/>
        </p:nvSpPr>
        <p:spPr>
          <a:xfrm>
            <a:off x="7171800" y="2405363"/>
            <a:ext cx="6359400" cy="5159400"/>
          </a:xfrm>
          <a:prstGeom prst="roundRect">
            <a:avLst>
              <a:gd fmla="val 855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p33"/>
          <p:cNvSpPr/>
          <p:nvPr/>
        </p:nvSpPr>
        <p:spPr>
          <a:xfrm>
            <a:off x="7402075" y="2589563"/>
            <a:ext cx="6007200" cy="42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827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1450"/>
              <a:buFont typeface="Consolas"/>
              <a:buNone/>
            </a:pPr>
            <a:r>
              <a:rPr b="0" i="0" lang="en-US" sz="145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use_control: true</a:t>
            </a:r>
            <a:endParaRPr b="0" i="0" sz="1450" u="none" cap="none" strike="noStrike"/>
          </a:p>
          <a:p>
            <a:pPr indent="0" lvl="0" marL="0" marR="0" rtl="0" algn="l">
              <a:lnSpc>
                <a:spcPct val="144827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1450"/>
              <a:buFont typeface="Consolas"/>
              <a:buNone/>
            </a:pPr>
            <a:r>
              <a:rPr b="0" i="0" lang="en-US" sz="145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control_config: [true, false, false, false, false, true]</a:t>
            </a:r>
            <a:endParaRPr b="0" i="0" sz="1450" u="none" cap="none" strike="noStrike"/>
          </a:p>
          <a:p>
            <a:pPr indent="0" lvl="0" marL="0" marR="0" rtl="0" algn="l">
              <a:lnSpc>
                <a:spcPct val="144827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1450"/>
              <a:buFont typeface="Consolas"/>
              <a:buNone/>
            </a:pPr>
            <a:r>
              <a:rPr b="0" i="0" lang="en-US" sz="145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              # vx only + vyaw only (diff drive, no vy)</a:t>
            </a:r>
            <a:endParaRPr b="0" i="0" sz="1450" u="none" cap="none" strike="noStrike"/>
          </a:p>
          <a:p>
            <a:pPr indent="0" lvl="0" marL="0" marR="0" rtl="0" algn="l">
              <a:lnSpc>
                <a:spcPct val="144827"/>
              </a:lnSpc>
              <a:spcBef>
                <a:spcPts val="0"/>
              </a:spcBef>
              <a:spcAft>
                <a:spcPts val="0"/>
              </a:spcAft>
              <a:buSzPts val="1450"/>
              <a:buFont typeface="Arial"/>
              <a:buNone/>
            </a:pPr>
            <a:r>
              <a:t/>
            </a:r>
            <a:endParaRPr b="0" i="0" sz="1450" u="none" cap="none" strike="noStrike"/>
          </a:p>
          <a:p>
            <a:pPr indent="0" lvl="0" marL="0" marR="0" rtl="0" algn="l">
              <a:lnSpc>
                <a:spcPct val="144827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1450"/>
              <a:buFont typeface="Consolas"/>
              <a:buNone/>
            </a:pPr>
            <a:r>
              <a:rPr b="0" i="0" lang="en-US" sz="145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acceleration_limits:  [1.0, 0.0, 0.0, 0.0, 0.0, 1.5]  # max m/s² and rad/s²</a:t>
            </a:r>
            <a:endParaRPr b="0" i="0" sz="1450" u="none" cap="none" strike="noStrike"/>
          </a:p>
          <a:p>
            <a:pPr indent="0" lvl="0" marL="0" marR="0" rtl="0" algn="l">
              <a:lnSpc>
                <a:spcPct val="144827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1450"/>
              <a:buFont typeface="Consolas"/>
              <a:buNone/>
            </a:pPr>
            <a:r>
              <a:rPr b="0" i="0" lang="en-US" sz="145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deceleration_limits:  [1.0, 0.0, 0.0, 0.0, 0.0, 1.5]</a:t>
            </a:r>
            <a:endParaRPr b="0" i="0" sz="1450" u="none" cap="none" strike="noStrike"/>
          </a:p>
          <a:p>
            <a:pPr indent="0" lvl="0" marL="0" marR="0" rtl="0" algn="l">
              <a:lnSpc>
                <a:spcPct val="144827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1450"/>
              <a:buFont typeface="Consolas"/>
              <a:buNone/>
            </a:pPr>
            <a:r>
              <a:rPr b="0" i="0" lang="en-US" sz="145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acceleration_gains:   [0.8, 0.0, 0.0, 0.0, 0.0, 0.9]  # trust new cmd</a:t>
            </a:r>
            <a:endParaRPr b="0" i="0" sz="1450" u="none" cap="none" strike="noStrike"/>
          </a:p>
          <a:p>
            <a:pPr indent="0" lvl="0" marL="0" marR="0" rtl="0" algn="l">
              <a:lnSpc>
                <a:spcPct val="144827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1450"/>
              <a:buFont typeface="Consolas"/>
              <a:buNone/>
            </a:pPr>
            <a:r>
              <a:rPr b="0" i="0" lang="en-US" sz="145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deceleration_gains:   [1.0, 0.0, 0.0, 0.0, 0.0, 1.0]</a:t>
            </a:r>
            <a:endParaRPr b="0" i="0" sz="1450" u="none" cap="none" strike="noStrike"/>
          </a:p>
        </p:txBody>
      </p:sp>
      <p:sp>
        <p:nvSpPr>
          <p:cNvPr id="731" name="Google Shape;731;p33"/>
          <p:cNvSpPr/>
          <p:nvPr/>
        </p:nvSpPr>
        <p:spPr>
          <a:xfrm>
            <a:off x="713609" y="4353036"/>
            <a:ext cx="4159800" cy="3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Petrona"/>
              <a:buNone/>
            </a:pPr>
            <a:r>
              <a:rPr b="1" i="0" lang="en-US" sz="210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Prediction Quality Comparison</a:t>
            </a:r>
            <a:endParaRPr b="0" i="0" sz="2100" u="none" cap="none" strike="noStrike"/>
          </a:p>
        </p:txBody>
      </p:sp>
      <p:sp>
        <p:nvSpPr>
          <p:cNvPr id="732" name="Google Shape;732;p33"/>
          <p:cNvSpPr/>
          <p:nvPr/>
        </p:nvSpPr>
        <p:spPr>
          <a:xfrm>
            <a:off x="691450" y="4773413"/>
            <a:ext cx="5763000" cy="1367100"/>
          </a:xfrm>
          <a:prstGeom prst="roundRect">
            <a:avLst>
              <a:gd fmla="val 4619" name="adj"/>
            </a:avLst>
          </a:prstGeom>
          <a:solidFill>
            <a:srgbClr val="FFB3B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33" name="Google Shape;733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8874" y="4991821"/>
            <a:ext cx="302300" cy="241816"/>
          </a:xfrm>
          <a:prstGeom prst="rect">
            <a:avLst/>
          </a:prstGeom>
          <a:noFill/>
          <a:ln>
            <a:noFill/>
          </a:ln>
        </p:spPr>
      </p:pic>
      <p:sp>
        <p:nvSpPr>
          <p:cNvPr id="734" name="Google Shape;734;p33"/>
          <p:cNvSpPr/>
          <p:nvPr/>
        </p:nvSpPr>
        <p:spPr>
          <a:xfrm>
            <a:off x="1362137" y="4969038"/>
            <a:ext cx="24189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68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Petrona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Without Control</a:t>
            </a:r>
            <a:endParaRPr b="0" i="0" sz="1800" u="none" cap="none" strike="noStrike"/>
          </a:p>
        </p:txBody>
      </p:sp>
      <p:sp>
        <p:nvSpPr>
          <p:cNvPr id="735" name="Google Shape;735;p33"/>
          <p:cNvSpPr/>
          <p:nvPr/>
        </p:nvSpPr>
        <p:spPr>
          <a:xfrm>
            <a:off x="897800" y="5376810"/>
            <a:ext cx="5393100" cy="8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8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Inter"/>
              <a:buNone/>
            </a:pPr>
            <a:r>
              <a:rPr b="0" i="0" lang="en-US" sz="14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Predicted trajectory is a straight line regardless of actual curve. Large residual when sensor arrives. Noisy updates.</a:t>
            </a:r>
            <a:endParaRPr b="0" i="0" sz="1450" u="none" cap="none" strike="noStrike"/>
          </a:p>
        </p:txBody>
      </p:sp>
      <p:sp>
        <p:nvSpPr>
          <p:cNvPr id="736" name="Google Shape;736;p33"/>
          <p:cNvSpPr/>
          <p:nvPr/>
        </p:nvSpPr>
        <p:spPr>
          <a:xfrm>
            <a:off x="713600" y="6321588"/>
            <a:ext cx="5763000" cy="1564200"/>
          </a:xfrm>
          <a:prstGeom prst="roundRect">
            <a:avLst>
              <a:gd fmla="val 4619" name="adj"/>
            </a:avLst>
          </a:prstGeom>
          <a:solidFill>
            <a:srgbClr val="B6FC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37" name="Google Shape;737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7799" y="6471640"/>
            <a:ext cx="302300" cy="241816"/>
          </a:xfrm>
          <a:prstGeom prst="rect">
            <a:avLst/>
          </a:prstGeom>
          <a:noFill/>
          <a:ln>
            <a:noFill/>
          </a:ln>
        </p:spPr>
      </p:pic>
      <p:sp>
        <p:nvSpPr>
          <p:cNvPr id="738" name="Google Shape;738;p33"/>
          <p:cNvSpPr/>
          <p:nvPr/>
        </p:nvSpPr>
        <p:spPr>
          <a:xfrm>
            <a:off x="1384288" y="6447822"/>
            <a:ext cx="24189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68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Petrona"/>
              <a:buNone/>
            </a:pPr>
            <a:r>
              <a:rPr b="1" i="0" lang="en-US" sz="190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With Control</a:t>
            </a:r>
            <a:endParaRPr b="0" i="0" sz="1900" u="none" cap="none" strike="noStrike"/>
          </a:p>
        </p:txBody>
      </p:sp>
      <p:sp>
        <p:nvSpPr>
          <p:cNvPr id="739" name="Google Shape;739;p33"/>
          <p:cNvSpPr/>
          <p:nvPr/>
        </p:nvSpPr>
        <p:spPr>
          <a:xfrm>
            <a:off x="920602" y="6888833"/>
            <a:ext cx="5112300" cy="8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8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Inter"/>
              <a:buNone/>
            </a:pPr>
            <a:r>
              <a:rPr b="0" i="0" lang="en-US" sz="14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Predicted trajectory follows commanded turn. Smaller innovation (residual) when sensor arrives. More stable filter, fewer large corrections.</a:t>
            </a:r>
            <a:endParaRPr b="0" i="0" sz="1450" u="none" cap="none" strike="noStrike"/>
          </a:p>
        </p:txBody>
      </p:sp>
      <p:sp>
        <p:nvSpPr>
          <p:cNvPr id="740" name="Google Shape;740;p33"/>
          <p:cNvSpPr/>
          <p:nvPr/>
        </p:nvSpPr>
        <p:spPr>
          <a:xfrm>
            <a:off x="12845075" y="7780725"/>
            <a:ext cx="1680600" cy="356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21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34"/>
          <p:cNvSpPr/>
          <p:nvPr/>
        </p:nvSpPr>
        <p:spPr>
          <a:xfrm>
            <a:off x="744260" y="760333"/>
            <a:ext cx="10394700" cy="5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2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etrona"/>
              <a:buNone/>
            </a:pPr>
            <a:r>
              <a:rPr b="1" i="0" lang="en-US" sz="350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Frame Configuration — odom vs. map World Frame</a:t>
            </a:r>
            <a:endParaRPr b="0" i="0" sz="3500" u="none" cap="none" strike="noStrike"/>
          </a:p>
        </p:txBody>
      </p:sp>
      <p:sp>
        <p:nvSpPr>
          <p:cNvPr id="747" name="Google Shape;747;p34"/>
          <p:cNvSpPr/>
          <p:nvPr/>
        </p:nvSpPr>
        <p:spPr>
          <a:xfrm>
            <a:off x="744260" y="1717119"/>
            <a:ext cx="131418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54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TF hierarchy and </a:t>
            </a:r>
            <a:r>
              <a:rPr b="0" i="0" lang="en-US" sz="1650" u="none" cap="none" strike="noStrike">
                <a:solidFill>
                  <a:srgbClr val="27252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two_d_mode</a:t>
            </a:r>
            <a:r>
              <a:rPr b="0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effects on the state vector.</a:t>
            </a:r>
            <a:endParaRPr b="0" i="0" sz="1650" u="none" cap="none" strike="noStrike"/>
          </a:p>
        </p:txBody>
      </p:sp>
      <p:sp>
        <p:nvSpPr>
          <p:cNvPr id="748" name="Google Shape;748;p34"/>
          <p:cNvSpPr/>
          <p:nvPr/>
        </p:nvSpPr>
        <p:spPr>
          <a:xfrm>
            <a:off x="744260" y="2477810"/>
            <a:ext cx="27909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50"/>
              <a:buFont typeface="Petrona"/>
              <a:buNone/>
            </a:pPr>
            <a:r>
              <a:rPr b="1" i="0" lang="en-US" sz="215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TF Frame Hierarchy</a:t>
            </a:r>
            <a:endParaRPr b="0" i="0" sz="2150" u="none" cap="none" strike="noStrike"/>
          </a:p>
        </p:txBody>
      </p:sp>
      <p:sp>
        <p:nvSpPr>
          <p:cNvPr id="749" name="Google Shape;749;p34"/>
          <p:cNvSpPr/>
          <p:nvPr/>
        </p:nvSpPr>
        <p:spPr>
          <a:xfrm>
            <a:off x="744260" y="3050858"/>
            <a:ext cx="4809000" cy="3391500"/>
          </a:xfrm>
          <a:prstGeom prst="roundRect">
            <a:avLst>
              <a:gd fmla="val 2634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p34"/>
          <p:cNvSpPr/>
          <p:nvPr/>
        </p:nvSpPr>
        <p:spPr>
          <a:xfrm>
            <a:off x="733675" y="3050848"/>
            <a:ext cx="4830000" cy="4194000"/>
          </a:xfrm>
          <a:prstGeom prst="roundRect">
            <a:avLst>
              <a:gd fmla="val 941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34"/>
          <p:cNvSpPr/>
          <p:nvPr/>
        </p:nvSpPr>
        <p:spPr>
          <a:xfrm>
            <a:off x="999411" y="3263503"/>
            <a:ext cx="4298700" cy="29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54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Consolas"/>
              <a:buNone/>
            </a:pPr>
            <a:r>
              <a:rPr b="0" i="0" lang="en-US" sz="1650" u="none" cap="none" strike="noStrike">
                <a:solidFill>
                  <a:srgbClr val="272525"/>
                </a:solidFill>
                <a:latin typeface="Consolas"/>
                <a:ea typeface="Consolas"/>
                <a:cs typeface="Consolas"/>
                <a:sym typeface="Consolas"/>
              </a:rPr>
              <a:t>map          (GPS-corrected global)</a:t>
            </a:r>
            <a:endParaRPr b="0" i="0" sz="1650" u="none" cap="none" strike="noStrike"/>
          </a:p>
          <a:p>
            <a:pPr indent="0" lvl="0" marL="0" marR="0" rtl="0" algn="l">
              <a:lnSpc>
                <a:spcPct val="15454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Consolas"/>
              <a:buNone/>
            </a:pPr>
            <a:r>
              <a:rPr b="0" i="0" lang="en-US" sz="1650" u="none" cap="none" strike="noStrike">
                <a:solidFill>
                  <a:srgbClr val="272525"/>
                </a:solidFill>
                <a:latin typeface="Consolas"/>
                <a:ea typeface="Consolas"/>
                <a:cs typeface="Consolas"/>
                <a:sym typeface="Consolas"/>
              </a:rPr>
              <a:t>│  ← EKF #2 publishes map→odom</a:t>
            </a:r>
            <a:endParaRPr b="0" i="0" sz="1650" u="none" cap="none" strike="noStrike"/>
          </a:p>
          <a:p>
            <a:pPr indent="0" lvl="0" marL="0" marR="0" rtl="0" algn="l">
              <a:lnSpc>
                <a:spcPct val="15454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Consolas"/>
              <a:buNone/>
            </a:pPr>
            <a:r>
              <a:rPr b="0" i="0" lang="en-US" sz="1650" u="none" cap="none" strike="noStrike">
                <a:solidFill>
                  <a:srgbClr val="272525"/>
                </a:solidFill>
                <a:latin typeface="Consolas"/>
                <a:ea typeface="Consolas"/>
                <a:cs typeface="Consolas"/>
                <a:sym typeface="Consolas"/>
              </a:rPr>
              <a:t>odom         (local smooth frame)</a:t>
            </a:r>
            <a:endParaRPr b="0" i="0" sz="1650" u="none" cap="none" strike="noStrike"/>
          </a:p>
          <a:p>
            <a:pPr indent="0" lvl="0" marL="0" marR="0" rtl="0" algn="l">
              <a:lnSpc>
                <a:spcPct val="15454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Consolas"/>
              <a:buNone/>
            </a:pPr>
            <a:r>
              <a:rPr b="0" i="0" lang="en-US" sz="1650" u="none" cap="none" strike="noStrike">
                <a:solidFill>
                  <a:srgbClr val="272525"/>
                </a:solidFill>
                <a:latin typeface="Consolas"/>
                <a:ea typeface="Consolas"/>
                <a:cs typeface="Consolas"/>
                <a:sym typeface="Consolas"/>
              </a:rPr>
              <a:t>│  ← EKF #1 publishes odom→base_link</a:t>
            </a:r>
            <a:endParaRPr b="0" i="0" sz="1650" u="none" cap="none" strike="noStrike"/>
          </a:p>
          <a:p>
            <a:pPr indent="0" lvl="0" marL="0" marR="0" rtl="0" algn="l">
              <a:lnSpc>
                <a:spcPct val="15454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Consolas"/>
              <a:buNone/>
            </a:pPr>
            <a:r>
              <a:rPr b="0" i="0" lang="en-US" sz="1650" u="none" cap="none" strike="noStrike">
                <a:solidFill>
                  <a:srgbClr val="272525"/>
                </a:solidFill>
                <a:latin typeface="Consolas"/>
                <a:ea typeface="Consolas"/>
                <a:cs typeface="Consolas"/>
                <a:sym typeface="Consolas"/>
              </a:rPr>
              <a:t>base_link    (robot body)</a:t>
            </a:r>
            <a:endParaRPr b="0" i="0" sz="1650" u="none" cap="none" strike="noStrike"/>
          </a:p>
          <a:p>
            <a:pPr indent="0" lvl="0" marL="0" marR="0" rtl="0" algn="l">
              <a:lnSpc>
                <a:spcPct val="15454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Consolas"/>
              <a:buNone/>
            </a:pPr>
            <a:r>
              <a:rPr b="0" i="0" lang="en-US" sz="1650" u="none" cap="none" strike="noStrike">
                <a:solidFill>
                  <a:srgbClr val="272525"/>
                </a:solidFill>
                <a:latin typeface="Consolas"/>
                <a:ea typeface="Consolas"/>
                <a:cs typeface="Consolas"/>
                <a:sym typeface="Consolas"/>
              </a:rPr>
              <a:t>├── imu_link</a:t>
            </a:r>
            <a:endParaRPr b="0" i="0" sz="1650" u="none" cap="none" strike="noStrike"/>
          </a:p>
          <a:p>
            <a:pPr indent="0" lvl="0" marL="0" marR="0" rtl="0" algn="l">
              <a:lnSpc>
                <a:spcPct val="15454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Consolas"/>
              <a:buNone/>
            </a:pPr>
            <a:r>
              <a:rPr b="0" i="0" lang="en-US" sz="1650" u="none" cap="none" strike="noStrike">
                <a:solidFill>
                  <a:srgbClr val="272525"/>
                </a:solidFill>
                <a:latin typeface="Consolas"/>
                <a:ea typeface="Consolas"/>
                <a:cs typeface="Consolas"/>
                <a:sym typeface="Consolas"/>
              </a:rPr>
              <a:t>├── gps_link</a:t>
            </a:r>
            <a:endParaRPr b="0" i="0" sz="1650" u="none" cap="none" strike="noStrike"/>
          </a:p>
          <a:p>
            <a:pPr indent="0" lvl="0" marL="0" marR="0" rtl="0" algn="l">
              <a:lnSpc>
                <a:spcPct val="15454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Consolas"/>
              <a:buNone/>
            </a:pPr>
            <a:r>
              <a:rPr b="0" i="0" lang="en-US" sz="1650" u="none" cap="none" strike="noStrike">
                <a:solidFill>
                  <a:srgbClr val="272525"/>
                </a:solidFill>
                <a:latin typeface="Consolas"/>
                <a:ea typeface="Consolas"/>
                <a:cs typeface="Consolas"/>
                <a:sym typeface="Consolas"/>
              </a:rPr>
              <a:t>├── camera_link</a:t>
            </a:r>
            <a:endParaRPr b="0" i="0" sz="1650" u="none" cap="none" strike="noStrike"/>
          </a:p>
          <a:p>
            <a:pPr indent="0" lvl="0" marL="0" marR="0" rtl="0" algn="l">
              <a:lnSpc>
                <a:spcPct val="15454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Consolas"/>
              <a:buNone/>
            </a:pPr>
            <a:r>
              <a:rPr b="0" i="0" lang="en-US" sz="1650" u="none" cap="none" strike="noStrike">
                <a:solidFill>
                  <a:srgbClr val="272525"/>
                </a:solidFill>
                <a:latin typeface="Consolas"/>
                <a:ea typeface="Consolas"/>
                <a:cs typeface="Consolas"/>
                <a:sym typeface="Consolas"/>
              </a:rPr>
              <a:t>└── lidar_link  (/tf_static)</a:t>
            </a:r>
            <a:endParaRPr b="0" i="0" sz="1650" u="none" cap="none" strike="noStrike"/>
          </a:p>
        </p:txBody>
      </p:sp>
      <p:sp>
        <p:nvSpPr>
          <p:cNvPr id="752" name="Google Shape;752;p34"/>
          <p:cNvSpPr/>
          <p:nvPr/>
        </p:nvSpPr>
        <p:spPr>
          <a:xfrm>
            <a:off x="6079450" y="2502694"/>
            <a:ext cx="3807300" cy="2604900"/>
          </a:xfrm>
          <a:prstGeom prst="roundRect">
            <a:avLst>
              <a:gd fmla="val 3429" name="adj"/>
            </a:avLst>
          </a:prstGeom>
          <a:solidFill>
            <a:srgbClr val="CCEEFF"/>
          </a:solidFill>
          <a:ln cap="flat" cmpd="sng" w="9525">
            <a:solidFill>
              <a:srgbClr val="B2D4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34"/>
          <p:cNvSpPr/>
          <p:nvPr/>
        </p:nvSpPr>
        <p:spPr>
          <a:xfrm>
            <a:off x="6299716" y="2722959"/>
            <a:ext cx="33669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54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EKF #1 — world_frame: odom</a:t>
            </a:r>
            <a:endParaRPr b="0" i="0" sz="1650" u="none" cap="none" strike="noStrike"/>
          </a:p>
        </p:txBody>
      </p:sp>
      <p:sp>
        <p:nvSpPr>
          <p:cNvPr id="754" name="Google Shape;754;p34"/>
          <p:cNvSpPr/>
          <p:nvPr/>
        </p:nvSpPr>
        <p:spPr>
          <a:xfrm>
            <a:off x="6299716" y="3231833"/>
            <a:ext cx="3366900" cy="16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54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Maintains </a:t>
            </a:r>
            <a:r>
              <a:rPr b="0" i="0" lang="en-US" sz="1650" u="none" cap="none" strike="noStrike">
                <a:solidFill>
                  <a:srgbClr val="27252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odom→base_link</a:t>
            </a:r>
            <a:r>
              <a:rPr b="0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. Smooth, continuous at 50 Hz. No GPS — drifts over time, but drift is smooth. Used for local navigation and control.</a:t>
            </a:r>
            <a:endParaRPr b="0" i="0" sz="1650" u="none" cap="none" strike="noStrike"/>
          </a:p>
        </p:txBody>
      </p:sp>
      <p:sp>
        <p:nvSpPr>
          <p:cNvPr id="755" name="Google Shape;755;p34"/>
          <p:cNvSpPr/>
          <p:nvPr/>
        </p:nvSpPr>
        <p:spPr>
          <a:xfrm>
            <a:off x="10086142" y="2502694"/>
            <a:ext cx="3807600" cy="2604900"/>
          </a:xfrm>
          <a:prstGeom prst="roundRect">
            <a:avLst>
              <a:gd fmla="val 3429" name="adj"/>
            </a:avLst>
          </a:prstGeom>
          <a:solidFill>
            <a:srgbClr val="CCEEFF"/>
          </a:solidFill>
          <a:ln cap="flat" cmpd="sng" w="9525">
            <a:solidFill>
              <a:srgbClr val="B2D4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34"/>
          <p:cNvSpPr/>
          <p:nvPr/>
        </p:nvSpPr>
        <p:spPr>
          <a:xfrm>
            <a:off x="10306407" y="2722959"/>
            <a:ext cx="33669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54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EKF #2 — world_frame: map</a:t>
            </a:r>
            <a:endParaRPr b="0" i="0" sz="1650" u="none" cap="none" strike="noStrike"/>
          </a:p>
        </p:txBody>
      </p:sp>
      <p:sp>
        <p:nvSpPr>
          <p:cNvPr id="757" name="Google Shape;757;p34"/>
          <p:cNvSpPr/>
          <p:nvPr/>
        </p:nvSpPr>
        <p:spPr>
          <a:xfrm>
            <a:off x="10306407" y="3231833"/>
            <a:ext cx="3366900" cy="16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54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Maintains </a:t>
            </a:r>
            <a:r>
              <a:rPr b="0" i="0" lang="en-US" sz="1650" u="none" cap="none" strike="noStrike">
                <a:solidFill>
                  <a:srgbClr val="27252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map→odom</a:t>
            </a:r>
            <a:r>
              <a:rPr b="0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as a slowly-updated correction offset. GPS shifts this offset to correct global position without disrupting the smooth odom frame.</a:t>
            </a:r>
            <a:endParaRPr b="0" i="0" sz="1650" u="none" cap="none" strike="noStrike"/>
          </a:p>
        </p:txBody>
      </p:sp>
      <p:sp>
        <p:nvSpPr>
          <p:cNvPr id="758" name="Google Shape;758;p34"/>
          <p:cNvSpPr/>
          <p:nvPr/>
        </p:nvSpPr>
        <p:spPr>
          <a:xfrm>
            <a:off x="6079450" y="5306854"/>
            <a:ext cx="7814100" cy="1938000"/>
          </a:xfrm>
          <a:prstGeom prst="roundRect">
            <a:avLst>
              <a:gd fmla="val 4608" name="adj"/>
            </a:avLst>
          </a:prstGeom>
          <a:solidFill>
            <a:srgbClr val="CCEEFF"/>
          </a:solidFill>
          <a:ln cap="flat" cmpd="sng" w="9525">
            <a:solidFill>
              <a:srgbClr val="B2D4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9" name="Google Shape;759;p34"/>
          <p:cNvSpPr/>
          <p:nvPr/>
        </p:nvSpPr>
        <p:spPr>
          <a:xfrm>
            <a:off x="6299716" y="5527119"/>
            <a:ext cx="73737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54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two_d_mode: true</a:t>
            </a:r>
            <a:endParaRPr b="0" i="0" sz="1650" u="none" cap="none" strike="noStrike"/>
          </a:p>
        </p:txBody>
      </p:sp>
      <p:sp>
        <p:nvSpPr>
          <p:cNvPr id="760" name="Google Shape;760;p34"/>
          <p:cNvSpPr/>
          <p:nvPr/>
        </p:nvSpPr>
        <p:spPr>
          <a:xfrm>
            <a:off x="6299716" y="6035992"/>
            <a:ext cx="7373700" cy="9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54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Forces z=0 (ground robot). Removes roll/pitch from state. Zeroes z, roll, pitch rows in Q, P, and sensor config. Reduces effective state </a:t>
            </a:r>
            <a:r>
              <a:rPr b="1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15D → 6D</a:t>
            </a:r>
            <a:r>
              <a:rPr b="0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. Faster computation, no 3D drift.</a:t>
            </a:r>
            <a:endParaRPr b="0" i="0" sz="1650" u="none" cap="none" strike="noStrike"/>
          </a:p>
        </p:txBody>
      </p:sp>
      <p:sp>
        <p:nvSpPr>
          <p:cNvPr id="761" name="Google Shape;761;p34"/>
          <p:cNvSpPr/>
          <p:nvPr/>
        </p:nvSpPr>
        <p:spPr>
          <a:xfrm>
            <a:off x="12845075" y="7780725"/>
            <a:ext cx="1680600" cy="356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22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35"/>
          <p:cNvSpPr/>
          <p:nvPr/>
        </p:nvSpPr>
        <p:spPr>
          <a:xfrm>
            <a:off x="706993" y="776168"/>
            <a:ext cx="8849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Petrona"/>
              <a:buNone/>
            </a:pPr>
            <a:r>
              <a:rPr b="1" i="0" lang="en-US" sz="330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Baseline EKF Results — Performance Analysis</a:t>
            </a:r>
            <a:endParaRPr b="0" i="0" sz="3300" u="none" cap="none" strike="noStrike"/>
          </a:p>
        </p:txBody>
      </p:sp>
      <p:sp>
        <p:nvSpPr>
          <p:cNvPr id="768" name="Google Shape;768;p35"/>
          <p:cNvSpPr/>
          <p:nvPr/>
        </p:nvSpPr>
        <p:spPr>
          <a:xfrm>
            <a:off x="706993" y="1666161"/>
            <a:ext cx="13216500" cy="6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83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50"/>
              <a:buFont typeface="Inter"/>
              <a:buNone/>
            </a:pPr>
            <a:r>
              <a:rPr b="0" i="0" lang="en-US" sz="15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Gazebo ground truth comparison: </a:t>
            </a:r>
            <a:r>
              <a:rPr b="1" i="0" lang="en-US" sz="15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|ekf_global − ground_truth|</a:t>
            </a:r>
            <a:r>
              <a:rPr b="0" i="0" lang="en-US" sz="15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in metres. Husarion Lynx UGV driven in a figure-8 pattern for 2+ minutes. Ground truth from OdometryPublisher plugin (zero noise, exact model pose, 50 Hz).</a:t>
            </a:r>
            <a:endParaRPr b="0" i="0" sz="1550" u="none" cap="none" strike="noStrike"/>
          </a:p>
        </p:txBody>
      </p:sp>
      <p:sp>
        <p:nvSpPr>
          <p:cNvPr id="769" name="Google Shape;769;p35"/>
          <p:cNvSpPr/>
          <p:nvPr/>
        </p:nvSpPr>
        <p:spPr>
          <a:xfrm>
            <a:off x="706993" y="2479596"/>
            <a:ext cx="4285500" cy="2855100"/>
          </a:xfrm>
          <a:prstGeom prst="roundRect">
            <a:avLst>
              <a:gd fmla="val 2972" name="adj"/>
            </a:avLst>
          </a:prstGeom>
          <a:solidFill>
            <a:srgbClr val="FFFFFF">
              <a:alpha val="94900"/>
            </a:srgbClr>
          </a:solidFill>
          <a:ln cap="flat" cmpd="sng" w="22850">
            <a:solidFill>
              <a:srgbClr val="B2D4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0" name="Google Shape;770;p35"/>
          <p:cNvSpPr/>
          <p:nvPr/>
        </p:nvSpPr>
        <p:spPr>
          <a:xfrm>
            <a:off x="931783" y="2704386"/>
            <a:ext cx="2651400" cy="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50"/>
              <a:buFont typeface="Petrona"/>
              <a:buNone/>
            </a:pPr>
            <a:r>
              <a:rPr b="1" i="0" lang="en-US" sz="205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📈</a:t>
            </a:r>
            <a:r>
              <a:rPr b="1" i="0" lang="en-US" sz="205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 Trajectory Plot</a:t>
            </a:r>
            <a:endParaRPr b="0" i="0" sz="2050" u="none" cap="none" strike="noStrike"/>
          </a:p>
        </p:txBody>
      </p:sp>
      <p:sp>
        <p:nvSpPr>
          <p:cNvPr id="771" name="Google Shape;771;p35"/>
          <p:cNvSpPr/>
          <p:nvPr/>
        </p:nvSpPr>
        <p:spPr>
          <a:xfrm>
            <a:off x="931783" y="3151227"/>
            <a:ext cx="3836100" cy="16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83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50"/>
              <a:buFont typeface="Inter"/>
              <a:buNone/>
            </a:pPr>
            <a:r>
              <a:rPr b="1" i="0" lang="en-US" sz="15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White dashed</a:t>
            </a:r>
            <a:r>
              <a:rPr b="0" i="0" lang="en-US" sz="15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: Gazebo ground truth</a:t>
            </a:r>
            <a:endParaRPr b="0" i="0" sz="1550" u="none" cap="none" strike="noStrike"/>
          </a:p>
          <a:p>
            <a:pPr indent="0" lvl="0" marL="0" marR="0" rtl="0" algn="l">
              <a:lnSpc>
                <a:spcPct val="15483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50"/>
              <a:buFont typeface="Inter"/>
              <a:buNone/>
            </a:pPr>
            <a:r>
              <a:rPr b="1" i="0" lang="en-US" sz="15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Blue</a:t>
            </a:r>
            <a:r>
              <a:rPr b="0" i="0" lang="en-US" sz="15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: ekf_local — drifts as wheel slip accumulates</a:t>
            </a:r>
            <a:endParaRPr b="0" i="0" sz="1550" u="none" cap="none" strike="noStrike"/>
          </a:p>
          <a:p>
            <a:pPr indent="0" lvl="0" marL="0" marR="0" rtl="0" algn="l">
              <a:lnSpc>
                <a:spcPct val="15483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50"/>
              <a:buFont typeface="Inter"/>
              <a:buNone/>
            </a:pPr>
            <a:r>
              <a:rPr b="1" i="0" lang="en-US" sz="15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Green</a:t>
            </a:r>
            <a:r>
              <a:rPr b="0" i="0" lang="en-US" sz="15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: ekf_global — GPS-corrected, stays close to truth</a:t>
            </a:r>
            <a:endParaRPr b="0" i="0" sz="1550" u="none" cap="none" strike="noStrike"/>
          </a:p>
        </p:txBody>
      </p:sp>
      <p:sp>
        <p:nvSpPr>
          <p:cNvPr id="772" name="Google Shape;772;p35"/>
          <p:cNvSpPr/>
          <p:nvPr/>
        </p:nvSpPr>
        <p:spPr>
          <a:xfrm>
            <a:off x="5172432" y="2479596"/>
            <a:ext cx="4285500" cy="2855100"/>
          </a:xfrm>
          <a:prstGeom prst="roundRect">
            <a:avLst>
              <a:gd fmla="val 2972" name="adj"/>
            </a:avLst>
          </a:prstGeom>
          <a:solidFill>
            <a:srgbClr val="FFFFFF">
              <a:alpha val="94900"/>
            </a:srgbClr>
          </a:solidFill>
          <a:ln cap="flat" cmpd="sng" w="22850">
            <a:solidFill>
              <a:srgbClr val="B2D4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3" name="Google Shape;773;p35"/>
          <p:cNvSpPr/>
          <p:nvPr/>
        </p:nvSpPr>
        <p:spPr>
          <a:xfrm>
            <a:off x="5397222" y="2704386"/>
            <a:ext cx="2651400" cy="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50"/>
              <a:buFont typeface="Petrona"/>
              <a:buNone/>
            </a:pPr>
            <a:r>
              <a:rPr b="1" i="0" lang="en-US" sz="205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⏱</a:t>
            </a:r>
            <a:r>
              <a:rPr b="1" i="0" lang="en-US" sz="205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 Drift Over Time</a:t>
            </a:r>
            <a:endParaRPr b="0" i="0" sz="2050" u="none" cap="none" strike="noStrike"/>
          </a:p>
        </p:txBody>
      </p:sp>
      <p:sp>
        <p:nvSpPr>
          <p:cNvPr id="774" name="Google Shape;774;p35"/>
          <p:cNvSpPr/>
          <p:nvPr/>
        </p:nvSpPr>
        <p:spPr>
          <a:xfrm>
            <a:off x="5397222" y="3151227"/>
            <a:ext cx="3836100" cy="19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483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50"/>
              <a:buFont typeface="Inter"/>
              <a:buChar char="•"/>
            </a:pPr>
            <a:r>
              <a:rPr b="0" i="0" lang="en-US" sz="15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ekf_local: monotonically increasing (unbounded)</a:t>
            </a:r>
            <a:endParaRPr b="0" i="0" sz="1550" u="none" cap="none" strike="noStrike"/>
          </a:p>
          <a:p>
            <a:pPr indent="-342900" lvl="0" marL="342900" marR="0" rtl="0" algn="l">
              <a:lnSpc>
                <a:spcPct val="15483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50"/>
              <a:buFont typeface="Inter"/>
              <a:buChar char="•"/>
            </a:pPr>
            <a:r>
              <a:rPr b="0" i="0" lang="en-US" sz="15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ekf_global: oscillates around a small value as GPS corrections pull it back</a:t>
            </a:r>
            <a:endParaRPr b="0" i="0" sz="1550" u="none" cap="none" strike="noStrike"/>
          </a:p>
          <a:p>
            <a:pPr indent="-342900" lvl="0" marL="342900" marR="0" rtl="0" algn="l">
              <a:lnSpc>
                <a:spcPct val="15483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50"/>
              <a:buFont typeface="Inter"/>
              <a:buChar char="•"/>
            </a:pPr>
            <a:r>
              <a:rPr b="1" i="0" lang="en-US" sz="15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Target threshold: ≤ 10 m over 2-minute run</a:t>
            </a:r>
            <a:endParaRPr b="0" i="0" sz="1550" u="none" cap="none" strike="noStrike"/>
          </a:p>
        </p:txBody>
      </p:sp>
      <p:sp>
        <p:nvSpPr>
          <p:cNvPr id="775" name="Google Shape;775;p35"/>
          <p:cNvSpPr/>
          <p:nvPr/>
        </p:nvSpPr>
        <p:spPr>
          <a:xfrm>
            <a:off x="9637871" y="2479596"/>
            <a:ext cx="4285500" cy="2855100"/>
          </a:xfrm>
          <a:prstGeom prst="roundRect">
            <a:avLst>
              <a:gd fmla="val 2972" name="adj"/>
            </a:avLst>
          </a:prstGeom>
          <a:solidFill>
            <a:srgbClr val="FFFFFF">
              <a:alpha val="94900"/>
            </a:srgbClr>
          </a:solidFill>
          <a:ln cap="flat" cmpd="sng" w="22850">
            <a:solidFill>
              <a:srgbClr val="B2D4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p35"/>
          <p:cNvSpPr/>
          <p:nvPr/>
        </p:nvSpPr>
        <p:spPr>
          <a:xfrm>
            <a:off x="9862661" y="2704386"/>
            <a:ext cx="2666100" cy="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50"/>
              <a:buFont typeface="Petrona"/>
              <a:buNone/>
            </a:pPr>
            <a:r>
              <a:rPr b="1" i="0" lang="en-US" sz="205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🔁</a:t>
            </a:r>
            <a:r>
              <a:rPr b="1" i="0" lang="en-US" sz="205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 Velocity RMSE (vx)</a:t>
            </a:r>
            <a:endParaRPr b="0" i="0" sz="2050" u="none" cap="none" strike="noStrike"/>
          </a:p>
        </p:txBody>
      </p:sp>
      <p:sp>
        <p:nvSpPr>
          <p:cNvPr id="777" name="Google Shape;777;p35"/>
          <p:cNvSpPr/>
          <p:nvPr/>
        </p:nvSpPr>
        <p:spPr>
          <a:xfrm>
            <a:off x="9862661" y="3151227"/>
            <a:ext cx="3836100" cy="19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83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50"/>
              <a:buFont typeface="Inter"/>
              <a:buNone/>
            </a:pPr>
            <a:r>
              <a:rPr b="0" i="0" lang="en-US" sz="15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Wheel vx σ: </a:t>
            </a:r>
            <a:r>
              <a:rPr b="1" i="0" lang="en-US" sz="15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0.032 m/s</a:t>
            </a:r>
            <a:r>
              <a:rPr b="0" i="0" lang="en-US" sz="15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→ EKF-smoothed after fusion</a:t>
            </a:r>
            <a:endParaRPr b="0" i="0" sz="1550" u="none" cap="none" strike="noStrike"/>
          </a:p>
          <a:p>
            <a:pPr indent="-342900" lvl="0" marL="342900" marR="0" rtl="0" algn="l">
              <a:lnSpc>
                <a:spcPct val="15483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50"/>
              <a:buFont typeface="Inter"/>
              <a:buChar char="•"/>
            </a:pPr>
            <a:r>
              <a:rPr b="0" i="0" lang="en-US" sz="15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LiDAR vyaw: most reliable angular source</a:t>
            </a:r>
            <a:endParaRPr b="0" i="0" sz="1550" u="none" cap="none" strike="noStrike"/>
          </a:p>
          <a:p>
            <a:pPr indent="-342900" lvl="0" marL="342900" marR="0" rtl="0" algn="l">
              <a:lnSpc>
                <a:spcPct val="15483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50"/>
              <a:buFont typeface="Inter"/>
              <a:buChar char="•"/>
            </a:pPr>
            <a:r>
              <a:rPr b="0" i="0" lang="en-US" sz="15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Fusion reduces velocity noise across all channels</a:t>
            </a:r>
            <a:endParaRPr b="0" i="0" sz="1550" u="none" cap="none" strike="noStrike"/>
          </a:p>
        </p:txBody>
      </p:sp>
      <p:sp>
        <p:nvSpPr>
          <p:cNvPr id="778" name="Google Shape;778;p35"/>
          <p:cNvSpPr/>
          <p:nvPr/>
        </p:nvSpPr>
        <p:spPr>
          <a:xfrm>
            <a:off x="706993" y="5514737"/>
            <a:ext cx="13216500" cy="1938600"/>
          </a:xfrm>
          <a:prstGeom prst="roundRect">
            <a:avLst>
              <a:gd fmla="val 4377" name="adj"/>
            </a:avLst>
          </a:prstGeom>
          <a:solidFill>
            <a:srgbClr val="FFFFFF">
              <a:alpha val="94900"/>
            </a:srgbClr>
          </a:solidFill>
          <a:ln cap="flat" cmpd="sng" w="22850">
            <a:solidFill>
              <a:srgbClr val="B2D4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9" name="Google Shape;779;p35"/>
          <p:cNvSpPr/>
          <p:nvPr/>
        </p:nvSpPr>
        <p:spPr>
          <a:xfrm>
            <a:off x="931783" y="5739527"/>
            <a:ext cx="3062400" cy="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50"/>
              <a:buFont typeface="Petrona"/>
              <a:buNone/>
            </a:pPr>
            <a:r>
              <a:rPr b="1" i="0" lang="en-US" sz="205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📉</a:t>
            </a:r>
            <a:r>
              <a:rPr b="1" i="0" lang="en-US" sz="205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 Covariance Reduction</a:t>
            </a:r>
            <a:endParaRPr b="0" i="0" sz="2050" u="none" cap="none" strike="noStrike"/>
          </a:p>
        </p:txBody>
      </p:sp>
      <p:sp>
        <p:nvSpPr>
          <p:cNvPr id="780" name="Google Shape;780;p35"/>
          <p:cNvSpPr/>
          <p:nvPr/>
        </p:nvSpPr>
        <p:spPr>
          <a:xfrm>
            <a:off x="931783" y="6186368"/>
            <a:ext cx="12766800" cy="10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83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50"/>
              <a:buFont typeface="Inter"/>
              <a:buNone/>
            </a:pPr>
            <a:r>
              <a:rPr b="0" i="0" lang="en-US" sz="15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GPS: σ=0.5 m → EKF: </a:t>
            </a:r>
            <a:r>
              <a:rPr b="1" i="0" lang="en-US" sz="15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~0.15 m</a:t>
            </a:r>
            <a:r>
              <a:rPr b="0" i="0" lang="en-US" sz="15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after convergence</a:t>
            </a:r>
            <a:endParaRPr b="0" i="0" sz="1550" u="none" cap="none" strike="noStrike"/>
          </a:p>
          <a:p>
            <a:pPr indent="-342900" lvl="0" marL="342900" marR="0" rtl="0" algn="l">
              <a:lnSpc>
                <a:spcPct val="15483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50"/>
              <a:buFont typeface="Inter"/>
              <a:buChar char="•"/>
            </a:pPr>
            <a:r>
              <a:rPr b="0" i="0" lang="en-US" sz="15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IMU gyro Z: σ=0.204 → LiDAR yaw dominates after fusion</a:t>
            </a:r>
            <a:endParaRPr b="0" i="0" sz="1550" u="none" cap="none" strike="noStrike"/>
          </a:p>
          <a:p>
            <a:pPr indent="-342900" lvl="0" marL="342900" marR="0" rtl="0" algn="l">
              <a:lnSpc>
                <a:spcPct val="15483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50"/>
              <a:buFont typeface="Inter"/>
              <a:buChar char="•"/>
            </a:pPr>
            <a:r>
              <a:rPr b="0" i="0" lang="en-US" sz="15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 diagonal ≪ individual R values post-fusion</a:t>
            </a:r>
            <a:endParaRPr b="0" i="0" sz="1550" u="none" cap="none" strike="noStrike"/>
          </a:p>
        </p:txBody>
      </p:sp>
      <p:pic>
        <p:nvPicPr>
          <p:cNvPr id="781" name="Google Shape;781;p35" title="Veclotiy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10394" y="2245625"/>
            <a:ext cx="9150825" cy="5103001"/>
          </a:xfrm>
          <a:prstGeom prst="rect">
            <a:avLst/>
          </a:prstGeom>
          <a:noFill/>
          <a:ln>
            <a:noFill/>
          </a:ln>
        </p:spPr>
      </p:pic>
      <p:sp>
        <p:nvSpPr>
          <p:cNvPr id="782" name="Google Shape;782;p35"/>
          <p:cNvSpPr/>
          <p:nvPr/>
        </p:nvSpPr>
        <p:spPr>
          <a:xfrm>
            <a:off x="12845075" y="7780725"/>
            <a:ext cx="1680600" cy="356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23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36"/>
          <p:cNvSpPr/>
          <p:nvPr/>
        </p:nvSpPr>
        <p:spPr>
          <a:xfrm>
            <a:off x="706993" y="776168"/>
            <a:ext cx="8849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Petrona"/>
              <a:buNone/>
            </a:pPr>
            <a:r>
              <a:rPr b="1" i="0" lang="en-US" sz="330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Baseline EKF Results — Performance Analysis</a:t>
            </a:r>
            <a:endParaRPr b="0" i="0" sz="3300" u="none" cap="none" strike="noStrike"/>
          </a:p>
        </p:txBody>
      </p:sp>
      <p:sp>
        <p:nvSpPr>
          <p:cNvPr id="789" name="Google Shape;789;p36"/>
          <p:cNvSpPr/>
          <p:nvPr/>
        </p:nvSpPr>
        <p:spPr>
          <a:xfrm>
            <a:off x="706993" y="1666161"/>
            <a:ext cx="13216500" cy="6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83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50"/>
              <a:buFont typeface="Inter"/>
              <a:buNone/>
            </a:pPr>
            <a:r>
              <a:rPr b="0" i="0" lang="en-US" sz="15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Gazebo ground truth comparison: </a:t>
            </a:r>
            <a:r>
              <a:rPr b="1" i="0" lang="en-US" sz="15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|ekf_global − ground_truth|</a:t>
            </a:r>
            <a:r>
              <a:rPr b="0" i="0" lang="en-US" sz="15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in metres. Husarion Lynx UGV driven in a figure-8 pattern for 2+ minutes. Ground truth from OdometryPublisher plugin (zero noise, exact model pose, 50 Hz).</a:t>
            </a:r>
            <a:endParaRPr b="0" i="0" sz="1550" u="none" cap="none" strike="noStrike"/>
          </a:p>
        </p:txBody>
      </p:sp>
      <p:sp>
        <p:nvSpPr>
          <p:cNvPr id="790" name="Google Shape;790;p36"/>
          <p:cNvSpPr/>
          <p:nvPr/>
        </p:nvSpPr>
        <p:spPr>
          <a:xfrm>
            <a:off x="706993" y="2479596"/>
            <a:ext cx="4285500" cy="2855100"/>
          </a:xfrm>
          <a:prstGeom prst="roundRect">
            <a:avLst>
              <a:gd fmla="val 2972" name="adj"/>
            </a:avLst>
          </a:prstGeom>
          <a:solidFill>
            <a:srgbClr val="FFFFFF">
              <a:alpha val="94900"/>
            </a:srgbClr>
          </a:solidFill>
          <a:ln cap="flat" cmpd="sng" w="22850">
            <a:solidFill>
              <a:srgbClr val="B2D4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1" name="Google Shape;791;p36"/>
          <p:cNvSpPr/>
          <p:nvPr/>
        </p:nvSpPr>
        <p:spPr>
          <a:xfrm>
            <a:off x="931783" y="2704386"/>
            <a:ext cx="2651400" cy="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50"/>
              <a:buFont typeface="Petrona"/>
              <a:buNone/>
            </a:pPr>
            <a:r>
              <a:rPr b="1" i="0" lang="en-US" sz="205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📈</a:t>
            </a:r>
            <a:r>
              <a:rPr b="1" i="0" lang="en-US" sz="205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 Trajectory Plot</a:t>
            </a:r>
            <a:endParaRPr b="0" i="0" sz="2050" u="none" cap="none" strike="noStrike"/>
          </a:p>
        </p:txBody>
      </p:sp>
      <p:sp>
        <p:nvSpPr>
          <p:cNvPr id="792" name="Google Shape;792;p36"/>
          <p:cNvSpPr/>
          <p:nvPr/>
        </p:nvSpPr>
        <p:spPr>
          <a:xfrm>
            <a:off x="931783" y="3151227"/>
            <a:ext cx="3836100" cy="16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83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50"/>
              <a:buFont typeface="Inter"/>
              <a:buNone/>
            </a:pPr>
            <a:r>
              <a:rPr b="1" i="0" lang="en-US" sz="15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White dashed</a:t>
            </a:r>
            <a:r>
              <a:rPr b="0" i="0" lang="en-US" sz="15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: Gazebo ground truth</a:t>
            </a:r>
            <a:endParaRPr b="0" i="0" sz="1550" u="none" cap="none" strike="noStrike"/>
          </a:p>
          <a:p>
            <a:pPr indent="0" lvl="0" marL="0" marR="0" rtl="0" algn="l">
              <a:lnSpc>
                <a:spcPct val="15483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50"/>
              <a:buFont typeface="Inter"/>
              <a:buNone/>
            </a:pPr>
            <a:r>
              <a:rPr b="1" i="0" lang="en-US" sz="15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Blue</a:t>
            </a:r>
            <a:r>
              <a:rPr b="0" i="0" lang="en-US" sz="15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: ekf_local — drifts as wheel slip accumulates</a:t>
            </a:r>
            <a:endParaRPr b="0" i="0" sz="1550" u="none" cap="none" strike="noStrike"/>
          </a:p>
          <a:p>
            <a:pPr indent="0" lvl="0" marL="0" marR="0" rtl="0" algn="l">
              <a:lnSpc>
                <a:spcPct val="15483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50"/>
              <a:buFont typeface="Inter"/>
              <a:buNone/>
            </a:pPr>
            <a:r>
              <a:rPr b="1" i="0" lang="en-US" sz="15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Green</a:t>
            </a:r>
            <a:r>
              <a:rPr b="0" i="0" lang="en-US" sz="15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: ekf_global — GPS-corrected, stays close to truth</a:t>
            </a:r>
            <a:endParaRPr b="0" i="0" sz="1550" u="none" cap="none" strike="noStrike"/>
          </a:p>
        </p:txBody>
      </p:sp>
      <p:sp>
        <p:nvSpPr>
          <p:cNvPr id="793" name="Google Shape;793;p36"/>
          <p:cNvSpPr/>
          <p:nvPr/>
        </p:nvSpPr>
        <p:spPr>
          <a:xfrm>
            <a:off x="5172432" y="2479596"/>
            <a:ext cx="4285500" cy="2855100"/>
          </a:xfrm>
          <a:prstGeom prst="roundRect">
            <a:avLst>
              <a:gd fmla="val 2972" name="adj"/>
            </a:avLst>
          </a:prstGeom>
          <a:solidFill>
            <a:srgbClr val="FFFFFF">
              <a:alpha val="94900"/>
            </a:srgbClr>
          </a:solidFill>
          <a:ln cap="flat" cmpd="sng" w="22850">
            <a:solidFill>
              <a:srgbClr val="B2D4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4" name="Google Shape;794;p36"/>
          <p:cNvSpPr/>
          <p:nvPr/>
        </p:nvSpPr>
        <p:spPr>
          <a:xfrm>
            <a:off x="5397222" y="2704386"/>
            <a:ext cx="2651400" cy="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50"/>
              <a:buFont typeface="Petrona"/>
              <a:buNone/>
            </a:pPr>
            <a:r>
              <a:rPr b="1" i="0" lang="en-US" sz="205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⏱</a:t>
            </a:r>
            <a:r>
              <a:rPr b="1" i="0" lang="en-US" sz="205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 Drift Over Time</a:t>
            </a:r>
            <a:endParaRPr b="0" i="0" sz="2050" u="none" cap="none" strike="noStrike"/>
          </a:p>
        </p:txBody>
      </p:sp>
      <p:sp>
        <p:nvSpPr>
          <p:cNvPr id="795" name="Google Shape;795;p36"/>
          <p:cNvSpPr/>
          <p:nvPr/>
        </p:nvSpPr>
        <p:spPr>
          <a:xfrm>
            <a:off x="5397222" y="3151227"/>
            <a:ext cx="3836100" cy="19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483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50"/>
              <a:buFont typeface="Inter"/>
              <a:buChar char="•"/>
            </a:pPr>
            <a:r>
              <a:rPr b="0" i="0" lang="en-US" sz="15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ekf_local: monotonically increasing (unbounded)</a:t>
            </a:r>
            <a:endParaRPr b="0" i="0" sz="1550" u="none" cap="none" strike="noStrike"/>
          </a:p>
          <a:p>
            <a:pPr indent="-342900" lvl="0" marL="342900" marR="0" rtl="0" algn="l">
              <a:lnSpc>
                <a:spcPct val="15483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50"/>
              <a:buFont typeface="Inter"/>
              <a:buChar char="•"/>
            </a:pPr>
            <a:r>
              <a:rPr b="0" i="0" lang="en-US" sz="15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ekf_global: oscillates around a small value as GPS corrections pull it back</a:t>
            </a:r>
            <a:endParaRPr b="0" i="0" sz="1550" u="none" cap="none" strike="noStrike"/>
          </a:p>
          <a:p>
            <a:pPr indent="-342900" lvl="0" marL="342900" marR="0" rtl="0" algn="l">
              <a:lnSpc>
                <a:spcPct val="15483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50"/>
              <a:buFont typeface="Inter"/>
              <a:buChar char="•"/>
            </a:pPr>
            <a:r>
              <a:rPr b="1" i="0" lang="en-US" sz="15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Target threshold: ≤ 10 m over 2-minute run</a:t>
            </a:r>
            <a:endParaRPr b="0" i="0" sz="1550" u="none" cap="none" strike="noStrike"/>
          </a:p>
        </p:txBody>
      </p:sp>
      <p:sp>
        <p:nvSpPr>
          <p:cNvPr id="796" name="Google Shape;796;p36"/>
          <p:cNvSpPr/>
          <p:nvPr/>
        </p:nvSpPr>
        <p:spPr>
          <a:xfrm>
            <a:off x="9637871" y="2479596"/>
            <a:ext cx="4285500" cy="2855100"/>
          </a:xfrm>
          <a:prstGeom prst="roundRect">
            <a:avLst>
              <a:gd fmla="val 2972" name="adj"/>
            </a:avLst>
          </a:prstGeom>
          <a:solidFill>
            <a:srgbClr val="FFFFFF">
              <a:alpha val="94900"/>
            </a:srgbClr>
          </a:solidFill>
          <a:ln cap="flat" cmpd="sng" w="22850">
            <a:solidFill>
              <a:srgbClr val="B2D4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7" name="Google Shape;797;p36"/>
          <p:cNvSpPr/>
          <p:nvPr/>
        </p:nvSpPr>
        <p:spPr>
          <a:xfrm>
            <a:off x="9862661" y="2704386"/>
            <a:ext cx="2666100" cy="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50"/>
              <a:buFont typeface="Petrona"/>
              <a:buNone/>
            </a:pPr>
            <a:r>
              <a:rPr b="1" i="0" lang="en-US" sz="205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🔁</a:t>
            </a:r>
            <a:r>
              <a:rPr b="1" i="0" lang="en-US" sz="205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 Velocity RMSE (vx)</a:t>
            </a:r>
            <a:endParaRPr b="0" i="0" sz="2050" u="none" cap="none" strike="noStrike"/>
          </a:p>
        </p:txBody>
      </p:sp>
      <p:sp>
        <p:nvSpPr>
          <p:cNvPr id="798" name="Google Shape;798;p36"/>
          <p:cNvSpPr/>
          <p:nvPr/>
        </p:nvSpPr>
        <p:spPr>
          <a:xfrm>
            <a:off x="9862661" y="3151227"/>
            <a:ext cx="3836100" cy="19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83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50"/>
              <a:buFont typeface="Inter"/>
              <a:buNone/>
            </a:pPr>
            <a:r>
              <a:rPr b="0" i="0" lang="en-US" sz="15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Wheel vx σ: </a:t>
            </a:r>
            <a:r>
              <a:rPr b="1" i="0" lang="en-US" sz="15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0.032 m/s</a:t>
            </a:r>
            <a:r>
              <a:rPr b="0" i="0" lang="en-US" sz="15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→ EKF-smoothed after fusion</a:t>
            </a:r>
            <a:endParaRPr b="0" i="0" sz="1550" u="none" cap="none" strike="noStrike"/>
          </a:p>
          <a:p>
            <a:pPr indent="-342900" lvl="0" marL="342900" marR="0" rtl="0" algn="l">
              <a:lnSpc>
                <a:spcPct val="15483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50"/>
              <a:buFont typeface="Inter"/>
              <a:buChar char="•"/>
            </a:pPr>
            <a:r>
              <a:rPr b="0" i="0" lang="en-US" sz="15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LiDAR vyaw: most reliable angular source</a:t>
            </a:r>
            <a:endParaRPr b="0" i="0" sz="1550" u="none" cap="none" strike="noStrike"/>
          </a:p>
          <a:p>
            <a:pPr indent="-342900" lvl="0" marL="342900" marR="0" rtl="0" algn="l">
              <a:lnSpc>
                <a:spcPct val="15483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50"/>
              <a:buFont typeface="Inter"/>
              <a:buChar char="•"/>
            </a:pPr>
            <a:r>
              <a:rPr b="0" i="0" lang="en-US" sz="15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Fusion reduces velocity noise across all channels</a:t>
            </a:r>
            <a:endParaRPr b="0" i="0" sz="1550" u="none" cap="none" strike="noStrike"/>
          </a:p>
        </p:txBody>
      </p:sp>
      <p:sp>
        <p:nvSpPr>
          <p:cNvPr id="799" name="Google Shape;799;p36"/>
          <p:cNvSpPr/>
          <p:nvPr/>
        </p:nvSpPr>
        <p:spPr>
          <a:xfrm>
            <a:off x="706993" y="5514737"/>
            <a:ext cx="13216500" cy="1938600"/>
          </a:xfrm>
          <a:prstGeom prst="roundRect">
            <a:avLst>
              <a:gd fmla="val 4377" name="adj"/>
            </a:avLst>
          </a:prstGeom>
          <a:solidFill>
            <a:srgbClr val="FFFFFF">
              <a:alpha val="94900"/>
            </a:srgbClr>
          </a:solidFill>
          <a:ln cap="flat" cmpd="sng" w="22850">
            <a:solidFill>
              <a:srgbClr val="B2D4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0" name="Google Shape;800;p36"/>
          <p:cNvSpPr/>
          <p:nvPr/>
        </p:nvSpPr>
        <p:spPr>
          <a:xfrm>
            <a:off x="931783" y="5739527"/>
            <a:ext cx="3062400" cy="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50"/>
              <a:buFont typeface="Petrona"/>
              <a:buNone/>
            </a:pPr>
            <a:r>
              <a:rPr b="1" i="0" lang="en-US" sz="205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📉</a:t>
            </a:r>
            <a:r>
              <a:rPr b="1" i="0" lang="en-US" sz="205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 Covariance Reduction</a:t>
            </a:r>
            <a:endParaRPr b="0" i="0" sz="2050" u="none" cap="none" strike="noStrike"/>
          </a:p>
        </p:txBody>
      </p:sp>
      <p:sp>
        <p:nvSpPr>
          <p:cNvPr id="801" name="Google Shape;801;p36"/>
          <p:cNvSpPr/>
          <p:nvPr/>
        </p:nvSpPr>
        <p:spPr>
          <a:xfrm>
            <a:off x="931783" y="6186368"/>
            <a:ext cx="12766800" cy="10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83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50"/>
              <a:buFont typeface="Inter"/>
              <a:buNone/>
            </a:pPr>
            <a:r>
              <a:rPr b="0" i="0" lang="en-US" sz="15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GPS: σ=0.5 m → EKF: </a:t>
            </a:r>
            <a:r>
              <a:rPr b="1" i="0" lang="en-US" sz="15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~0.15 m</a:t>
            </a:r>
            <a:r>
              <a:rPr b="0" i="0" lang="en-US" sz="15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after convergence</a:t>
            </a:r>
            <a:endParaRPr b="0" i="0" sz="1550" u="none" cap="none" strike="noStrike"/>
          </a:p>
          <a:p>
            <a:pPr indent="-342900" lvl="0" marL="342900" marR="0" rtl="0" algn="l">
              <a:lnSpc>
                <a:spcPct val="15483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50"/>
              <a:buFont typeface="Inter"/>
              <a:buChar char="•"/>
            </a:pPr>
            <a:r>
              <a:rPr b="0" i="0" lang="en-US" sz="15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IMU gyro Z: σ=0.204 → LiDAR yaw dominates after fusion</a:t>
            </a:r>
            <a:endParaRPr b="0" i="0" sz="1550" u="none" cap="none" strike="noStrike"/>
          </a:p>
          <a:p>
            <a:pPr indent="-342900" lvl="0" marL="342900" marR="0" rtl="0" algn="l">
              <a:lnSpc>
                <a:spcPct val="15483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50"/>
              <a:buFont typeface="Inter"/>
              <a:buChar char="•"/>
            </a:pPr>
            <a:r>
              <a:rPr b="0" i="0" lang="en-US" sz="15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 diagonal ≪ individual R values post-fusion</a:t>
            </a:r>
            <a:endParaRPr b="0" i="0" sz="1550" u="none" cap="none" strike="noStrike"/>
          </a:p>
        </p:txBody>
      </p:sp>
      <p:pic>
        <p:nvPicPr>
          <p:cNvPr id="802" name="Google Shape;802;p36" title="Trajectory.jpeg"/>
          <p:cNvPicPr preferRelativeResize="0"/>
          <p:nvPr/>
        </p:nvPicPr>
        <p:blipFill rotWithShape="1">
          <a:blip r:embed="rId3">
            <a:alphaModFix/>
          </a:blip>
          <a:srcRect b="0" l="0" r="29168" t="0"/>
          <a:stretch/>
        </p:blipFill>
        <p:spPr>
          <a:xfrm>
            <a:off x="218700" y="2414300"/>
            <a:ext cx="9337700" cy="5039025"/>
          </a:xfrm>
          <a:prstGeom prst="rect">
            <a:avLst/>
          </a:prstGeom>
          <a:noFill/>
          <a:ln>
            <a:noFill/>
          </a:ln>
        </p:spPr>
      </p:pic>
      <p:sp>
        <p:nvSpPr>
          <p:cNvPr id="803" name="Google Shape;803;p36"/>
          <p:cNvSpPr/>
          <p:nvPr/>
        </p:nvSpPr>
        <p:spPr>
          <a:xfrm>
            <a:off x="12845075" y="7780725"/>
            <a:ext cx="1680600" cy="356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24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37"/>
          <p:cNvSpPr/>
          <p:nvPr/>
        </p:nvSpPr>
        <p:spPr>
          <a:xfrm>
            <a:off x="706993" y="776168"/>
            <a:ext cx="8849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Petrona"/>
              <a:buNone/>
            </a:pPr>
            <a:r>
              <a:rPr b="1" i="0" lang="en-US" sz="330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Baseline EKF Results — Performance Analysis</a:t>
            </a:r>
            <a:endParaRPr b="0" i="0" sz="3300" u="none" cap="none" strike="noStrike"/>
          </a:p>
        </p:txBody>
      </p:sp>
      <p:sp>
        <p:nvSpPr>
          <p:cNvPr id="810" name="Google Shape;810;p37"/>
          <p:cNvSpPr/>
          <p:nvPr/>
        </p:nvSpPr>
        <p:spPr>
          <a:xfrm>
            <a:off x="706993" y="1666161"/>
            <a:ext cx="13216500" cy="6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83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50"/>
              <a:buFont typeface="Inter"/>
              <a:buNone/>
            </a:pPr>
            <a:r>
              <a:rPr b="0" i="0" lang="en-US" sz="15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Gazebo ground truth comparison: </a:t>
            </a:r>
            <a:r>
              <a:rPr b="1" i="0" lang="en-US" sz="15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|ekf_global − ground_truth|</a:t>
            </a:r>
            <a:r>
              <a:rPr b="0" i="0" lang="en-US" sz="15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in metres. Husarion Lynx UGV driven in a figure-8 pattern for 2+ minutes. Ground truth from OdometryPublisher plugin (zero noise, exact model pose, 50 Hz).</a:t>
            </a:r>
            <a:endParaRPr b="0" i="0" sz="1550" u="none" cap="none" strike="noStrike"/>
          </a:p>
        </p:txBody>
      </p:sp>
      <p:sp>
        <p:nvSpPr>
          <p:cNvPr id="811" name="Google Shape;811;p37"/>
          <p:cNvSpPr/>
          <p:nvPr/>
        </p:nvSpPr>
        <p:spPr>
          <a:xfrm>
            <a:off x="706993" y="2479596"/>
            <a:ext cx="4285500" cy="2855100"/>
          </a:xfrm>
          <a:prstGeom prst="roundRect">
            <a:avLst>
              <a:gd fmla="val 2972" name="adj"/>
            </a:avLst>
          </a:prstGeom>
          <a:solidFill>
            <a:srgbClr val="FFFFFF">
              <a:alpha val="94900"/>
            </a:srgbClr>
          </a:solidFill>
          <a:ln cap="flat" cmpd="sng" w="22850">
            <a:solidFill>
              <a:srgbClr val="B2D4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2" name="Google Shape;812;p37"/>
          <p:cNvSpPr/>
          <p:nvPr/>
        </p:nvSpPr>
        <p:spPr>
          <a:xfrm>
            <a:off x="931783" y="2704386"/>
            <a:ext cx="2651400" cy="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50"/>
              <a:buFont typeface="Petrona"/>
              <a:buNone/>
            </a:pPr>
            <a:r>
              <a:rPr b="1" i="0" lang="en-US" sz="205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📈</a:t>
            </a:r>
            <a:r>
              <a:rPr b="1" i="0" lang="en-US" sz="205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 Trajectory Plot</a:t>
            </a:r>
            <a:endParaRPr b="0" i="0" sz="2050" u="none" cap="none" strike="noStrike"/>
          </a:p>
        </p:txBody>
      </p:sp>
      <p:sp>
        <p:nvSpPr>
          <p:cNvPr id="813" name="Google Shape;813;p37"/>
          <p:cNvSpPr/>
          <p:nvPr/>
        </p:nvSpPr>
        <p:spPr>
          <a:xfrm>
            <a:off x="931783" y="3180993"/>
            <a:ext cx="3836100" cy="16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83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50"/>
              <a:buFont typeface="Inter"/>
              <a:buNone/>
            </a:pPr>
            <a:r>
              <a:rPr b="1" i="0" lang="en-US" sz="15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White dashed</a:t>
            </a:r>
            <a:r>
              <a:rPr b="0" i="0" lang="en-US" sz="15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: Gazebo ground truth</a:t>
            </a:r>
            <a:endParaRPr b="0" i="0" sz="1550" u="none" cap="none" strike="noStrike"/>
          </a:p>
          <a:p>
            <a:pPr indent="0" lvl="0" marL="0" marR="0" rtl="0" algn="l">
              <a:lnSpc>
                <a:spcPct val="15483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50"/>
              <a:buFont typeface="Inter"/>
              <a:buNone/>
            </a:pPr>
            <a:r>
              <a:rPr b="1" i="0" lang="en-US" sz="15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Blue</a:t>
            </a:r>
            <a:r>
              <a:rPr b="0" i="0" lang="en-US" sz="15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: ekf_local — drifts as wheel slip accumulates</a:t>
            </a:r>
            <a:endParaRPr b="0" i="0" sz="1550" u="none" cap="none" strike="noStrike"/>
          </a:p>
          <a:p>
            <a:pPr indent="0" lvl="0" marL="0" marR="0" rtl="0" algn="l">
              <a:lnSpc>
                <a:spcPct val="15483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50"/>
              <a:buFont typeface="Inter"/>
              <a:buNone/>
            </a:pPr>
            <a:r>
              <a:rPr b="1" i="0" lang="en-US" sz="15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Green</a:t>
            </a:r>
            <a:r>
              <a:rPr b="0" i="0" lang="en-US" sz="15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: ekf_global — GPS-corrected, stays close to truth</a:t>
            </a:r>
            <a:endParaRPr b="0" i="0" sz="1550" u="none" cap="none" strike="noStrike"/>
          </a:p>
        </p:txBody>
      </p:sp>
      <p:sp>
        <p:nvSpPr>
          <p:cNvPr id="814" name="Google Shape;814;p37"/>
          <p:cNvSpPr/>
          <p:nvPr/>
        </p:nvSpPr>
        <p:spPr>
          <a:xfrm>
            <a:off x="5172432" y="2479596"/>
            <a:ext cx="4285500" cy="2855100"/>
          </a:xfrm>
          <a:prstGeom prst="roundRect">
            <a:avLst>
              <a:gd fmla="val 2972" name="adj"/>
            </a:avLst>
          </a:prstGeom>
          <a:solidFill>
            <a:srgbClr val="FFFFFF">
              <a:alpha val="94900"/>
            </a:srgbClr>
          </a:solidFill>
          <a:ln cap="flat" cmpd="sng" w="22850">
            <a:solidFill>
              <a:srgbClr val="B2D4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5" name="Google Shape;815;p37"/>
          <p:cNvSpPr/>
          <p:nvPr/>
        </p:nvSpPr>
        <p:spPr>
          <a:xfrm>
            <a:off x="5397222" y="2704386"/>
            <a:ext cx="2651400" cy="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50"/>
              <a:buFont typeface="Petrona"/>
              <a:buNone/>
            </a:pPr>
            <a:r>
              <a:rPr b="1" i="0" lang="en-US" sz="205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⏱</a:t>
            </a:r>
            <a:r>
              <a:rPr b="1" i="0" lang="en-US" sz="205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 Drift Over Time</a:t>
            </a:r>
            <a:endParaRPr b="0" i="0" sz="2050" u="none" cap="none" strike="noStrike"/>
          </a:p>
        </p:txBody>
      </p:sp>
      <p:sp>
        <p:nvSpPr>
          <p:cNvPr id="816" name="Google Shape;816;p37"/>
          <p:cNvSpPr/>
          <p:nvPr/>
        </p:nvSpPr>
        <p:spPr>
          <a:xfrm>
            <a:off x="5397222" y="3200836"/>
            <a:ext cx="3836100" cy="19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483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50"/>
              <a:buFont typeface="Inter"/>
              <a:buChar char="•"/>
            </a:pPr>
            <a:r>
              <a:rPr b="0" i="0" lang="en-US" sz="15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ekf_local: monotonically increasing (unbounded)</a:t>
            </a:r>
            <a:endParaRPr b="0" i="0" sz="1550" u="none" cap="none" strike="noStrike"/>
          </a:p>
          <a:p>
            <a:pPr indent="-342900" lvl="0" marL="342900" marR="0" rtl="0" algn="l">
              <a:lnSpc>
                <a:spcPct val="15483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50"/>
              <a:buFont typeface="Inter"/>
              <a:buChar char="•"/>
            </a:pPr>
            <a:r>
              <a:rPr b="0" i="0" lang="en-US" sz="15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ekf_global: oscillates around a small value as GPS corrections pull it back</a:t>
            </a:r>
            <a:endParaRPr b="0" i="0" sz="1550" u="none" cap="none" strike="noStrike"/>
          </a:p>
          <a:p>
            <a:pPr indent="0" lvl="0" marL="0" marR="0" rtl="0" algn="l">
              <a:lnSpc>
                <a:spcPct val="1548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50" u="none" cap="none" strike="noStrike"/>
          </a:p>
        </p:txBody>
      </p:sp>
      <p:sp>
        <p:nvSpPr>
          <p:cNvPr id="817" name="Google Shape;817;p37"/>
          <p:cNvSpPr/>
          <p:nvPr/>
        </p:nvSpPr>
        <p:spPr>
          <a:xfrm>
            <a:off x="9637871" y="2479596"/>
            <a:ext cx="4285500" cy="2855100"/>
          </a:xfrm>
          <a:prstGeom prst="roundRect">
            <a:avLst>
              <a:gd fmla="val 2972" name="adj"/>
            </a:avLst>
          </a:prstGeom>
          <a:solidFill>
            <a:srgbClr val="FFFFFF">
              <a:alpha val="94900"/>
            </a:srgbClr>
          </a:solidFill>
          <a:ln cap="flat" cmpd="sng" w="22850">
            <a:solidFill>
              <a:srgbClr val="B2D4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8" name="Google Shape;818;p37"/>
          <p:cNvSpPr/>
          <p:nvPr/>
        </p:nvSpPr>
        <p:spPr>
          <a:xfrm>
            <a:off x="9862661" y="2704386"/>
            <a:ext cx="2666100" cy="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50"/>
              <a:buFont typeface="Petrona"/>
              <a:buNone/>
            </a:pPr>
            <a:r>
              <a:rPr b="1" i="0" lang="en-US" sz="205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🔁</a:t>
            </a:r>
            <a:r>
              <a:rPr b="1" i="0" lang="en-US" sz="205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 Velocity RMSE (vx)</a:t>
            </a:r>
            <a:endParaRPr b="0" i="0" sz="2050" u="none" cap="none" strike="noStrike"/>
          </a:p>
        </p:txBody>
      </p:sp>
      <p:sp>
        <p:nvSpPr>
          <p:cNvPr id="819" name="Google Shape;819;p37"/>
          <p:cNvSpPr/>
          <p:nvPr/>
        </p:nvSpPr>
        <p:spPr>
          <a:xfrm>
            <a:off x="9862661" y="3151227"/>
            <a:ext cx="3836100" cy="19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83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50"/>
              <a:buFont typeface="Inter"/>
              <a:buNone/>
            </a:pPr>
            <a:r>
              <a:rPr b="0" i="0" lang="en-US" sz="15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Wheel vx σ: </a:t>
            </a:r>
            <a:r>
              <a:rPr b="1" i="0" lang="en-US" sz="15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0.032 m/s</a:t>
            </a:r>
            <a:r>
              <a:rPr b="0" i="0" lang="en-US" sz="15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→ EKF-smoothed after fusion</a:t>
            </a:r>
            <a:endParaRPr b="0" i="0" sz="1550" u="none" cap="none" strike="noStrike"/>
          </a:p>
          <a:p>
            <a:pPr indent="-342900" lvl="0" marL="342900" marR="0" rtl="0" algn="l">
              <a:lnSpc>
                <a:spcPct val="15483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50"/>
              <a:buFont typeface="Inter"/>
              <a:buChar char="•"/>
            </a:pPr>
            <a:r>
              <a:rPr b="0" i="0" lang="en-US" sz="15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LiDAR vyaw: most reliable angular source</a:t>
            </a:r>
            <a:endParaRPr b="0" i="0" sz="1550" u="none" cap="none" strike="noStrike"/>
          </a:p>
          <a:p>
            <a:pPr indent="-342900" lvl="0" marL="342900" marR="0" rtl="0" algn="l">
              <a:lnSpc>
                <a:spcPct val="15483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50"/>
              <a:buFont typeface="Inter"/>
              <a:buChar char="•"/>
            </a:pPr>
            <a:r>
              <a:rPr b="0" i="0" lang="en-US" sz="15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Fusion reduces velocity noise across all channels</a:t>
            </a:r>
            <a:endParaRPr b="0" i="0" sz="1550" u="none" cap="none" strike="noStrike"/>
          </a:p>
        </p:txBody>
      </p:sp>
      <p:sp>
        <p:nvSpPr>
          <p:cNvPr id="820" name="Google Shape;820;p37"/>
          <p:cNvSpPr/>
          <p:nvPr/>
        </p:nvSpPr>
        <p:spPr>
          <a:xfrm>
            <a:off x="706993" y="5514737"/>
            <a:ext cx="13216500" cy="1938600"/>
          </a:xfrm>
          <a:prstGeom prst="roundRect">
            <a:avLst>
              <a:gd fmla="val 4377" name="adj"/>
            </a:avLst>
          </a:prstGeom>
          <a:solidFill>
            <a:srgbClr val="FFFFFF">
              <a:alpha val="94900"/>
            </a:srgbClr>
          </a:solidFill>
          <a:ln cap="flat" cmpd="sng" w="22850">
            <a:solidFill>
              <a:srgbClr val="B2D4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1" name="Google Shape;821;p37"/>
          <p:cNvSpPr/>
          <p:nvPr/>
        </p:nvSpPr>
        <p:spPr>
          <a:xfrm>
            <a:off x="931783" y="5739527"/>
            <a:ext cx="3062400" cy="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50"/>
              <a:buFont typeface="Petrona"/>
              <a:buNone/>
            </a:pPr>
            <a:r>
              <a:rPr b="1" i="0" lang="en-US" sz="205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📉</a:t>
            </a:r>
            <a:r>
              <a:rPr b="1" i="0" lang="en-US" sz="205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 Covariance Reduction</a:t>
            </a:r>
            <a:endParaRPr b="0" i="0" sz="2050" u="none" cap="none" strike="noStrike"/>
          </a:p>
        </p:txBody>
      </p:sp>
      <p:sp>
        <p:nvSpPr>
          <p:cNvPr id="822" name="Google Shape;822;p37"/>
          <p:cNvSpPr/>
          <p:nvPr/>
        </p:nvSpPr>
        <p:spPr>
          <a:xfrm>
            <a:off x="931783" y="6186368"/>
            <a:ext cx="12766800" cy="10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83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50"/>
              <a:buFont typeface="Inter"/>
              <a:buNone/>
            </a:pPr>
            <a:r>
              <a:rPr b="0" i="0" lang="en-US" sz="15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GPS: σ=0.5 m → EKF: </a:t>
            </a:r>
            <a:r>
              <a:rPr b="1" i="0" lang="en-US" sz="15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~0.15 m</a:t>
            </a:r>
            <a:r>
              <a:rPr b="0" i="0" lang="en-US" sz="15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after convergence</a:t>
            </a:r>
            <a:endParaRPr b="0" i="0" sz="1550" u="none" cap="none" strike="noStrike"/>
          </a:p>
          <a:p>
            <a:pPr indent="-342900" lvl="0" marL="342900" marR="0" rtl="0" algn="l">
              <a:lnSpc>
                <a:spcPct val="15483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50"/>
              <a:buFont typeface="Inter"/>
              <a:buChar char="•"/>
            </a:pPr>
            <a:r>
              <a:rPr b="0" i="0" lang="en-US" sz="15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IMU gyro Z: σ=0.204 → LiDAR yaw dominates after fusion</a:t>
            </a:r>
            <a:endParaRPr b="0" i="0" sz="1550" u="none" cap="none" strike="noStrike"/>
          </a:p>
          <a:p>
            <a:pPr indent="-342900" lvl="0" marL="342900" marR="0" rtl="0" algn="l">
              <a:lnSpc>
                <a:spcPct val="15483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50"/>
              <a:buFont typeface="Inter"/>
              <a:buChar char="•"/>
            </a:pPr>
            <a:r>
              <a:rPr b="0" i="0" lang="en-US" sz="15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 diagonal ≪ individual R values post-fusion</a:t>
            </a:r>
            <a:endParaRPr b="0" i="0" sz="1550" u="none" cap="none" strike="noStrike"/>
          </a:p>
        </p:txBody>
      </p:sp>
      <p:sp>
        <p:nvSpPr>
          <p:cNvPr id="823" name="Google Shape;823;p37"/>
          <p:cNvSpPr/>
          <p:nvPr/>
        </p:nvSpPr>
        <p:spPr>
          <a:xfrm>
            <a:off x="12845075" y="7780725"/>
            <a:ext cx="1680600" cy="356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25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p38"/>
          <p:cNvSpPr/>
          <p:nvPr/>
        </p:nvSpPr>
        <p:spPr>
          <a:xfrm>
            <a:off x="793801" y="1234450"/>
            <a:ext cx="12385200" cy="5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Petrona"/>
              <a:buNone/>
            </a:pPr>
            <a:r>
              <a:rPr b="1" i="0" lang="en-US" sz="375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Summary — Baseline Dual-EKF Architecture (Part 1)</a:t>
            </a:r>
            <a:endParaRPr b="0" i="0" sz="3750" u="none" cap="none" strike="noStrike"/>
          </a:p>
        </p:txBody>
      </p:sp>
      <p:sp>
        <p:nvSpPr>
          <p:cNvPr id="830" name="Google Shape;830;p38"/>
          <p:cNvSpPr/>
          <p:nvPr/>
        </p:nvSpPr>
        <p:spPr>
          <a:xfrm>
            <a:off x="793790" y="2283500"/>
            <a:ext cx="130428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Five sensors · Two EKFs · Data-driven noise characterisation · Principled parameter tuning</a:t>
            </a:r>
            <a:endParaRPr b="0" i="0" sz="1750" u="none" cap="none" strike="noStrike"/>
          </a:p>
        </p:txBody>
      </p:sp>
      <p:sp>
        <p:nvSpPr>
          <p:cNvPr id="831" name="Google Shape;831;p38"/>
          <p:cNvSpPr/>
          <p:nvPr/>
        </p:nvSpPr>
        <p:spPr>
          <a:xfrm>
            <a:off x="793790" y="2901553"/>
            <a:ext cx="4536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Petrona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01</a:t>
            </a:r>
            <a:endParaRPr b="0" i="0" sz="1750" u="none" cap="none" strike="noStrike"/>
          </a:p>
        </p:txBody>
      </p:sp>
      <p:sp>
        <p:nvSpPr>
          <p:cNvPr id="832" name="Google Shape;832;p38"/>
          <p:cNvSpPr/>
          <p:nvPr/>
        </p:nvSpPr>
        <p:spPr>
          <a:xfrm>
            <a:off x="793790" y="3256598"/>
            <a:ext cx="6408000" cy="30600"/>
          </a:xfrm>
          <a:prstGeom prst="rect">
            <a:avLst/>
          </a:prstGeom>
          <a:solidFill>
            <a:srgbClr val="007EB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3" name="Google Shape;833;p38"/>
          <p:cNvSpPr/>
          <p:nvPr/>
        </p:nvSpPr>
        <p:spPr>
          <a:xfrm>
            <a:off x="793790" y="3430905"/>
            <a:ext cx="3968700" cy="3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8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300"/>
              <a:buFont typeface="Petrona"/>
              <a:buNone/>
            </a:pPr>
            <a:r>
              <a:rPr b="1" i="0" lang="en-US" sz="23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Five Sensor Modalities Fused</a:t>
            </a:r>
            <a:endParaRPr b="0" i="0" sz="2300" u="none" cap="none" strike="noStrike"/>
          </a:p>
        </p:txBody>
      </p:sp>
      <p:sp>
        <p:nvSpPr>
          <p:cNvPr id="834" name="Google Shape;834;p38"/>
          <p:cNvSpPr/>
          <p:nvPr/>
        </p:nvSpPr>
        <p:spPr>
          <a:xfrm>
            <a:off x="793790" y="3939064"/>
            <a:ext cx="6408000" cy="10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Each contributes where strongest — IMU for orientation, wheel odom for velocity, LiDAR/VO for geometry, GPS for global anchor.</a:t>
            </a:r>
            <a:endParaRPr b="0" i="0" sz="1750" u="none" cap="none" strike="noStrike"/>
          </a:p>
        </p:txBody>
      </p:sp>
      <p:sp>
        <p:nvSpPr>
          <p:cNvPr id="835" name="Google Shape;835;p38"/>
          <p:cNvSpPr/>
          <p:nvPr/>
        </p:nvSpPr>
        <p:spPr>
          <a:xfrm>
            <a:off x="7428548" y="2901553"/>
            <a:ext cx="4536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Petrona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02</a:t>
            </a:r>
            <a:endParaRPr b="0" i="0" sz="1750" u="none" cap="none" strike="noStrike"/>
          </a:p>
        </p:txBody>
      </p:sp>
      <p:sp>
        <p:nvSpPr>
          <p:cNvPr id="836" name="Google Shape;836;p38"/>
          <p:cNvSpPr/>
          <p:nvPr/>
        </p:nvSpPr>
        <p:spPr>
          <a:xfrm>
            <a:off x="7428548" y="3256598"/>
            <a:ext cx="6408000" cy="30600"/>
          </a:xfrm>
          <a:prstGeom prst="rect">
            <a:avLst/>
          </a:prstGeom>
          <a:solidFill>
            <a:srgbClr val="007EB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7" name="Google Shape;837;p38"/>
          <p:cNvSpPr/>
          <p:nvPr/>
        </p:nvSpPr>
        <p:spPr>
          <a:xfrm>
            <a:off x="7428548" y="3430905"/>
            <a:ext cx="2976900" cy="3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8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300"/>
              <a:buFont typeface="Petrona"/>
              <a:buNone/>
            </a:pPr>
            <a:r>
              <a:rPr b="1" i="0" lang="en-US" sz="23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Dual-EKF Pattern</a:t>
            </a:r>
            <a:endParaRPr b="0" i="0" sz="2300" u="none" cap="none" strike="noStrike"/>
          </a:p>
        </p:txBody>
      </p:sp>
      <p:sp>
        <p:nvSpPr>
          <p:cNvPr id="838" name="Google Shape;838;p38"/>
          <p:cNvSpPr/>
          <p:nvPr/>
        </p:nvSpPr>
        <p:spPr>
          <a:xfrm>
            <a:off x="7428548" y="3939064"/>
            <a:ext cx="6408000" cy="10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EKF #1 (odom): smooth continuous local estimate. EKF #2 (map): GPS-corrected global. Separation prevents GPS jitter from reaching local navigation.</a:t>
            </a:r>
            <a:endParaRPr b="0" i="0" sz="1750" u="none" cap="none" strike="noStrike"/>
          </a:p>
        </p:txBody>
      </p:sp>
      <p:sp>
        <p:nvSpPr>
          <p:cNvPr id="839" name="Google Shape;839;p38"/>
          <p:cNvSpPr/>
          <p:nvPr/>
        </p:nvSpPr>
        <p:spPr>
          <a:xfrm>
            <a:off x="793790" y="5424607"/>
            <a:ext cx="4536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Petrona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03</a:t>
            </a:r>
            <a:endParaRPr b="0" i="0" sz="1750" u="none" cap="none" strike="noStrike"/>
          </a:p>
        </p:txBody>
      </p:sp>
      <p:sp>
        <p:nvSpPr>
          <p:cNvPr id="840" name="Google Shape;840;p38"/>
          <p:cNvSpPr/>
          <p:nvPr/>
        </p:nvSpPr>
        <p:spPr>
          <a:xfrm>
            <a:off x="793790" y="5779651"/>
            <a:ext cx="13042800" cy="30600"/>
          </a:xfrm>
          <a:prstGeom prst="rect">
            <a:avLst/>
          </a:prstGeom>
          <a:solidFill>
            <a:srgbClr val="007EB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1" name="Google Shape;841;p38"/>
          <p:cNvSpPr/>
          <p:nvPr/>
        </p:nvSpPr>
        <p:spPr>
          <a:xfrm>
            <a:off x="793790" y="5953958"/>
            <a:ext cx="4483800" cy="3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8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300"/>
              <a:buFont typeface="Petrona"/>
              <a:buNone/>
            </a:pPr>
            <a:r>
              <a:rPr b="1" i="0" lang="en-US" sz="23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All R Values from Measured Data</a:t>
            </a:r>
            <a:endParaRPr b="0" i="0" sz="2300" u="none" cap="none" strike="noStrike"/>
          </a:p>
        </p:txBody>
      </p:sp>
      <p:sp>
        <p:nvSpPr>
          <p:cNvPr id="842" name="Google Shape;842;p38"/>
          <p:cNvSpPr/>
          <p:nvPr/>
        </p:nvSpPr>
        <p:spPr>
          <a:xfrm>
            <a:off x="793790" y="6462117"/>
            <a:ext cx="130428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Stationary logs prove IMU gyro Z is </a:t>
            </a:r>
            <a:r>
              <a:rPr b="1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184× noisier</a:t>
            </a: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than gyro X — informs channel trust levels and threshold settings.</a:t>
            </a:r>
            <a:endParaRPr b="0" i="0" sz="1750" u="none" cap="none" strike="noStrike"/>
          </a:p>
        </p:txBody>
      </p:sp>
      <p:sp>
        <p:nvSpPr>
          <p:cNvPr id="843" name="Google Shape;843;p38"/>
          <p:cNvSpPr/>
          <p:nvPr/>
        </p:nvSpPr>
        <p:spPr>
          <a:xfrm>
            <a:off x="12845075" y="7780725"/>
            <a:ext cx="1680600" cy="356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39"/>
          <p:cNvSpPr/>
          <p:nvPr/>
        </p:nvSpPr>
        <p:spPr>
          <a:xfrm>
            <a:off x="793802" y="974650"/>
            <a:ext cx="13340400" cy="5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Petrona"/>
              <a:buNone/>
            </a:pPr>
            <a:r>
              <a:rPr b="1" i="0" lang="en-US" sz="375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Summary — Baseline Dual-EKF Architecture (Part 2)</a:t>
            </a:r>
            <a:endParaRPr b="0" i="0" sz="3750" u="none" cap="none" strike="noStrike"/>
          </a:p>
        </p:txBody>
      </p:sp>
      <p:sp>
        <p:nvSpPr>
          <p:cNvPr id="850" name="Google Shape;850;p39"/>
          <p:cNvSpPr/>
          <p:nvPr/>
        </p:nvSpPr>
        <p:spPr>
          <a:xfrm>
            <a:off x="793790" y="2023705"/>
            <a:ext cx="130428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Five sensors · Two EKFs · Data-driven noise characterisation · Principled parameter tuning</a:t>
            </a:r>
            <a:endParaRPr b="0" i="0" sz="1750" u="none" cap="none" strike="noStrike"/>
          </a:p>
        </p:txBody>
      </p:sp>
      <p:sp>
        <p:nvSpPr>
          <p:cNvPr id="851" name="Google Shape;851;p39"/>
          <p:cNvSpPr/>
          <p:nvPr/>
        </p:nvSpPr>
        <p:spPr>
          <a:xfrm>
            <a:off x="793790" y="2641759"/>
            <a:ext cx="4536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Petrona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01</a:t>
            </a:r>
            <a:endParaRPr b="0" i="0" sz="1750" u="none" cap="none" strike="noStrike"/>
          </a:p>
        </p:txBody>
      </p:sp>
      <p:sp>
        <p:nvSpPr>
          <p:cNvPr id="852" name="Google Shape;852;p39"/>
          <p:cNvSpPr/>
          <p:nvPr/>
        </p:nvSpPr>
        <p:spPr>
          <a:xfrm>
            <a:off x="793790" y="2996803"/>
            <a:ext cx="4196400" cy="30600"/>
          </a:xfrm>
          <a:prstGeom prst="rect">
            <a:avLst/>
          </a:prstGeom>
          <a:solidFill>
            <a:srgbClr val="007EB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3" name="Google Shape;853;p39"/>
          <p:cNvSpPr/>
          <p:nvPr/>
        </p:nvSpPr>
        <p:spPr>
          <a:xfrm>
            <a:off x="793790" y="3171111"/>
            <a:ext cx="4196400" cy="7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8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300"/>
              <a:buFont typeface="Petrona"/>
              <a:buNone/>
            </a:pPr>
            <a:r>
              <a:rPr b="1" i="0" lang="en-US" sz="23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Differential Mode for VO + LiDAR</a:t>
            </a:r>
            <a:endParaRPr b="0" i="0" sz="2300" u="none" cap="none" strike="noStrike"/>
          </a:p>
        </p:txBody>
      </p:sp>
      <p:sp>
        <p:nvSpPr>
          <p:cNvPr id="854" name="Google Shape;854;p39"/>
          <p:cNvSpPr/>
          <p:nvPr/>
        </p:nvSpPr>
        <p:spPr>
          <a:xfrm>
            <a:off x="793790" y="4051340"/>
            <a:ext cx="4196400" cy="14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Protects against loop-closure jumps while retaining relative motion benefit. Mahalanobis gate rejects large Δ spikes.</a:t>
            </a:r>
            <a:endParaRPr b="0" i="0" sz="1750" u="none" cap="none" strike="noStrike"/>
          </a:p>
        </p:txBody>
      </p:sp>
      <p:sp>
        <p:nvSpPr>
          <p:cNvPr id="855" name="Google Shape;855;p39"/>
          <p:cNvSpPr/>
          <p:nvPr/>
        </p:nvSpPr>
        <p:spPr>
          <a:xfrm>
            <a:off x="5216962" y="2641759"/>
            <a:ext cx="4536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Petrona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02</a:t>
            </a:r>
            <a:endParaRPr b="0" i="0" sz="1750" u="none" cap="none" strike="noStrike"/>
          </a:p>
        </p:txBody>
      </p:sp>
      <p:sp>
        <p:nvSpPr>
          <p:cNvPr id="856" name="Google Shape;856;p39"/>
          <p:cNvSpPr/>
          <p:nvPr/>
        </p:nvSpPr>
        <p:spPr>
          <a:xfrm>
            <a:off x="5216962" y="2996803"/>
            <a:ext cx="4196400" cy="30600"/>
          </a:xfrm>
          <a:prstGeom prst="rect">
            <a:avLst/>
          </a:prstGeom>
          <a:solidFill>
            <a:srgbClr val="007EB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7" name="Google Shape;857;p39"/>
          <p:cNvSpPr/>
          <p:nvPr/>
        </p:nvSpPr>
        <p:spPr>
          <a:xfrm>
            <a:off x="5216962" y="3171111"/>
            <a:ext cx="4196400" cy="7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8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300"/>
              <a:buFont typeface="Petrona"/>
              <a:buNone/>
            </a:pPr>
            <a:r>
              <a:rPr b="1" i="0" lang="en-US" sz="23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Process Noise Q from First Principles</a:t>
            </a:r>
            <a:endParaRPr b="0" i="0" sz="2300" u="none" cap="none" strike="noStrike"/>
          </a:p>
        </p:txBody>
      </p:sp>
      <p:sp>
        <p:nvSpPr>
          <p:cNvPr id="858" name="Google Shape;858;p39"/>
          <p:cNvSpPr/>
          <p:nvPr/>
        </p:nvSpPr>
        <p:spPr>
          <a:xfrm>
            <a:off x="5216962" y="4051340"/>
            <a:ext cx="4196400" cy="14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Q_x=0.025 from Δx=0.01 m at 50 Hz. Q_yaw=0.06 from gyro Z variance. Matched to expected per-step state change.</a:t>
            </a:r>
            <a:endParaRPr b="0" i="0" sz="1750" u="none" cap="none" strike="noStrike"/>
          </a:p>
        </p:txBody>
      </p:sp>
      <p:sp>
        <p:nvSpPr>
          <p:cNvPr id="859" name="Google Shape;859;p39"/>
          <p:cNvSpPr/>
          <p:nvPr/>
        </p:nvSpPr>
        <p:spPr>
          <a:xfrm>
            <a:off x="9640133" y="2641759"/>
            <a:ext cx="4536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Petrona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03</a:t>
            </a:r>
            <a:endParaRPr b="0" i="0" sz="1750" u="none" cap="none" strike="noStrike"/>
          </a:p>
        </p:txBody>
      </p:sp>
      <p:sp>
        <p:nvSpPr>
          <p:cNvPr id="860" name="Google Shape;860;p39"/>
          <p:cNvSpPr/>
          <p:nvPr/>
        </p:nvSpPr>
        <p:spPr>
          <a:xfrm>
            <a:off x="9640133" y="2996803"/>
            <a:ext cx="4196400" cy="30600"/>
          </a:xfrm>
          <a:prstGeom prst="rect">
            <a:avLst/>
          </a:prstGeom>
          <a:solidFill>
            <a:srgbClr val="007EB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1" name="Google Shape;861;p39"/>
          <p:cNvSpPr/>
          <p:nvPr/>
        </p:nvSpPr>
        <p:spPr>
          <a:xfrm>
            <a:off x="9640133" y="3171111"/>
            <a:ext cx="4196400" cy="7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8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300"/>
              <a:buFont typeface="Petrona"/>
              <a:buNone/>
            </a:pPr>
            <a:r>
              <a:rPr b="1" i="0" lang="en-US" sz="23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Drift Metric: |ekf_global − Ground Truth|</a:t>
            </a:r>
            <a:endParaRPr b="0" i="0" sz="2300" u="none" cap="none" strike="noStrike"/>
          </a:p>
        </p:txBody>
      </p:sp>
      <p:sp>
        <p:nvSpPr>
          <p:cNvPr id="862" name="Google Shape;862;p39"/>
          <p:cNvSpPr/>
          <p:nvPr/>
        </p:nvSpPr>
        <p:spPr>
          <a:xfrm>
            <a:off x="9640133" y="4051340"/>
            <a:ext cx="4196400" cy="18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Honest comparison against zero-noise simulator pose. Target: ≤ 10 m over 2-minute run. ekf_local drifts unboundedly; GPS in ekf_global bounds error.</a:t>
            </a:r>
            <a:endParaRPr b="0" i="0" sz="1750" u="none" cap="none" strike="noStrike"/>
          </a:p>
        </p:txBody>
      </p:sp>
      <p:sp>
        <p:nvSpPr>
          <p:cNvPr id="863" name="Google Shape;863;p39"/>
          <p:cNvSpPr/>
          <p:nvPr/>
        </p:nvSpPr>
        <p:spPr>
          <a:xfrm>
            <a:off x="793790" y="6291024"/>
            <a:ext cx="13042800" cy="963900"/>
          </a:xfrm>
          <a:prstGeom prst="roundRect">
            <a:avLst>
              <a:gd fmla="val 9884" name="adj"/>
            </a:avLst>
          </a:prstGeom>
          <a:solidFill>
            <a:srgbClr val="B6D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64" name="Google Shape;864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604" y="6635115"/>
            <a:ext cx="283488" cy="226814"/>
          </a:xfrm>
          <a:prstGeom prst="rect">
            <a:avLst/>
          </a:prstGeom>
          <a:noFill/>
          <a:ln>
            <a:noFill/>
          </a:ln>
        </p:spPr>
      </p:pic>
      <p:sp>
        <p:nvSpPr>
          <p:cNvPr id="865" name="Google Shape;865;p39"/>
          <p:cNvSpPr/>
          <p:nvPr/>
        </p:nvSpPr>
        <p:spPr>
          <a:xfrm>
            <a:off x="1530906" y="6574512"/>
            <a:ext cx="120789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Next step: QF-EKF with RQNN pre-filter layer and PSO-tuned hyperparameters</a:t>
            </a:r>
            <a:endParaRPr b="0" i="0" sz="1750" u="none" cap="none" strike="noStrike"/>
          </a:p>
        </p:txBody>
      </p:sp>
      <p:sp>
        <p:nvSpPr>
          <p:cNvPr id="866" name="Google Shape;866;p39"/>
          <p:cNvSpPr/>
          <p:nvPr/>
        </p:nvSpPr>
        <p:spPr>
          <a:xfrm>
            <a:off x="12845075" y="7780725"/>
            <a:ext cx="1680600" cy="356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27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40"/>
          <p:cNvSpPr/>
          <p:nvPr/>
        </p:nvSpPr>
        <p:spPr>
          <a:xfrm>
            <a:off x="793804" y="887500"/>
            <a:ext cx="8552400" cy="5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Petrona"/>
              <a:buNone/>
            </a:pPr>
            <a:r>
              <a:rPr b="1" i="0" lang="en-US" sz="375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RQNN in the Sensor Pipeline</a:t>
            </a:r>
            <a:endParaRPr b="0" i="0" sz="3750" u="none" cap="none" strike="noStrike"/>
          </a:p>
        </p:txBody>
      </p:sp>
      <p:sp>
        <p:nvSpPr>
          <p:cNvPr id="873" name="Google Shape;873;p40"/>
          <p:cNvSpPr/>
          <p:nvPr/>
        </p:nvSpPr>
        <p:spPr>
          <a:xfrm>
            <a:off x="793790" y="1773198"/>
            <a:ext cx="130428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Inter"/>
              <a:buNone/>
            </a:pPr>
            <a:r>
              <a:rPr b="0" i="0" lang="en-US" sz="14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Pre-filter between raw sensors and EKF — per-channel quantum filter instances with </a:t>
            </a:r>
            <a:r>
              <a:rPr b="1" i="0" lang="en-US" sz="14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zero phase lag</a:t>
            </a:r>
            <a:endParaRPr b="0" i="0" sz="1400" u="none" cap="none" strike="noStrike"/>
          </a:p>
        </p:txBody>
      </p:sp>
      <p:sp>
        <p:nvSpPr>
          <p:cNvPr id="874" name="Google Shape;874;p40"/>
          <p:cNvSpPr/>
          <p:nvPr/>
        </p:nvSpPr>
        <p:spPr>
          <a:xfrm>
            <a:off x="793790" y="2197656"/>
            <a:ext cx="13042800" cy="1577100"/>
          </a:xfrm>
          <a:prstGeom prst="roundRect">
            <a:avLst>
              <a:gd fmla="val 6958" name="adj"/>
            </a:avLst>
          </a:prstGeom>
          <a:solidFill>
            <a:srgbClr val="FFFFFF">
              <a:alpha val="94900"/>
            </a:srgbClr>
          </a:solidFill>
          <a:ln cap="flat" cmpd="sng" w="22850">
            <a:solidFill>
              <a:srgbClr val="B2D4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5" name="Google Shape;875;p40"/>
          <p:cNvSpPr/>
          <p:nvPr/>
        </p:nvSpPr>
        <p:spPr>
          <a:xfrm>
            <a:off x="770930" y="2197656"/>
            <a:ext cx="91500" cy="1577100"/>
          </a:xfrm>
          <a:prstGeom prst="roundRect">
            <a:avLst>
              <a:gd fmla="val 83349" name="adj"/>
            </a:avLst>
          </a:prstGeom>
          <a:solidFill>
            <a:srgbClr val="007EB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6" name="Google Shape;876;p40"/>
          <p:cNvSpPr/>
          <p:nvPr/>
        </p:nvSpPr>
        <p:spPr>
          <a:xfrm>
            <a:off x="1066681" y="2401967"/>
            <a:ext cx="23817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Petrona"/>
              <a:buNone/>
            </a:pPr>
            <a:r>
              <a:rPr b="1" i="0" lang="en-US" sz="185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Why Pre-Filter?</a:t>
            </a:r>
            <a:endParaRPr b="0" i="0" sz="1850" u="none" cap="none" strike="noStrike"/>
          </a:p>
        </p:txBody>
      </p:sp>
      <p:sp>
        <p:nvSpPr>
          <p:cNvPr id="877" name="Google Shape;877;p40"/>
          <p:cNvSpPr/>
          <p:nvPr/>
        </p:nvSpPr>
        <p:spPr>
          <a:xfrm>
            <a:off x="1066681" y="2786658"/>
            <a:ext cx="12565500" cy="7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Inter"/>
              <a:buNone/>
            </a:pPr>
            <a:r>
              <a:rPr b="0" i="0" lang="en-US" sz="14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EKF assumes Gaussian R. Real sensors violate this — burst noise, non-stationary variance, IMU accel σ ≈ 0.985 m/s². RQNN reduces noise </a:t>
            </a:r>
            <a:r>
              <a:rPr b="1" i="0" lang="en-US" sz="14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before</a:t>
            </a:r>
            <a:r>
              <a:rPr b="0" i="0" lang="en-US" sz="14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EKF sees it → tighter Q, fewer Mahalanobis rejections. Butterworth/Savitzky-Golay introduce group delay; RQNN wave function collapse is </a:t>
            </a:r>
            <a:r>
              <a:rPr b="1" i="0" lang="en-US" sz="14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zero-lag by design</a:t>
            </a:r>
            <a:r>
              <a:rPr b="0" i="0" lang="en-US" sz="14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. Offline PSO tunes parameters once, Hebbian update adapts online in real-time</a:t>
            </a:r>
            <a:endParaRPr b="0" i="0" sz="1400" u="none" cap="none" strike="noStrike"/>
          </a:p>
        </p:txBody>
      </p:sp>
      <p:sp>
        <p:nvSpPr>
          <p:cNvPr id="878" name="Google Shape;878;p40"/>
          <p:cNvSpPr/>
          <p:nvPr/>
        </p:nvSpPr>
        <p:spPr>
          <a:xfrm>
            <a:off x="793790" y="3937873"/>
            <a:ext cx="13042800" cy="2718300"/>
          </a:xfrm>
          <a:prstGeom prst="roundRect">
            <a:avLst>
              <a:gd fmla="val 2804" name="adj"/>
            </a:avLst>
          </a:prstGeom>
          <a:noFill/>
          <a:ln cap="flat" cmpd="sng" w="9525">
            <a:solidFill>
              <a:srgbClr val="000000">
                <a:alpha val="784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9" name="Google Shape;879;p40"/>
          <p:cNvSpPr/>
          <p:nvPr/>
        </p:nvSpPr>
        <p:spPr>
          <a:xfrm>
            <a:off x="801410" y="3945493"/>
            <a:ext cx="13027500" cy="450600"/>
          </a:xfrm>
          <a:prstGeom prst="rect">
            <a:avLst/>
          </a:prstGeom>
          <a:solidFill>
            <a:srgbClr val="FFFFFF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0" name="Google Shape;880;p40"/>
          <p:cNvSpPr/>
          <p:nvPr/>
        </p:nvSpPr>
        <p:spPr>
          <a:xfrm>
            <a:off x="982980" y="4040148"/>
            <a:ext cx="35415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Topic In</a:t>
            </a:r>
            <a:endParaRPr b="0" i="0" sz="1400" u="none" cap="none" strike="noStrike"/>
          </a:p>
        </p:txBody>
      </p:sp>
      <p:sp>
        <p:nvSpPr>
          <p:cNvPr id="881" name="Google Shape;881;p40"/>
          <p:cNvSpPr/>
          <p:nvPr/>
        </p:nvSpPr>
        <p:spPr>
          <a:xfrm>
            <a:off x="4895017" y="4040148"/>
            <a:ext cx="35376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Filter</a:t>
            </a:r>
            <a:endParaRPr b="0" i="0" sz="1400" u="none" cap="none" strike="noStrike"/>
          </a:p>
        </p:txBody>
      </p:sp>
      <p:sp>
        <p:nvSpPr>
          <p:cNvPr id="882" name="Google Shape;882;p40"/>
          <p:cNvSpPr/>
          <p:nvPr/>
        </p:nvSpPr>
        <p:spPr>
          <a:xfrm>
            <a:off x="8803243" y="4040148"/>
            <a:ext cx="48444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Topic Out</a:t>
            </a:r>
            <a:endParaRPr b="0" i="0" sz="1400" u="none" cap="none" strike="noStrike"/>
          </a:p>
        </p:txBody>
      </p:sp>
      <p:sp>
        <p:nvSpPr>
          <p:cNvPr id="883" name="Google Shape;883;p40"/>
          <p:cNvSpPr/>
          <p:nvPr/>
        </p:nvSpPr>
        <p:spPr>
          <a:xfrm>
            <a:off x="801410" y="4396026"/>
            <a:ext cx="13027500" cy="450600"/>
          </a:xfrm>
          <a:prstGeom prst="rect">
            <a:avLst/>
          </a:prstGeom>
          <a:solidFill>
            <a:srgbClr val="000000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4" name="Google Shape;884;p40"/>
          <p:cNvSpPr/>
          <p:nvPr/>
        </p:nvSpPr>
        <p:spPr>
          <a:xfrm>
            <a:off x="982980" y="4490680"/>
            <a:ext cx="35415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Inter"/>
              <a:buNone/>
            </a:pPr>
            <a:r>
              <a:rPr b="0" i="0" lang="en-US" sz="14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/imu/data</a:t>
            </a:r>
            <a:endParaRPr b="0" i="0" sz="1400" u="none" cap="none" strike="noStrike"/>
          </a:p>
        </p:txBody>
      </p:sp>
      <p:sp>
        <p:nvSpPr>
          <p:cNvPr id="885" name="Google Shape;885;p40"/>
          <p:cNvSpPr/>
          <p:nvPr/>
        </p:nvSpPr>
        <p:spPr>
          <a:xfrm>
            <a:off x="4895017" y="4490680"/>
            <a:ext cx="35376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Inter"/>
              <a:buNone/>
            </a:pPr>
            <a:r>
              <a:rPr b="0" i="0" lang="en-US" sz="14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RQNN accel+gyro</a:t>
            </a:r>
            <a:endParaRPr b="0" i="0" sz="1400" u="none" cap="none" strike="noStrike"/>
          </a:p>
        </p:txBody>
      </p:sp>
      <p:sp>
        <p:nvSpPr>
          <p:cNvPr id="886" name="Google Shape;886;p40"/>
          <p:cNvSpPr/>
          <p:nvPr/>
        </p:nvSpPr>
        <p:spPr>
          <a:xfrm>
            <a:off x="8803243" y="4490680"/>
            <a:ext cx="48444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Inter"/>
              <a:buNone/>
            </a:pPr>
            <a:r>
              <a:rPr b="0" i="0" lang="en-US" sz="14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/imu/data/filtered</a:t>
            </a:r>
            <a:endParaRPr b="0" i="0" sz="1400" u="none" cap="none" strike="noStrike"/>
          </a:p>
        </p:txBody>
      </p:sp>
      <p:sp>
        <p:nvSpPr>
          <p:cNvPr id="887" name="Google Shape;887;p40"/>
          <p:cNvSpPr/>
          <p:nvPr/>
        </p:nvSpPr>
        <p:spPr>
          <a:xfrm>
            <a:off x="801410" y="4846558"/>
            <a:ext cx="13027500" cy="450600"/>
          </a:xfrm>
          <a:prstGeom prst="rect">
            <a:avLst/>
          </a:prstGeom>
          <a:solidFill>
            <a:srgbClr val="FFFFFF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8" name="Google Shape;888;p40"/>
          <p:cNvSpPr/>
          <p:nvPr/>
        </p:nvSpPr>
        <p:spPr>
          <a:xfrm>
            <a:off x="982980" y="4941213"/>
            <a:ext cx="35415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Inter"/>
              <a:buNone/>
            </a:pPr>
            <a:r>
              <a:rPr b="0" i="0" lang="en-US" sz="14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/diff_drive_controller/odom</a:t>
            </a:r>
            <a:endParaRPr b="0" i="0" sz="1400" u="none" cap="none" strike="noStrike"/>
          </a:p>
        </p:txBody>
      </p:sp>
      <p:sp>
        <p:nvSpPr>
          <p:cNvPr id="889" name="Google Shape;889;p40"/>
          <p:cNvSpPr/>
          <p:nvPr/>
        </p:nvSpPr>
        <p:spPr>
          <a:xfrm>
            <a:off x="4895017" y="4941213"/>
            <a:ext cx="35376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Inter"/>
              <a:buNone/>
            </a:pPr>
            <a:r>
              <a:rPr b="0" i="0" lang="en-US" sz="14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RAW (no gain)</a:t>
            </a:r>
            <a:endParaRPr b="0" i="0" sz="1400" u="none" cap="none" strike="noStrike"/>
          </a:p>
        </p:txBody>
      </p:sp>
      <p:sp>
        <p:nvSpPr>
          <p:cNvPr id="890" name="Google Shape;890;p40"/>
          <p:cNvSpPr/>
          <p:nvPr/>
        </p:nvSpPr>
        <p:spPr>
          <a:xfrm>
            <a:off x="8803243" y="4941213"/>
            <a:ext cx="48444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Inter"/>
              <a:buNone/>
            </a:pPr>
            <a:r>
              <a:rPr b="0" i="0" lang="en-US" sz="14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/diff_drive_controller/odom</a:t>
            </a:r>
            <a:endParaRPr b="0" i="0" sz="1400" u="none" cap="none" strike="noStrike"/>
          </a:p>
        </p:txBody>
      </p:sp>
      <p:sp>
        <p:nvSpPr>
          <p:cNvPr id="891" name="Google Shape;891;p40"/>
          <p:cNvSpPr/>
          <p:nvPr/>
        </p:nvSpPr>
        <p:spPr>
          <a:xfrm>
            <a:off x="801410" y="5297091"/>
            <a:ext cx="13027500" cy="450600"/>
          </a:xfrm>
          <a:prstGeom prst="rect">
            <a:avLst/>
          </a:prstGeom>
          <a:solidFill>
            <a:srgbClr val="000000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2" name="Google Shape;892;p40"/>
          <p:cNvSpPr/>
          <p:nvPr/>
        </p:nvSpPr>
        <p:spPr>
          <a:xfrm>
            <a:off x="982980" y="5391745"/>
            <a:ext cx="35415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Inter"/>
              <a:buNone/>
            </a:pPr>
            <a:r>
              <a:rPr b="0" i="0" lang="en-US" sz="14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/odometry/visual</a:t>
            </a:r>
            <a:endParaRPr b="0" i="0" sz="1400" u="none" cap="none" strike="noStrike"/>
          </a:p>
        </p:txBody>
      </p:sp>
      <p:sp>
        <p:nvSpPr>
          <p:cNvPr id="893" name="Google Shape;893;p40"/>
          <p:cNvSpPr/>
          <p:nvPr/>
        </p:nvSpPr>
        <p:spPr>
          <a:xfrm>
            <a:off x="4895017" y="5391745"/>
            <a:ext cx="35376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Inter"/>
              <a:buNone/>
            </a:pPr>
            <a:r>
              <a:rPr b="0" i="0" lang="en-US" sz="14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RQNN twist only</a:t>
            </a:r>
            <a:endParaRPr b="0" i="0" sz="1400" u="none" cap="none" strike="noStrike"/>
          </a:p>
        </p:txBody>
      </p:sp>
      <p:sp>
        <p:nvSpPr>
          <p:cNvPr id="894" name="Google Shape;894;p40"/>
          <p:cNvSpPr/>
          <p:nvPr/>
        </p:nvSpPr>
        <p:spPr>
          <a:xfrm>
            <a:off x="8803243" y="5391745"/>
            <a:ext cx="48444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Inter"/>
              <a:buNone/>
            </a:pPr>
            <a:r>
              <a:rPr b="0" i="0" lang="en-US" sz="14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/odometry/visual/filtered</a:t>
            </a:r>
            <a:endParaRPr b="0" i="0" sz="1400" u="none" cap="none" strike="noStrike"/>
          </a:p>
        </p:txBody>
      </p:sp>
      <p:sp>
        <p:nvSpPr>
          <p:cNvPr id="895" name="Google Shape;895;p40"/>
          <p:cNvSpPr/>
          <p:nvPr/>
        </p:nvSpPr>
        <p:spPr>
          <a:xfrm>
            <a:off x="801410" y="5747623"/>
            <a:ext cx="13027500" cy="450600"/>
          </a:xfrm>
          <a:prstGeom prst="rect">
            <a:avLst/>
          </a:prstGeom>
          <a:solidFill>
            <a:srgbClr val="FFFFFF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40"/>
          <p:cNvSpPr/>
          <p:nvPr/>
        </p:nvSpPr>
        <p:spPr>
          <a:xfrm>
            <a:off x="982980" y="5842278"/>
            <a:ext cx="35415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Inter"/>
              <a:buNone/>
            </a:pPr>
            <a:r>
              <a:rPr b="0" i="0" lang="en-US" sz="14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/odometry/lidar</a:t>
            </a:r>
            <a:endParaRPr b="0" i="0" sz="1400" u="none" cap="none" strike="noStrike"/>
          </a:p>
        </p:txBody>
      </p:sp>
      <p:sp>
        <p:nvSpPr>
          <p:cNvPr id="897" name="Google Shape;897;p40"/>
          <p:cNvSpPr/>
          <p:nvPr/>
        </p:nvSpPr>
        <p:spPr>
          <a:xfrm>
            <a:off x="4895017" y="5842278"/>
            <a:ext cx="35376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Inter"/>
              <a:buNone/>
            </a:pPr>
            <a:r>
              <a:rPr b="0" i="0" lang="en-US" sz="14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RQNN twist only</a:t>
            </a:r>
            <a:endParaRPr b="0" i="0" sz="1400" u="none" cap="none" strike="noStrike"/>
          </a:p>
        </p:txBody>
      </p:sp>
      <p:sp>
        <p:nvSpPr>
          <p:cNvPr id="898" name="Google Shape;898;p40"/>
          <p:cNvSpPr/>
          <p:nvPr/>
        </p:nvSpPr>
        <p:spPr>
          <a:xfrm>
            <a:off x="8803243" y="5842278"/>
            <a:ext cx="48444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Inter"/>
              <a:buNone/>
            </a:pPr>
            <a:r>
              <a:rPr b="0" i="0" lang="en-US" sz="14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/odometry/lidar</a:t>
            </a:r>
            <a:endParaRPr b="0" i="0" sz="1400" u="none" cap="none" strike="noStrike"/>
          </a:p>
        </p:txBody>
      </p:sp>
      <p:sp>
        <p:nvSpPr>
          <p:cNvPr id="899" name="Google Shape;899;p40"/>
          <p:cNvSpPr/>
          <p:nvPr/>
        </p:nvSpPr>
        <p:spPr>
          <a:xfrm>
            <a:off x="801410" y="6198156"/>
            <a:ext cx="13027500" cy="450600"/>
          </a:xfrm>
          <a:prstGeom prst="rect">
            <a:avLst/>
          </a:prstGeom>
          <a:solidFill>
            <a:srgbClr val="000000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0" name="Google Shape;900;p40"/>
          <p:cNvSpPr/>
          <p:nvPr/>
        </p:nvSpPr>
        <p:spPr>
          <a:xfrm>
            <a:off x="982980" y="6292810"/>
            <a:ext cx="35415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Inter"/>
              <a:buNone/>
            </a:pPr>
            <a:r>
              <a:rPr b="0" i="0" lang="en-US" sz="14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/gps/fix</a:t>
            </a:r>
            <a:endParaRPr b="0" i="0" sz="1400" u="none" cap="none" strike="noStrike"/>
          </a:p>
        </p:txBody>
      </p:sp>
      <p:sp>
        <p:nvSpPr>
          <p:cNvPr id="901" name="Google Shape;901;p40"/>
          <p:cNvSpPr/>
          <p:nvPr/>
        </p:nvSpPr>
        <p:spPr>
          <a:xfrm>
            <a:off x="4895017" y="6292810"/>
            <a:ext cx="35376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Inter"/>
              <a:buNone/>
            </a:pPr>
            <a:r>
              <a:rPr b="0" i="0" lang="en-US" sz="14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pass-through</a:t>
            </a:r>
            <a:endParaRPr b="0" i="0" sz="1400" u="none" cap="none" strike="noStrike"/>
          </a:p>
        </p:txBody>
      </p:sp>
      <p:sp>
        <p:nvSpPr>
          <p:cNvPr id="902" name="Google Shape;902;p40"/>
          <p:cNvSpPr/>
          <p:nvPr/>
        </p:nvSpPr>
        <p:spPr>
          <a:xfrm>
            <a:off x="8803243" y="6292810"/>
            <a:ext cx="48444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Inter"/>
              <a:buNone/>
            </a:pPr>
            <a:r>
              <a:rPr b="0" i="0" lang="en-US" sz="14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/gps/fix (unfiltered → navsat)</a:t>
            </a:r>
            <a:endParaRPr b="0" i="0" sz="1400" u="none" cap="none" strike="noStrike"/>
          </a:p>
        </p:txBody>
      </p:sp>
      <p:sp>
        <p:nvSpPr>
          <p:cNvPr id="903" name="Google Shape;903;p40"/>
          <p:cNvSpPr/>
          <p:nvPr/>
        </p:nvSpPr>
        <p:spPr>
          <a:xfrm>
            <a:off x="793790" y="6819543"/>
            <a:ext cx="13042800" cy="5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Inter"/>
              <a:buNone/>
            </a:pPr>
            <a:r>
              <a:rPr b="0" i="1" lang="en-US" sz="14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GPS NOT filtered — 1D RQNN distorts geographic coordinates. Wheel odom NOT filtered — already very clean (σ=0.032 m/s); RQNN degrades it by 0.2%. EKF Mahalanobis gate (σ=2.0) handles GPS outliers directly.</a:t>
            </a:r>
            <a:endParaRPr b="0" i="0" sz="1400" u="none" cap="none" strike="noStrike"/>
          </a:p>
        </p:txBody>
      </p:sp>
      <p:sp>
        <p:nvSpPr>
          <p:cNvPr id="904" name="Google Shape;904;p40"/>
          <p:cNvSpPr/>
          <p:nvPr/>
        </p:nvSpPr>
        <p:spPr>
          <a:xfrm>
            <a:off x="12845075" y="7780725"/>
            <a:ext cx="1680600" cy="356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28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41"/>
          <p:cNvSpPr/>
          <p:nvPr/>
        </p:nvSpPr>
        <p:spPr>
          <a:xfrm>
            <a:off x="793790" y="773311"/>
            <a:ext cx="10580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Petrona"/>
              <a:buNone/>
            </a:pPr>
            <a:r>
              <a:rPr b="1" i="0" lang="en-US" sz="420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Foundation of RQNN</a:t>
            </a:r>
            <a:endParaRPr b="0" i="0" sz="4200" u="none" cap="none" strike="noStrike"/>
          </a:p>
        </p:txBody>
      </p:sp>
      <p:sp>
        <p:nvSpPr>
          <p:cNvPr id="911" name="Google Shape;911;p41"/>
          <p:cNvSpPr/>
          <p:nvPr/>
        </p:nvSpPr>
        <p:spPr>
          <a:xfrm>
            <a:off x="793790" y="1810583"/>
            <a:ext cx="130428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00"/>
              <a:buFont typeface="Inter"/>
              <a:buNone/>
            </a:pPr>
            <a:r>
              <a:rPr b="0" i="1" lang="en-US" sz="16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IEEE Trans. Neural Networks and Learning Systems — Recursive Quantum Neural Network for real-time filtering</a:t>
            </a:r>
            <a:endParaRPr b="0" i="0" sz="1600" u="none" cap="none" strike="noStrike"/>
          </a:p>
        </p:txBody>
      </p:sp>
      <p:sp>
        <p:nvSpPr>
          <p:cNvPr id="912" name="Google Shape;912;p41"/>
          <p:cNvSpPr/>
          <p:nvPr/>
        </p:nvSpPr>
        <p:spPr>
          <a:xfrm>
            <a:off x="793790" y="2327553"/>
            <a:ext cx="130428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00"/>
              <a:buFont typeface="Inter"/>
              <a:buNone/>
            </a:pPr>
            <a:r>
              <a:rPr b="0" i="1" lang="en-US" sz="16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P. S. Gandhi et al., "Recursive quantum neural network for real-time signal filtering," IEEE Trans. Neural Netw. Learn. Syst., vol. 25, no. 12, pp. 2204–2218, Dec. 2014.</a:t>
            </a:r>
            <a:endParaRPr b="0" i="0" sz="1600" u="none" cap="none" strike="noStrike"/>
          </a:p>
        </p:txBody>
      </p:sp>
      <p:sp>
        <p:nvSpPr>
          <p:cNvPr id="913" name="Google Shape;913;p41"/>
          <p:cNvSpPr/>
          <p:nvPr/>
        </p:nvSpPr>
        <p:spPr>
          <a:xfrm>
            <a:off x="793790" y="3154799"/>
            <a:ext cx="4225200" cy="4301400"/>
          </a:xfrm>
          <a:prstGeom prst="roundRect">
            <a:avLst>
              <a:gd fmla="val 2029" name="adj"/>
            </a:avLst>
          </a:prstGeom>
          <a:solidFill>
            <a:srgbClr val="CCEEFF"/>
          </a:solidFill>
          <a:ln cap="flat" cmpd="sng" w="9525">
            <a:solidFill>
              <a:srgbClr val="B2D4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4" name="Google Shape;914;p41"/>
          <p:cNvSpPr/>
          <p:nvPr/>
        </p:nvSpPr>
        <p:spPr>
          <a:xfrm>
            <a:off x="1005483" y="3366492"/>
            <a:ext cx="2679300" cy="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100"/>
              <a:buFont typeface="Petrona"/>
              <a:buNone/>
            </a:pPr>
            <a:r>
              <a:rPr b="1" i="0" lang="en-US" sz="21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Original Problem</a:t>
            </a:r>
            <a:endParaRPr b="0" i="0" sz="2100" u="none" cap="none" strike="noStrike"/>
          </a:p>
        </p:txBody>
      </p:sp>
      <p:sp>
        <p:nvSpPr>
          <p:cNvPr id="915" name="Google Shape;915;p41"/>
          <p:cNvSpPr/>
          <p:nvPr/>
        </p:nvSpPr>
        <p:spPr>
          <a:xfrm>
            <a:off x="1005483" y="3811429"/>
            <a:ext cx="3801600" cy="15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00"/>
              <a:buFont typeface="Inter"/>
              <a:buNone/>
            </a:pPr>
            <a:r>
              <a:rPr b="0" i="0" lang="en-US" sz="16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EEG BCI signals contain heavy artifact noise: eye blink, EMG, power-line. Classical filters introduce phase lag → neural command arrives late → BCI unusable in real-time. </a:t>
            </a:r>
            <a:endParaRPr b="0" i="0" sz="1600" u="none" cap="none" strike="noStrike"/>
          </a:p>
        </p:txBody>
      </p:sp>
      <p:sp>
        <p:nvSpPr>
          <p:cNvPr id="916" name="Google Shape;916;p41"/>
          <p:cNvSpPr/>
          <p:nvPr/>
        </p:nvSpPr>
        <p:spPr>
          <a:xfrm>
            <a:off x="1005483" y="5726164"/>
            <a:ext cx="3801600" cy="9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00"/>
              <a:buFont typeface="Inter"/>
              <a:buNone/>
            </a:pPr>
            <a:r>
              <a:rPr b="1" i="0" lang="en-US" sz="16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Requirement:</a:t>
            </a:r>
            <a:r>
              <a:rPr b="0" i="0" lang="en-US" sz="16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Zero-lag noise reduction for non-stationary biomedical signals without prior noise statistics.</a:t>
            </a:r>
            <a:endParaRPr b="0" i="0" sz="1600" u="none" cap="none" strike="noStrike"/>
          </a:p>
        </p:txBody>
      </p:sp>
      <p:sp>
        <p:nvSpPr>
          <p:cNvPr id="917" name="Google Shape;917;p41"/>
          <p:cNvSpPr/>
          <p:nvPr/>
        </p:nvSpPr>
        <p:spPr>
          <a:xfrm>
            <a:off x="5202555" y="3154799"/>
            <a:ext cx="4225200" cy="4301400"/>
          </a:xfrm>
          <a:prstGeom prst="roundRect">
            <a:avLst>
              <a:gd fmla="val 2029" name="adj"/>
            </a:avLst>
          </a:prstGeom>
          <a:solidFill>
            <a:srgbClr val="CCEEFF"/>
          </a:solidFill>
          <a:ln cap="flat" cmpd="sng" w="9525">
            <a:solidFill>
              <a:srgbClr val="B2D4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8" name="Google Shape;918;p41"/>
          <p:cNvSpPr/>
          <p:nvPr/>
        </p:nvSpPr>
        <p:spPr>
          <a:xfrm>
            <a:off x="5414248" y="3366492"/>
            <a:ext cx="2884500" cy="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100"/>
              <a:buFont typeface="Petrona"/>
              <a:buNone/>
            </a:pPr>
            <a:r>
              <a:rPr b="1" i="0" lang="en-US" sz="21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Core Innovation: RQNN</a:t>
            </a:r>
            <a:endParaRPr b="0" i="0" sz="2100" u="none" cap="none" strike="noStrike"/>
          </a:p>
        </p:txBody>
      </p:sp>
      <p:sp>
        <p:nvSpPr>
          <p:cNvPr id="919" name="Google Shape;919;p41"/>
          <p:cNvSpPr/>
          <p:nvPr/>
        </p:nvSpPr>
        <p:spPr>
          <a:xfrm>
            <a:off x="5414248" y="3811429"/>
            <a:ext cx="38019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00"/>
              <a:buFont typeface="Inter"/>
              <a:buNone/>
            </a:pPr>
            <a:r>
              <a:rPr b="0" i="0" lang="en-US" sz="16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Signal as quantum wave function ψ(x,t) on a 1D probability lattice. </a:t>
            </a:r>
            <a:endParaRPr b="0" i="0" sz="1600" u="none" cap="none" strike="noStrike"/>
          </a:p>
        </p:txBody>
      </p:sp>
      <p:sp>
        <p:nvSpPr>
          <p:cNvPr id="920" name="Google Shape;920;p41"/>
          <p:cNvSpPr/>
          <p:nvPr/>
        </p:nvSpPr>
        <p:spPr>
          <a:xfrm>
            <a:off x="5414248" y="4542115"/>
            <a:ext cx="3801900" cy="9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00"/>
              <a:buFont typeface="Inter"/>
              <a:buNone/>
            </a:pPr>
            <a:r>
              <a:rPr b="0" i="0" lang="en-US" sz="16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Schrödinger dynamics: iℏ ∂ψ/∂t = Ĥψ. Observation y biases wave packet toward true signal. </a:t>
            </a:r>
            <a:endParaRPr b="0" i="0" sz="1600" u="none" cap="none" strike="noStrike"/>
          </a:p>
        </p:txBody>
      </p:sp>
      <p:sp>
        <p:nvSpPr>
          <p:cNvPr id="921" name="Google Shape;921;p41"/>
          <p:cNvSpPr/>
          <p:nvPr/>
        </p:nvSpPr>
        <p:spPr>
          <a:xfrm>
            <a:off x="5414248" y="5583079"/>
            <a:ext cx="38019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00"/>
              <a:buFont typeface="Inter"/>
              <a:buNone/>
            </a:pPr>
            <a:r>
              <a:rPr b="0" i="0" lang="en-US" sz="16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Expectation value ⟨x⟩ = ∫x|ψ|²dx = filtered estimate. </a:t>
            </a:r>
            <a:endParaRPr b="0" i="0" sz="1600" u="none" cap="none" strike="noStrike"/>
          </a:p>
        </p:txBody>
      </p:sp>
      <p:sp>
        <p:nvSpPr>
          <p:cNvPr id="922" name="Google Shape;922;p41"/>
          <p:cNvSpPr/>
          <p:nvPr/>
        </p:nvSpPr>
        <p:spPr>
          <a:xfrm>
            <a:off x="5414248" y="6313765"/>
            <a:ext cx="3801900" cy="9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00"/>
              <a:buFont typeface="Inter"/>
              <a:buNone/>
            </a:pPr>
            <a:r>
              <a:rPr b="0" i="0" lang="en-US" sz="16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Hebbian weight update enables online adaptation. </a:t>
            </a:r>
            <a:r>
              <a:rPr b="1" i="0" lang="en-US" sz="16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Zero phase lag, adaptive, non-stationary capable.</a:t>
            </a:r>
            <a:endParaRPr b="0" i="0" sz="1600" u="none" cap="none" strike="noStrike"/>
          </a:p>
        </p:txBody>
      </p:sp>
      <p:sp>
        <p:nvSpPr>
          <p:cNvPr id="923" name="Google Shape;923;p41"/>
          <p:cNvSpPr/>
          <p:nvPr/>
        </p:nvSpPr>
        <p:spPr>
          <a:xfrm>
            <a:off x="9611439" y="3154799"/>
            <a:ext cx="4225200" cy="4301400"/>
          </a:xfrm>
          <a:prstGeom prst="roundRect">
            <a:avLst>
              <a:gd fmla="val 2029" name="adj"/>
            </a:avLst>
          </a:prstGeom>
          <a:solidFill>
            <a:srgbClr val="CCEEFF"/>
          </a:solidFill>
          <a:ln cap="flat" cmpd="sng" w="9525">
            <a:solidFill>
              <a:srgbClr val="B2D4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4" name="Google Shape;924;p41"/>
          <p:cNvSpPr/>
          <p:nvPr/>
        </p:nvSpPr>
        <p:spPr>
          <a:xfrm>
            <a:off x="9823133" y="3366492"/>
            <a:ext cx="3693900" cy="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100"/>
              <a:buFont typeface="Petrona"/>
              <a:buNone/>
            </a:pPr>
            <a:r>
              <a:rPr b="1" i="0" lang="en-US" sz="21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Extension to Robotics Sensors</a:t>
            </a:r>
            <a:endParaRPr b="0" i="0" sz="2100" u="none" cap="none" strike="noStrike"/>
          </a:p>
        </p:txBody>
      </p:sp>
      <p:sp>
        <p:nvSpPr>
          <p:cNvPr id="925" name="Google Shape;925;p41"/>
          <p:cNvSpPr/>
          <p:nvPr/>
        </p:nvSpPr>
        <p:spPr>
          <a:xfrm>
            <a:off x="9823133" y="3811429"/>
            <a:ext cx="38019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00"/>
              <a:buFont typeface="Inter"/>
              <a:buNone/>
            </a:pPr>
            <a:r>
              <a:rPr b="0" i="0" lang="en-US" sz="16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IMU and odometry share EEG noise properties: </a:t>
            </a:r>
            <a:endParaRPr b="0" i="0" sz="1600" u="none" cap="none" strike="noStrike"/>
          </a:p>
        </p:txBody>
      </p:sp>
      <p:sp>
        <p:nvSpPr>
          <p:cNvPr id="926" name="Google Shape;926;p41"/>
          <p:cNvSpPr/>
          <p:nvPr/>
        </p:nvSpPr>
        <p:spPr>
          <a:xfrm>
            <a:off x="9823133" y="4542115"/>
            <a:ext cx="3801900" cy="9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00"/>
              <a:buFont typeface="Inter"/>
              <a:buNone/>
            </a:pPr>
            <a:r>
              <a:rPr b="0" i="0" lang="en-US" sz="16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Non-stationary (vibration, terrain), burst artifacts (wheel slip, VO loop-closure +2m jumps), </a:t>
            </a:r>
            <a:endParaRPr b="0" i="0" sz="1600" u="none" cap="none" strike="noStrike"/>
          </a:p>
        </p:txBody>
      </p:sp>
      <p:sp>
        <p:nvSpPr>
          <p:cNvPr id="927" name="Google Shape;927;p41"/>
          <p:cNvSpPr/>
          <p:nvPr/>
        </p:nvSpPr>
        <p:spPr>
          <a:xfrm>
            <a:off x="9823133" y="5583079"/>
            <a:ext cx="3801900" cy="15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00"/>
              <a:buFont typeface="Inter"/>
              <a:buNone/>
            </a:pPr>
            <a:r>
              <a:rPr b="0" i="0" lang="en-US" sz="16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Zero-lag critical for EKF velocity integration, real-time 50 Hz budget. This work: PSO-tunes RQNN offline across 5 sensor channels; deployed in ROS2 quantum_filter_node at runtime.</a:t>
            </a:r>
            <a:endParaRPr b="0" i="0" sz="1600" u="none" cap="none" strike="noStrike"/>
          </a:p>
        </p:txBody>
      </p:sp>
      <p:sp>
        <p:nvSpPr>
          <p:cNvPr id="928" name="Google Shape;928;p41"/>
          <p:cNvSpPr/>
          <p:nvPr/>
        </p:nvSpPr>
        <p:spPr>
          <a:xfrm>
            <a:off x="12845075" y="7780725"/>
            <a:ext cx="1680600" cy="356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29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p42"/>
          <p:cNvSpPr/>
          <p:nvPr/>
        </p:nvSpPr>
        <p:spPr>
          <a:xfrm>
            <a:off x="793802" y="902250"/>
            <a:ext cx="11510400" cy="5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Petrona"/>
              <a:buNone/>
            </a:pPr>
            <a:r>
              <a:rPr b="1" i="0" lang="en-US" sz="375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From EEG Filtering to Multi-Sensor Robotics</a:t>
            </a:r>
            <a:endParaRPr b="0" i="0" sz="3750" u="none" cap="none" strike="noStrike"/>
          </a:p>
        </p:txBody>
      </p:sp>
      <p:sp>
        <p:nvSpPr>
          <p:cNvPr id="935" name="Google Shape;935;p42"/>
          <p:cNvSpPr/>
          <p:nvPr/>
        </p:nvSpPr>
        <p:spPr>
          <a:xfrm>
            <a:off x="793790" y="1787962"/>
            <a:ext cx="130428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Inter"/>
              <a:buNone/>
            </a:pPr>
            <a:r>
              <a:rPr b="0" i="0" lang="en-US" sz="14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Every critical property of EEG noise maps directly to IMU/odometry noise</a:t>
            </a:r>
            <a:endParaRPr b="0" i="0" sz="1400" u="none" cap="none" strike="noStrike"/>
          </a:p>
        </p:txBody>
      </p:sp>
      <p:sp>
        <p:nvSpPr>
          <p:cNvPr id="936" name="Google Shape;936;p42"/>
          <p:cNvSpPr/>
          <p:nvPr/>
        </p:nvSpPr>
        <p:spPr>
          <a:xfrm>
            <a:off x="793790" y="2212419"/>
            <a:ext cx="13042800" cy="5115000"/>
          </a:xfrm>
          <a:prstGeom prst="roundRect">
            <a:avLst>
              <a:gd fmla="val 1490" name="adj"/>
            </a:avLst>
          </a:prstGeom>
          <a:noFill/>
          <a:ln cap="flat" cmpd="sng" w="9525">
            <a:solidFill>
              <a:srgbClr val="000000">
                <a:alpha val="784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7" name="Google Shape;937;p42"/>
          <p:cNvSpPr/>
          <p:nvPr/>
        </p:nvSpPr>
        <p:spPr>
          <a:xfrm>
            <a:off x="801410" y="2220039"/>
            <a:ext cx="13027500" cy="450600"/>
          </a:xfrm>
          <a:prstGeom prst="rect">
            <a:avLst/>
          </a:prstGeom>
          <a:solidFill>
            <a:srgbClr val="FFFFFF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8" name="Google Shape;938;p42"/>
          <p:cNvSpPr/>
          <p:nvPr/>
        </p:nvSpPr>
        <p:spPr>
          <a:xfrm>
            <a:off x="983099" y="2314694"/>
            <a:ext cx="15951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Property</a:t>
            </a:r>
            <a:endParaRPr b="0" i="0" sz="1400" u="none" cap="none" strike="noStrike"/>
          </a:p>
        </p:txBody>
      </p:sp>
      <p:sp>
        <p:nvSpPr>
          <p:cNvPr id="939" name="Google Shape;939;p42"/>
          <p:cNvSpPr/>
          <p:nvPr/>
        </p:nvSpPr>
        <p:spPr>
          <a:xfrm>
            <a:off x="2948821" y="2314694"/>
            <a:ext cx="33177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EEG (Gandhi 2014)</a:t>
            </a:r>
            <a:endParaRPr b="0" i="0" sz="1400" u="none" cap="none" strike="noStrike"/>
          </a:p>
        </p:txBody>
      </p:sp>
      <p:sp>
        <p:nvSpPr>
          <p:cNvPr id="940" name="Google Shape;940;p42"/>
          <p:cNvSpPr/>
          <p:nvPr/>
        </p:nvSpPr>
        <p:spPr>
          <a:xfrm>
            <a:off x="6636901" y="2314694"/>
            <a:ext cx="44430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Robotics Sensors (This Work)</a:t>
            </a:r>
            <a:endParaRPr b="0" i="0" sz="1400" u="none" cap="none" strike="noStrike"/>
          </a:p>
        </p:txBody>
      </p:sp>
      <p:sp>
        <p:nvSpPr>
          <p:cNvPr id="941" name="Google Shape;941;p42"/>
          <p:cNvSpPr/>
          <p:nvPr/>
        </p:nvSpPr>
        <p:spPr>
          <a:xfrm>
            <a:off x="11450479" y="2314694"/>
            <a:ext cx="21972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Match?</a:t>
            </a:r>
            <a:endParaRPr b="0" i="0" sz="1400" u="none" cap="none" strike="noStrike"/>
          </a:p>
        </p:txBody>
      </p:sp>
      <p:sp>
        <p:nvSpPr>
          <p:cNvPr id="942" name="Google Shape;942;p42"/>
          <p:cNvSpPr/>
          <p:nvPr/>
        </p:nvSpPr>
        <p:spPr>
          <a:xfrm>
            <a:off x="801410" y="2670572"/>
            <a:ext cx="13027500" cy="450600"/>
          </a:xfrm>
          <a:prstGeom prst="rect">
            <a:avLst/>
          </a:prstGeom>
          <a:solidFill>
            <a:srgbClr val="000000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3" name="Google Shape;943;p42"/>
          <p:cNvSpPr/>
          <p:nvPr/>
        </p:nvSpPr>
        <p:spPr>
          <a:xfrm>
            <a:off x="983099" y="2765227"/>
            <a:ext cx="15951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Inter"/>
              <a:buNone/>
            </a:pPr>
            <a:r>
              <a:rPr b="0" i="0" lang="en-US" sz="14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Signal type</a:t>
            </a:r>
            <a:endParaRPr b="0" i="0" sz="1400" u="none" cap="none" strike="noStrike"/>
          </a:p>
        </p:txBody>
      </p:sp>
      <p:sp>
        <p:nvSpPr>
          <p:cNvPr id="944" name="Google Shape;944;p42"/>
          <p:cNvSpPr/>
          <p:nvPr/>
        </p:nvSpPr>
        <p:spPr>
          <a:xfrm>
            <a:off x="2948821" y="2765227"/>
            <a:ext cx="33177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Inter"/>
              <a:buNone/>
            </a:pPr>
            <a:r>
              <a:rPr b="0" i="0" lang="en-US" sz="14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Bioelectrical potential (μV)</a:t>
            </a:r>
            <a:endParaRPr b="0" i="0" sz="1400" u="none" cap="none" strike="noStrike"/>
          </a:p>
        </p:txBody>
      </p:sp>
      <p:sp>
        <p:nvSpPr>
          <p:cNvPr id="945" name="Google Shape;945;p42"/>
          <p:cNvSpPr/>
          <p:nvPr/>
        </p:nvSpPr>
        <p:spPr>
          <a:xfrm>
            <a:off x="6636901" y="2765227"/>
            <a:ext cx="44430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Inter"/>
              <a:buNone/>
            </a:pPr>
            <a:r>
              <a:rPr b="0" i="0" lang="en-US" sz="14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Accel (m/s²), gyro (rad/s), vel (m/s)</a:t>
            </a:r>
            <a:endParaRPr b="0" i="0" sz="1400" u="none" cap="none" strike="noStrike"/>
          </a:p>
        </p:txBody>
      </p:sp>
      <p:sp>
        <p:nvSpPr>
          <p:cNvPr id="946" name="Google Shape;946;p42"/>
          <p:cNvSpPr/>
          <p:nvPr/>
        </p:nvSpPr>
        <p:spPr>
          <a:xfrm>
            <a:off x="11450479" y="2765227"/>
            <a:ext cx="21972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Inter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✅</a:t>
            </a:r>
            <a:endParaRPr b="0" i="0" sz="1400" u="none" cap="none" strike="noStrike"/>
          </a:p>
        </p:txBody>
      </p:sp>
      <p:sp>
        <p:nvSpPr>
          <p:cNvPr id="947" name="Google Shape;947;p42"/>
          <p:cNvSpPr/>
          <p:nvPr/>
        </p:nvSpPr>
        <p:spPr>
          <a:xfrm>
            <a:off x="801410" y="3121104"/>
            <a:ext cx="13027500" cy="711900"/>
          </a:xfrm>
          <a:prstGeom prst="rect">
            <a:avLst/>
          </a:prstGeom>
          <a:solidFill>
            <a:srgbClr val="FFFFFF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8" name="Google Shape;948;p42"/>
          <p:cNvSpPr/>
          <p:nvPr/>
        </p:nvSpPr>
        <p:spPr>
          <a:xfrm>
            <a:off x="983099" y="3215759"/>
            <a:ext cx="15951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Inter"/>
              <a:buNone/>
            </a:pPr>
            <a:r>
              <a:rPr b="0" i="0" lang="en-US" sz="14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Noise profile</a:t>
            </a:r>
            <a:endParaRPr b="0" i="0" sz="1400" u="none" cap="none" strike="noStrike"/>
          </a:p>
        </p:txBody>
      </p:sp>
      <p:sp>
        <p:nvSpPr>
          <p:cNvPr id="949" name="Google Shape;949;p42"/>
          <p:cNvSpPr/>
          <p:nvPr/>
        </p:nvSpPr>
        <p:spPr>
          <a:xfrm>
            <a:off x="2948821" y="3215759"/>
            <a:ext cx="3317700" cy="5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Inter"/>
              <a:buNone/>
            </a:pPr>
            <a:r>
              <a:rPr b="0" i="0" lang="en-US" sz="14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Non-stationary: eye-blink bursts, EMG, powerline</a:t>
            </a:r>
            <a:endParaRPr b="0" i="0" sz="1400" u="none" cap="none" strike="noStrike"/>
          </a:p>
        </p:txBody>
      </p:sp>
      <p:sp>
        <p:nvSpPr>
          <p:cNvPr id="950" name="Google Shape;950;p42"/>
          <p:cNvSpPr/>
          <p:nvPr/>
        </p:nvSpPr>
        <p:spPr>
          <a:xfrm>
            <a:off x="6636901" y="3215759"/>
            <a:ext cx="44430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Inter"/>
              <a:buNone/>
            </a:pPr>
            <a:r>
              <a:rPr b="0" i="0" lang="en-US" sz="14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Non-stationary: vibration bursts, wheel slip, terrain</a:t>
            </a:r>
            <a:endParaRPr b="0" i="0" sz="1400" u="none" cap="none" strike="noStrike"/>
          </a:p>
        </p:txBody>
      </p:sp>
      <p:sp>
        <p:nvSpPr>
          <p:cNvPr id="951" name="Google Shape;951;p42"/>
          <p:cNvSpPr/>
          <p:nvPr/>
        </p:nvSpPr>
        <p:spPr>
          <a:xfrm>
            <a:off x="11450479" y="3215759"/>
            <a:ext cx="21972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Inter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✅</a:t>
            </a:r>
            <a:endParaRPr b="0" i="0" sz="1400" u="none" cap="none" strike="noStrike"/>
          </a:p>
        </p:txBody>
      </p:sp>
      <p:sp>
        <p:nvSpPr>
          <p:cNvPr id="952" name="Google Shape;952;p42"/>
          <p:cNvSpPr/>
          <p:nvPr/>
        </p:nvSpPr>
        <p:spPr>
          <a:xfrm>
            <a:off x="801410" y="3832860"/>
            <a:ext cx="13027500" cy="450600"/>
          </a:xfrm>
          <a:prstGeom prst="rect">
            <a:avLst/>
          </a:prstGeom>
          <a:solidFill>
            <a:srgbClr val="000000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3" name="Google Shape;953;p42"/>
          <p:cNvSpPr/>
          <p:nvPr/>
        </p:nvSpPr>
        <p:spPr>
          <a:xfrm>
            <a:off x="983099" y="3927515"/>
            <a:ext cx="15951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Inter"/>
              <a:buNone/>
            </a:pPr>
            <a:r>
              <a:rPr b="0" i="0" lang="en-US" sz="14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Phase lag req.</a:t>
            </a:r>
            <a:endParaRPr b="0" i="0" sz="1400" u="none" cap="none" strike="noStrike"/>
          </a:p>
        </p:txBody>
      </p:sp>
      <p:sp>
        <p:nvSpPr>
          <p:cNvPr id="954" name="Google Shape;954;p42"/>
          <p:cNvSpPr/>
          <p:nvPr/>
        </p:nvSpPr>
        <p:spPr>
          <a:xfrm>
            <a:off x="2948821" y="3927515"/>
            <a:ext cx="33177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Inter"/>
              <a:buNone/>
            </a:pPr>
            <a:r>
              <a:rPr b="0" i="0" lang="en-US" sz="14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Zero-lag: BCI real-time control</a:t>
            </a:r>
            <a:endParaRPr b="0" i="0" sz="1400" u="none" cap="none" strike="noStrike"/>
          </a:p>
        </p:txBody>
      </p:sp>
      <p:sp>
        <p:nvSpPr>
          <p:cNvPr id="955" name="Google Shape;955;p42"/>
          <p:cNvSpPr/>
          <p:nvPr/>
        </p:nvSpPr>
        <p:spPr>
          <a:xfrm>
            <a:off x="6636901" y="3927515"/>
            <a:ext cx="44430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Inter"/>
              <a:buNone/>
            </a:pPr>
            <a:r>
              <a:rPr b="0" i="0" lang="en-US" sz="14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Zero-lag: EKF velocity integration → drift if lagged</a:t>
            </a:r>
            <a:endParaRPr b="0" i="0" sz="1400" u="none" cap="none" strike="noStrike"/>
          </a:p>
        </p:txBody>
      </p:sp>
      <p:sp>
        <p:nvSpPr>
          <p:cNvPr id="956" name="Google Shape;956;p42"/>
          <p:cNvSpPr/>
          <p:nvPr/>
        </p:nvSpPr>
        <p:spPr>
          <a:xfrm>
            <a:off x="11450479" y="3927515"/>
            <a:ext cx="21972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Inter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✅</a:t>
            </a:r>
            <a:r>
              <a:rPr b="0" i="0" lang="en-US" sz="14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Critical</a:t>
            </a:r>
            <a:endParaRPr b="0" i="0" sz="1400" u="none" cap="none" strike="noStrike"/>
          </a:p>
        </p:txBody>
      </p:sp>
      <p:sp>
        <p:nvSpPr>
          <p:cNvPr id="957" name="Google Shape;957;p42"/>
          <p:cNvSpPr/>
          <p:nvPr/>
        </p:nvSpPr>
        <p:spPr>
          <a:xfrm>
            <a:off x="801410" y="4283393"/>
            <a:ext cx="13027500" cy="450600"/>
          </a:xfrm>
          <a:prstGeom prst="rect">
            <a:avLst/>
          </a:prstGeom>
          <a:solidFill>
            <a:srgbClr val="FFFFFF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8" name="Google Shape;958;p42"/>
          <p:cNvSpPr/>
          <p:nvPr/>
        </p:nvSpPr>
        <p:spPr>
          <a:xfrm>
            <a:off x="983099" y="4378047"/>
            <a:ext cx="15951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Inter"/>
              <a:buNone/>
            </a:pPr>
            <a:r>
              <a:rPr b="0" i="0" lang="en-US" sz="14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Sampling rate</a:t>
            </a:r>
            <a:endParaRPr b="0" i="0" sz="1400" u="none" cap="none" strike="noStrike"/>
          </a:p>
        </p:txBody>
      </p:sp>
      <p:sp>
        <p:nvSpPr>
          <p:cNvPr id="959" name="Google Shape;959;p42"/>
          <p:cNvSpPr/>
          <p:nvPr/>
        </p:nvSpPr>
        <p:spPr>
          <a:xfrm>
            <a:off x="2948821" y="4378047"/>
            <a:ext cx="33177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Inter"/>
              <a:buNone/>
            </a:pPr>
            <a:r>
              <a:rPr b="0" i="0" lang="en-US" sz="14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256–1024 Hz</a:t>
            </a:r>
            <a:endParaRPr b="0" i="0" sz="1400" u="none" cap="none" strike="noStrike"/>
          </a:p>
        </p:txBody>
      </p:sp>
      <p:sp>
        <p:nvSpPr>
          <p:cNvPr id="960" name="Google Shape;960;p42"/>
          <p:cNvSpPr/>
          <p:nvPr/>
        </p:nvSpPr>
        <p:spPr>
          <a:xfrm>
            <a:off x="6636901" y="4378047"/>
            <a:ext cx="44430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Inter"/>
              <a:buNone/>
            </a:pPr>
            <a:r>
              <a:rPr b="0" i="0" lang="en-US" sz="14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150 Hz (IMU), 38 Hz (wheel odom)</a:t>
            </a:r>
            <a:endParaRPr b="0" i="0" sz="1400" u="none" cap="none" strike="noStrike"/>
          </a:p>
        </p:txBody>
      </p:sp>
      <p:sp>
        <p:nvSpPr>
          <p:cNvPr id="961" name="Google Shape;961;p42"/>
          <p:cNvSpPr/>
          <p:nvPr/>
        </p:nvSpPr>
        <p:spPr>
          <a:xfrm>
            <a:off x="11450479" y="4378047"/>
            <a:ext cx="21972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Inter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✅</a:t>
            </a:r>
            <a:r>
              <a:rPr b="0" i="0" lang="en-US" sz="14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High-rate RT</a:t>
            </a:r>
            <a:endParaRPr b="0" i="0" sz="1400" u="none" cap="none" strike="noStrike"/>
          </a:p>
        </p:txBody>
      </p:sp>
      <p:sp>
        <p:nvSpPr>
          <p:cNvPr id="962" name="Google Shape;962;p42"/>
          <p:cNvSpPr/>
          <p:nvPr/>
        </p:nvSpPr>
        <p:spPr>
          <a:xfrm>
            <a:off x="801410" y="4733925"/>
            <a:ext cx="13027500" cy="711900"/>
          </a:xfrm>
          <a:prstGeom prst="rect">
            <a:avLst/>
          </a:prstGeom>
          <a:solidFill>
            <a:srgbClr val="000000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3" name="Google Shape;963;p42"/>
          <p:cNvSpPr/>
          <p:nvPr/>
        </p:nvSpPr>
        <p:spPr>
          <a:xfrm>
            <a:off x="983099" y="4828580"/>
            <a:ext cx="15951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Inter"/>
              <a:buNone/>
            </a:pPr>
            <a:r>
              <a:rPr b="0" i="0" lang="en-US" sz="14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Filter adaptation</a:t>
            </a:r>
            <a:endParaRPr b="0" i="0" sz="1400" u="none" cap="none" strike="noStrike"/>
          </a:p>
        </p:txBody>
      </p:sp>
      <p:sp>
        <p:nvSpPr>
          <p:cNvPr id="964" name="Google Shape;964;p42"/>
          <p:cNvSpPr/>
          <p:nvPr/>
        </p:nvSpPr>
        <p:spPr>
          <a:xfrm>
            <a:off x="2948821" y="4828580"/>
            <a:ext cx="3317700" cy="5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Inter"/>
              <a:buNone/>
            </a:pPr>
            <a:r>
              <a:rPr b="0" i="0" lang="en-US" sz="14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Hebbian online (non-stationary brain signals)</a:t>
            </a:r>
            <a:endParaRPr b="0" i="0" sz="1400" u="none" cap="none" strike="noStrike"/>
          </a:p>
        </p:txBody>
      </p:sp>
      <p:sp>
        <p:nvSpPr>
          <p:cNvPr id="965" name="Google Shape;965;p42"/>
          <p:cNvSpPr/>
          <p:nvPr/>
        </p:nvSpPr>
        <p:spPr>
          <a:xfrm>
            <a:off x="6636901" y="4828580"/>
            <a:ext cx="4443000" cy="5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Inter"/>
              <a:buNone/>
            </a:pPr>
            <a:r>
              <a:rPr b="0" i="0" lang="en-US" sz="14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PSO offline + Hebbian online (sensor drift over time)</a:t>
            </a:r>
            <a:endParaRPr b="0" i="0" sz="1400" u="none" cap="none" strike="noStrike"/>
          </a:p>
        </p:txBody>
      </p:sp>
      <p:sp>
        <p:nvSpPr>
          <p:cNvPr id="966" name="Google Shape;966;p42"/>
          <p:cNvSpPr/>
          <p:nvPr/>
        </p:nvSpPr>
        <p:spPr>
          <a:xfrm>
            <a:off x="11450479" y="4828580"/>
            <a:ext cx="21972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Inter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✅</a:t>
            </a:r>
            <a:endParaRPr b="0" i="0" sz="1400" u="none" cap="none" strike="noStrike"/>
          </a:p>
        </p:txBody>
      </p:sp>
      <p:sp>
        <p:nvSpPr>
          <p:cNvPr id="967" name="Google Shape;967;p42"/>
          <p:cNvSpPr/>
          <p:nvPr/>
        </p:nvSpPr>
        <p:spPr>
          <a:xfrm>
            <a:off x="801410" y="5445681"/>
            <a:ext cx="13027500" cy="711900"/>
          </a:xfrm>
          <a:prstGeom prst="rect">
            <a:avLst/>
          </a:prstGeom>
          <a:solidFill>
            <a:srgbClr val="FFFFFF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8" name="Google Shape;968;p42"/>
          <p:cNvSpPr/>
          <p:nvPr/>
        </p:nvSpPr>
        <p:spPr>
          <a:xfrm>
            <a:off x="983099" y="5540335"/>
            <a:ext cx="15951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Inter"/>
              <a:buNone/>
            </a:pPr>
            <a:r>
              <a:rPr b="0" i="0" lang="en-US" sz="14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Outlier type</a:t>
            </a:r>
            <a:endParaRPr b="0" i="0" sz="1400" u="none" cap="none" strike="noStrike"/>
          </a:p>
        </p:txBody>
      </p:sp>
      <p:sp>
        <p:nvSpPr>
          <p:cNvPr id="969" name="Google Shape;969;p42"/>
          <p:cNvSpPr/>
          <p:nvPr/>
        </p:nvSpPr>
        <p:spPr>
          <a:xfrm>
            <a:off x="2948821" y="5540335"/>
            <a:ext cx="3317700" cy="5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Inter"/>
              <a:buNone/>
            </a:pPr>
            <a:r>
              <a:rPr b="0" i="0" lang="en-US" sz="14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Eye blink: 100–300 μV spike in &lt;100 ms</a:t>
            </a:r>
            <a:endParaRPr b="0" i="0" sz="1400" u="none" cap="none" strike="noStrike"/>
          </a:p>
        </p:txBody>
      </p:sp>
      <p:sp>
        <p:nvSpPr>
          <p:cNvPr id="970" name="Google Shape;970;p42"/>
          <p:cNvSpPr/>
          <p:nvPr/>
        </p:nvSpPr>
        <p:spPr>
          <a:xfrm>
            <a:off x="6636901" y="5540335"/>
            <a:ext cx="44430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Inter"/>
              <a:buNone/>
            </a:pPr>
            <a:r>
              <a:rPr b="0" i="0" lang="en-US" sz="14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Loop-closure: +2 m pose jump in 1 sample (70 ms)</a:t>
            </a:r>
            <a:endParaRPr b="0" i="0" sz="1400" u="none" cap="none" strike="noStrike"/>
          </a:p>
        </p:txBody>
      </p:sp>
      <p:sp>
        <p:nvSpPr>
          <p:cNvPr id="971" name="Google Shape;971;p42"/>
          <p:cNvSpPr/>
          <p:nvPr/>
        </p:nvSpPr>
        <p:spPr>
          <a:xfrm>
            <a:off x="11450479" y="5540335"/>
            <a:ext cx="21972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Inter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✅</a:t>
            </a:r>
            <a:r>
              <a:rPr b="0" i="0" lang="en-US" sz="14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Impulsive</a:t>
            </a:r>
            <a:endParaRPr b="0" i="0" sz="1400" u="none" cap="none" strike="noStrike"/>
          </a:p>
        </p:txBody>
      </p:sp>
      <p:sp>
        <p:nvSpPr>
          <p:cNvPr id="972" name="Google Shape;972;p42"/>
          <p:cNvSpPr/>
          <p:nvPr/>
        </p:nvSpPr>
        <p:spPr>
          <a:xfrm>
            <a:off x="801410" y="6157436"/>
            <a:ext cx="13027500" cy="711900"/>
          </a:xfrm>
          <a:prstGeom prst="rect">
            <a:avLst/>
          </a:prstGeom>
          <a:solidFill>
            <a:srgbClr val="000000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3" name="Google Shape;973;p42"/>
          <p:cNvSpPr/>
          <p:nvPr/>
        </p:nvSpPr>
        <p:spPr>
          <a:xfrm>
            <a:off x="983099" y="6252091"/>
            <a:ext cx="1595100" cy="5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Inter"/>
              <a:buNone/>
            </a:pPr>
            <a:r>
              <a:rPr b="0" i="0" lang="en-US" sz="14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Frequency content</a:t>
            </a:r>
            <a:endParaRPr b="0" i="0" sz="1400" u="none" cap="none" strike="noStrike"/>
          </a:p>
        </p:txBody>
      </p:sp>
      <p:sp>
        <p:nvSpPr>
          <p:cNvPr id="974" name="Google Shape;974;p42"/>
          <p:cNvSpPr/>
          <p:nvPr/>
        </p:nvSpPr>
        <p:spPr>
          <a:xfrm>
            <a:off x="2948821" y="6252091"/>
            <a:ext cx="3317700" cy="5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Inter"/>
              <a:buNone/>
            </a:pPr>
            <a:r>
              <a:rPr b="0" i="0" lang="en-US" sz="14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0.5–40 Hz signal, 50 Hz powerline artifact</a:t>
            </a:r>
            <a:endParaRPr b="0" i="0" sz="1400" u="none" cap="none" strike="noStrike"/>
          </a:p>
        </p:txBody>
      </p:sp>
      <p:sp>
        <p:nvSpPr>
          <p:cNvPr id="975" name="Google Shape;975;p42"/>
          <p:cNvSpPr/>
          <p:nvPr/>
        </p:nvSpPr>
        <p:spPr>
          <a:xfrm>
            <a:off x="6636901" y="6252091"/>
            <a:ext cx="44430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Inter"/>
              <a:buNone/>
            </a:pPr>
            <a:r>
              <a:rPr b="0" i="0" lang="en-US" sz="14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0.1–5 Hz motion, &gt;10 Hz vibration artifact</a:t>
            </a:r>
            <a:endParaRPr b="0" i="0" sz="1400" u="none" cap="none" strike="noStrike"/>
          </a:p>
        </p:txBody>
      </p:sp>
      <p:sp>
        <p:nvSpPr>
          <p:cNvPr id="976" name="Google Shape;976;p42"/>
          <p:cNvSpPr/>
          <p:nvPr/>
        </p:nvSpPr>
        <p:spPr>
          <a:xfrm>
            <a:off x="11450479" y="6252091"/>
            <a:ext cx="21972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Inter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✅</a:t>
            </a:r>
            <a:r>
              <a:rPr b="0" i="0" lang="en-US" sz="14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Separable</a:t>
            </a:r>
            <a:endParaRPr b="0" i="0" sz="1400" u="none" cap="none" strike="noStrike"/>
          </a:p>
        </p:txBody>
      </p:sp>
      <p:sp>
        <p:nvSpPr>
          <p:cNvPr id="977" name="Google Shape;977;p42"/>
          <p:cNvSpPr/>
          <p:nvPr/>
        </p:nvSpPr>
        <p:spPr>
          <a:xfrm>
            <a:off x="801410" y="6869192"/>
            <a:ext cx="13027500" cy="450600"/>
          </a:xfrm>
          <a:prstGeom prst="rect">
            <a:avLst/>
          </a:prstGeom>
          <a:solidFill>
            <a:srgbClr val="FFFFFF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8" name="Google Shape;978;p42"/>
          <p:cNvSpPr/>
          <p:nvPr/>
        </p:nvSpPr>
        <p:spPr>
          <a:xfrm>
            <a:off x="983099" y="6963847"/>
            <a:ext cx="15951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Inter"/>
              <a:buNone/>
            </a:pPr>
            <a:r>
              <a:rPr b="0" i="0" lang="en-US" sz="14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Noise statistics</a:t>
            </a:r>
            <a:endParaRPr b="0" i="0" sz="1400" u="none" cap="none" strike="noStrike"/>
          </a:p>
        </p:txBody>
      </p:sp>
      <p:sp>
        <p:nvSpPr>
          <p:cNvPr id="979" name="Google Shape;979;p42"/>
          <p:cNvSpPr/>
          <p:nvPr/>
        </p:nvSpPr>
        <p:spPr>
          <a:xfrm>
            <a:off x="2948821" y="6963847"/>
            <a:ext cx="33177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Inter"/>
              <a:buNone/>
            </a:pPr>
            <a:r>
              <a:rPr b="0" i="0" lang="en-US" sz="14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Unknown, non-Gaussian, time-varying</a:t>
            </a:r>
            <a:endParaRPr b="0" i="0" sz="1400" u="none" cap="none" strike="noStrike"/>
          </a:p>
        </p:txBody>
      </p:sp>
      <p:sp>
        <p:nvSpPr>
          <p:cNvPr id="980" name="Google Shape;980;p42"/>
          <p:cNvSpPr/>
          <p:nvPr/>
        </p:nvSpPr>
        <p:spPr>
          <a:xfrm>
            <a:off x="6636901" y="6963847"/>
            <a:ext cx="44430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Inter"/>
              <a:buNone/>
            </a:pPr>
            <a:r>
              <a:rPr b="0" i="0" lang="en-US" sz="14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Non-Gaussian burst + stationary Gaussian floor</a:t>
            </a:r>
            <a:endParaRPr b="0" i="0" sz="1400" u="none" cap="none" strike="noStrike"/>
          </a:p>
        </p:txBody>
      </p:sp>
      <p:sp>
        <p:nvSpPr>
          <p:cNvPr id="981" name="Google Shape;981;p42"/>
          <p:cNvSpPr/>
          <p:nvPr/>
        </p:nvSpPr>
        <p:spPr>
          <a:xfrm>
            <a:off x="11450479" y="6963847"/>
            <a:ext cx="21972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Inter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✅</a:t>
            </a:r>
            <a:endParaRPr b="0" i="0" sz="1400" u="none" cap="none" strike="noStrike"/>
          </a:p>
        </p:txBody>
      </p:sp>
      <p:sp>
        <p:nvSpPr>
          <p:cNvPr id="982" name="Google Shape;982;p42"/>
          <p:cNvSpPr/>
          <p:nvPr/>
        </p:nvSpPr>
        <p:spPr>
          <a:xfrm>
            <a:off x="12845075" y="7780725"/>
            <a:ext cx="1680600" cy="356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30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p43"/>
          <p:cNvSpPr/>
          <p:nvPr/>
        </p:nvSpPr>
        <p:spPr>
          <a:xfrm>
            <a:off x="793790" y="741402"/>
            <a:ext cx="64512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5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50"/>
              <a:buFont typeface="Petrona"/>
              <a:buNone/>
            </a:pPr>
            <a:r>
              <a:rPr b="1" i="0" lang="en-US" sz="325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Quantum Mechanical Foundation</a:t>
            </a:r>
            <a:endParaRPr b="0" i="0" sz="3250" u="none" cap="none" strike="noStrike"/>
          </a:p>
        </p:txBody>
      </p:sp>
      <p:sp>
        <p:nvSpPr>
          <p:cNvPr id="989" name="Google Shape;989;p43"/>
          <p:cNvSpPr/>
          <p:nvPr/>
        </p:nvSpPr>
        <p:spPr>
          <a:xfrm>
            <a:off x="793790" y="1484709"/>
            <a:ext cx="130428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Wave function, Schrödinger evolution, and expectation value as the filtered signal estimate</a:t>
            </a:r>
            <a:endParaRPr b="0" i="0" sz="1250" u="none" cap="none" strike="noStrike"/>
          </a:p>
        </p:txBody>
      </p:sp>
      <p:sp>
        <p:nvSpPr>
          <p:cNvPr id="990" name="Google Shape;990;p43"/>
          <p:cNvSpPr/>
          <p:nvPr/>
        </p:nvSpPr>
        <p:spPr>
          <a:xfrm>
            <a:off x="679490" y="1825704"/>
            <a:ext cx="6556500" cy="3142500"/>
          </a:xfrm>
          <a:prstGeom prst="roundRect">
            <a:avLst>
              <a:gd fmla="val 3638" name="adj"/>
            </a:avLst>
          </a:prstGeom>
          <a:solidFill>
            <a:srgbClr val="007EBD">
              <a:alpha val="9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1" name="Google Shape;991;p43"/>
          <p:cNvSpPr/>
          <p:nvPr/>
        </p:nvSpPr>
        <p:spPr>
          <a:xfrm>
            <a:off x="838200" y="1936790"/>
            <a:ext cx="24582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1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Petrona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Mathematical Framework</a:t>
            </a:r>
            <a:endParaRPr b="0" i="0" sz="1600" u="none" cap="none" strike="noStrike"/>
          </a:p>
        </p:txBody>
      </p:sp>
      <p:sp>
        <p:nvSpPr>
          <p:cNvPr id="992" name="Google Shape;992;p43"/>
          <p:cNvSpPr/>
          <p:nvPr/>
        </p:nvSpPr>
        <p:spPr>
          <a:xfrm>
            <a:off x="838200" y="2308265"/>
            <a:ext cx="62391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Inter"/>
              <a:buNone/>
            </a:pPr>
            <a:r>
              <a:rPr b="1" i="0" lang="en-US" sz="12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Wave Function ψ(x,t):</a:t>
            </a:r>
            <a:r>
              <a:rPr b="0" i="0" lang="en-US" sz="12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Probability amplitude over signal space x. P(x) = |ψ(x,t)|² — probability density. Represents filter's belief about the true signal.</a:t>
            </a:r>
            <a:endParaRPr b="0" i="0" sz="1250" u="none" cap="none" strike="noStrike"/>
          </a:p>
        </p:txBody>
      </p:sp>
      <p:sp>
        <p:nvSpPr>
          <p:cNvPr id="993" name="Google Shape;993;p43"/>
          <p:cNvSpPr/>
          <p:nvPr/>
        </p:nvSpPr>
        <p:spPr>
          <a:xfrm>
            <a:off x="838200" y="2840236"/>
            <a:ext cx="62391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Inter"/>
              <a:buNone/>
            </a:pPr>
            <a:r>
              <a:rPr b="1" i="0" lang="en-US" sz="12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Schrödinger Equation:</a:t>
            </a:r>
            <a:r>
              <a:rPr b="0" i="0" lang="en-US" sz="12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iℏ ∂ψ/∂t = Ĥψ, where Ĥ = −ℏ²/2m · ∂²/∂x² + V(x). Kinetic term spreads ψ; potential V localizes it.</a:t>
            </a:r>
            <a:endParaRPr b="0" i="0" sz="1250" u="none" cap="none" strike="noStrike"/>
          </a:p>
        </p:txBody>
      </p:sp>
      <p:sp>
        <p:nvSpPr>
          <p:cNvPr id="994" name="Google Shape;994;p43"/>
          <p:cNvSpPr/>
          <p:nvPr/>
        </p:nvSpPr>
        <p:spPr>
          <a:xfrm>
            <a:off x="838200" y="3372207"/>
            <a:ext cx="62391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Inter"/>
              <a:buNone/>
            </a:pPr>
            <a:r>
              <a:rPr b="1" i="0" lang="en-US" sz="12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Quadratic Potential:</a:t>
            </a:r>
            <a:r>
              <a:rPr b="0" i="0" lang="en-US" sz="12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V(x) = γ · (x − y_obs)² — potential well centered on current measurement. γ controls well depth.</a:t>
            </a:r>
            <a:endParaRPr b="0" i="0" sz="1250" u="none" cap="none" strike="noStrike"/>
          </a:p>
        </p:txBody>
      </p:sp>
      <p:sp>
        <p:nvSpPr>
          <p:cNvPr id="995" name="Google Shape;995;p43"/>
          <p:cNvSpPr/>
          <p:nvPr/>
        </p:nvSpPr>
        <p:spPr>
          <a:xfrm>
            <a:off x="838200" y="3904178"/>
            <a:ext cx="62391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Inter"/>
              <a:buNone/>
            </a:pPr>
            <a:r>
              <a:rPr b="1" i="0" lang="en-US" sz="12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Signal Estimate:</a:t>
            </a:r>
            <a:r>
              <a:rPr b="0" i="0" lang="en-US" sz="12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ŷ = ⟨x⟩ = ∫ x |ψ(x,t)|² dx = Σᵢ xᵢ · pᵢ — zero-lag: expectation computed at current t.</a:t>
            </a:r>
            <a:endParaRPr b="0" i="0" sz="1250" u="none" cap="none" strike="noStrike"/>
          </a:p>
        </p:txBody>
      </p:sp>
      <p:sp>
        <p:nvSpPr>
          <p:cNvPr id="996" name="Google Shape;996;p43"/>
          <p:cNvSpPr/>
          <p:nvPr/>
        </p:nvSpPr>
        <p:spPr>
          <a:xfrm>
            <a:off x="838200" y="4436150"/>
            <a:ext cx="62391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Inter"/>
              <a:buNone/>
            </a:pPr>
            <a:r>
              <a:rPr b="1" i="0" lang="en-US" sz="12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Hebbian Adaptation:</a:t>
            </a:r>
            <a:r>
              <a:rPr b="0" i="0" lang="en-US" sz="12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Δw ∝ (y_obs − ŷ) · ŷ — error-driven online learning. No backprop.</a:t>
            </a:r>
            <a:endParaRPr b="0" i="0" sz="1250" u="none" cap="none" strike="noStrike"/>
          </a:p>
        </p:txBody>
      </p:sp>
      <p:sp>
        <p:nvSpPr>
          <p:cNvPr id="997" name="Google Shape;997;p43"/>
          <p:cNvSpPr/>
          <p:nvPr/>
        </p:nvSpPr>
        <p:spPr>
          <a:xfrm>
            <a:off x="7516416" y="1936790"/>
            <a:ext cx="20841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1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Petrona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Physical Intuition</a:t>
            </a:r>
            <a:endParaRPr b="0" i="0" sz="1600" u="none" cap="none" strike="noStrike"/>
          </a:p>
        </p:txBody>
      </p:sp>
      <p:sp>
        <p:nvSpPr>
          <p:cNvPr id="998" name="Google Shape;998;p43"/>
          <p:cNvSpPr/>
          <p:nvPr/>
        </p:nvSpPr>
        <p:spPr>
          <a:xfrm>
            <a:off x="7516416" y="2322195"/>
            <a:ext cx="6327900" cy="762000"/>
          </a:xfrm>
          <a:prstGeom prst="roundRect">
            <a:avLst>
              <a:gd fmla="val 8752" name="adj"/>
            </a:avLst>
          </a:prstGeom>
          <a:solidFill>
            <a:srgbClr val="B6D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99" name="Google Shape;999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75126" y="2541627"/>
            <a:ext cx="198358" cy="158710"/>
          </a:xfrm>
          <a:prstGeom prst="rect">
            <a:avLst/>
          </a:prstGeom>
          <a:noFill/>
          <a:ln>
            <a:noFill/>
          </a:ln>
        </p:spPr>
      </p:pic>
      <p:sp>
        <p:nvSpPr>
          <p:cNvPr id="1000" name="Google Shape;1000;p43"/>
          <p:cNvSpPr/>
          <p:nvPr/>
        </p:nvSpPr>
        <p:spPr>
          <a:xfrm>
            <a:off x="8032194" y="2472928"/>
            <a:ext cx="56532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Inter"/>
              <a:buNone/>
            </a:pPr>
            <a:r>
              <a:rPr b="1" i="0" lang="en-US" sz="12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Why zero-lag?</a:t>
            </a:r>
            <a:r>
              <a:rPr b="0" i="0" lang="en-US" sz="12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Classical FIR: output = weighted past inputs. RQNN: output = current wave function state. No accumulation of past values in estimate.</a:t>
            </a:r>
            <a:endParaRPr b="0" i="0" sz="1250" u="none" cap="none" strike="noStrike"/>
          </a:p>
        </p:txBody>
      </p:sp>
      <p:sp>
        <p:nvSpPr>
          <p:cNvPr id="1001" name="Google Shape;1001;p43"/>
          <p:cNvSpPr/>
          <p:nvPr/>
        </p:nvSpPr>
        <p:spPr>
          <a:xfrm>
            <a:off x="7516416" y="3209211"/>
            <a:ext cx="63279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1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Lattice: 150 points, x_range ≈ signal ± 3σ | dt = 1/f_sensor (adapts to each sensor rate)</a:t>
            </a:r>
            <a:endParaRPr b="0" i="0" sz="1250" u="none" cap="none" strike="noStrike"/>
          </a:p>
        </p:txBody>
      </p:sp>
      <p:sp>
        <p:nvSpPr>
          <p:cNvPr id="1002" name="Google Shape;1002;p43"/>
          <p:cNvSpPr/>
          <p:nvPr/>
        </p:nvSpPr>
        <p:spPr>
          <a:xfrm>
            <a:off x="793790" y="5093137"/>
            <a:ext cx="317400" cy="19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Petrona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01</a:t>
            </a:r>
            <a:endParaRPr b="0" i="0" sz="1250" u="none" cap="none" strike="noStrike"/>
          </a:p>
        </p:txBody>
      </p:sp>
      <p:sp>
        <p:nvSpPr>
          <p:cNvPr id="1003" name="Google Shape;1003;p43"/>
          <p:cNvSpPr/>
          <p:nvPr/>
        </p:nvSpPr>
        <p:spPr>
          <a:xfrm>
            <a:off x="793790" y="5339953"/>
            <a:ext cx="6465900" cy="22800"/>
          </a:xfrm>
          <a:prstGeom prst="rect">
            <a:avLst/>
          </a:prstGeom>
          <a:solidFill>
            <a:srgbClr val="007EB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4" name="Google Shape;1004;p43"/>
          <p:cNvSpPr/>
          <p:nvPr/>
        </p:nvSpPr>
        <p:spPr>
          <a:xfrm>
            <a:off x="793790" y="5464969"/>
            <a:ext cx="20841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12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00"/>
              <a:buFont typeface="Petrona"/>
              <a:buNone/>
            </a:pPr>
            <a:r>
              <a:rPr b="1" i="0" lang="en-US" sz="16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Bias</a:t>
            </a:r>
            <a:endParaRPr b="0" i="0" sz="1600" u="none" cap="none" strike="noStrike"/>
          </a:p>
        </p:txBody>
      </p:sp>
      <p:sp>
        <p:nvSpPr>
          <p:cNvPr id="1005" name="Google Shape;1005;p43"/>
          <p:cNvSpPr/>
          <p:nvPr/>
        </p:nvSpPr>
        <p:spPr>
          <a:xfrm>
            <a:off x="793790" y="5792033"/>
            <a:ext cx="64659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Gaussian G(y_obs) added to ψ. Cloud pulled toward new measurement.</a:t>
            </a:r>
            <a:endParaRPr b="0" i="0" sz="1250" u="none" cap="none" strike="noStrike"/>
          </a:p>
        </p:txBody>
      </p:sp>
      <p:sp>
        <p:nvSpPr>
          <p:cNvPr id="1006" name="Google Shape;1006;p43"/>
          <p:cNvSpPr/>
          <p:nvPr/>
        </p:nvSpPr>
        <p:spPr>
          <a:xfrm>
            <a:off x="7370683" y="5093137"/>
            <a:ext cx="317400" cy="19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Petrona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02</a:t>
            </a:r>
            <a:endParaRPr b="0" i="0" sz="1250" u="none" cap="none" strike="noStrike"/>
          </a:p>
        </p:txBody>
      </p:sp>
      <p:sp>
        <p:nvSpPr>
          <p:cNvPr id="1007" name="Google Shape;1007;p43"/>
          <p:cNvSpPr/>
          <p:nvPr/>
        </p:nvSpPr>
        <p:spPr>
          <a:xfrm>
            <a:off x="7370683" y="5339953"/>
            <a:ext cx="6465900" cy="22800"/>
          </a:xfrm>
          <a:prstGeom prst="rect">
            <a:avLst/>
          </a:prstGeom>
          <a:solidFill>
            <a:srgbClr val="007EB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8" name="Google Shape;1008;p43"/>
          <p:cNvSpPr/>
          <p:nvPr/>
        </p:nvSpPr>
        <p:spPr>
          <a:xfrm>
            <a:off x="7370683" y="5464969"/>
            <a:ext cx="26046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12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00"/>
              <a:buFont typeface="Petrona"/>
              <a:buNone/>
            </a:pPr>
            <a:r>
              <a:rPr b="1" i="0" lang="en-US" sz="16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Evolve (3× Crank-Nicolson)</a:t>
            </a:r>
            <a:endParaRPr b="0" i="0" sz="1600" u="none" cap="none" strike="noStrike"/>
          </a:p>
        </p:txBody>
      </p:sp>
      <p:sp>
        <p:nvSpPr>
          <p:cNvPr id="1009" name="Google Shape;1009;p43"/>
          <p:cNvSpPr/>
          <p:nvPr/>
        </p:nvSpPr>
        <p:spPr>
          <a:xfrm>
            <a:off x="7370683" y="5792033"/>
            <a:ext cx="64659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ψ(t+dt) = (I−iĤdt/2ℏ)⁻¹(I+iĤdt/2ℏ)ψ(t) — numerically stable, unitary → ‖ψ‖=1 preserved.</a:t>
            </a:r>
            <a:endParaRPr b="0" i="0" sz="1250" u="none" cap="none" strike="noStrike"/>
          </a:p>
        </p:txBody>
      </p:sp>
      <p:sp>
        <p:nvSpPr>
          <p:cNvPr id="1010" name="Google Shape;1010;p43"/>
          <p:cNvSpPr/>
          <p:nvPr/>
        </p:nvSpPr>
        <p:spPr>
          <a:xfrm>
            <a:off x="793790" y="6454140"/>
            <a:ext cx="317400" cy="19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Petrona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03</a:t>
            </a:r>
            <a:endParaRPr b="0" i="0" sz="1250" u="none" cap="none" strike="noStrike"/>
          </a:p>
        </p:txBody>
      </p:sp>
      <p:sp>
        <p:nvSpPr>
          <p:cNvPr id="1011" name="Google Shape;1011;p43"/>
          <p:cNvSpPr/>
          <p:nvPr/>
        </p:nvSpPr>
        <p:spPr>
          <a:xfrm>
            <a:off x="793790" y="6700957"/>
            <a:ext cx="6465900" cy="22800"/>
          </a:xfrm>
          <a:prstGeom prst="rect">
            <a:avLst/>
          </a:prstGeom>
          <a:solidFill>
            <a:srgbClr val="007EB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2" name="Google Shape;1012;p43"/>
          <p:cNvSpPr/>
          <p:nvPr/>
        </p:nvSpPr>
        <p:spPr>
          <a:xfrm>
            <a:off x="793790" y="6825972"/>
            <a:ext cx="20841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12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00"/>
              <a:buFont typeface="Petrona"/>
              <a:buNone/>
            </a:pPr>
            <a:r>
              <a:rPr b="1" i="0" lang="en-US" sz="16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Estimate</a:t>
            </a:r>
            <a:endParaRPr b="0" i="0" sz="1600" u="none" cap="none" strike="noStrike"/>
          </a:p>
        </p:txBody>
      </p:sp>
      <p:sp>
        <p:nvSpPr>
          <p:cNvPr id="1013" name="Google Shape;1013;p43"/>
          <p:cNvSpPr/>
          <p:nvPr/>
        </p:nvSpPr>
        <p:spPr>
          <a:xfrm>
            <a:off x="793790" y="7153037"/>
            <a:ext cx="64659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ŷ = center-of-mass of |ψ|² cloud.</a:t>
            </a:r>
            <a:endParaRPr b="0" i="0" sz="1250" u="none" cap="none" strike="noStrike"/>
          </a:p>
        </p:txBody>
      </p:sp>
      <p:sp>
        <p:nvSpPr>
          <p:cNvPr id="1014" name="Google Shape;1014;p43"/>
          <p:cNvSpPr/>
          <p:nvPr/>
        </p:nvSpPr>
        <p:spPr>
          <a:xfrm>
            <a:off x="7370683" y="6454140"/>
            <a:ext cx="317400" cy="19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Petrona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04</a:t>
            </a:r>
            <a:endParaRPr b="0" i="0" sz="1250" u="none" cap="none" strike="noStrike"/>
          </a:p>
        </p:txBody>
      </p:sp>
      <p:sp>
        <p:nvSpPr>
          <p:cNvPr id="1015" name="Google Shape;1015;p43"/>
          <p:cNvSpPr/>
          <p:nvPr/>
        </p:nvSpPr>
        <p:spPr>
          <a:xfrm>
            <a:off x="7370683" y="6700957"/>
            <a:ext cx="6465900" cy="22800"/>
          </a:xfrm>
          <a:prstGeom prst="rect">
            <a:avLst/>
          </a:prstGeom>
          <a:solidFill>
            <a:srgbClr val="007EB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6" name="Google Shape;1016;p43"/>
          <p:cNvSpPr/>
          <p:nvPr/>
        </p:nvSpPr>
        <p:spPr>
          <a:xfrm>
            <a:off x="7370683" y="6825972"/>
            <a:ext cx="20841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12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00"/>
              <a:buFont typeface="Petrona"/>
              <a:buNone/>
            </a:pPr>
            <a:r>
              <a:rPr b="1" i="0" lang="en-US" sz="16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Update</a:t>
            </a:r>
            <a:endParaRPr b="0" i="0" sz="1600" u="none" cap="none" strike="noStrike"/>
          </a:p>
        </p:txBody>
      </p:sp>
      <p:sp>
        <p:nvSpPr>
          <p:cNvPr id="1017" name="Google Shape;1017;p43"/>
          <p:cNvSpPr/>
          <p:nvPr/>
        </p:nvSpPr>
        <p:spPr>
          <a:xfrm>
            <a:off x="7370683" y="7153037"/>
            <a:ext cx="64659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Hebbian weight shifts bias for next sample.</a:t>
            </a:r>
            <a:endParaRPr b="0" i="0" sz="1250" u="none" cap="none" strike="noStrike"/>
          </a:p>
        </p:txBody>
      </p:sp>
      <p:sp>
        <p:nvSpPr>
          <p:cNvPr id="1018" name="Google Shape;1018;p43"/>
          <p:cNvSpPr/>
          <p:nvPr/>
        </p:nvSpPr>
        <p:spPr>
          <a:xfrm>
            <a:off x="12845075" y="7780725"/>
            <a:ext cx="1680600" cy="356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31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3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p44"/>
          <p:cNvSpPr/>
          <p:nvPr/>
        </p:nvSpPr>
        <p:spPr>
          <a:xfrm>
            <a:off x="793790" y="470957"/>
            <a:ext cx="8181600" cy="4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Petrona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RQNN Algorithm — IEEE Formal Specification</a:t>
            </a:r>
            <a:endParaRPr b="0" i="0" sz="3000" u="none" cap="none" strike="noStrike"/>
          </a:p>
        </p:txBody>
      </p:sp>
      <p:sp>
        <p:nvSpPr>
          <p:cNvPr id="1025" name="Google Shape;1025;p44"/>
          <p:cNvSpPr/>
          <p:nvPr/>
        </p:nvSpPr>
        <p:spPr>
          <a:xfrm>
            <a:off x="793790" y="1146280"/>
            <a:ext cx="130428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b="0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Per-sample online filter running independently per sensor channel in quantum_filter_node.py</a:t>
            </a:r>
            <a:endParaRPr b="0" i="0" sz="1150" u="none" cap="none" strike="noStrike"/>
          </a:p>
        </p:txBody>
      </p:sp>
      <p:sp>
        <p:nvSpPr>
          <p:cNvPr id="1026" name="Google Shape;1026;p44"/>
          <p:cNvSpPr/>
          <p:nvPr/>
        </p:nvSpPr>
        <p:spPr>
          <a:xfrm>
            <a:off x="793790" y="1544306"/>
            <a:ext cx="3393900" cy="2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Petrona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Algorithm 1: RQNN_Filter(y_obs, ψ, θ)</a:t>
            </a:r>
            <a:endParaRPr b="0" i="0" sz="1500" u="none" cap="none" strike="noStrike"/>
          </a:p>
        </p:txBody>
      </p:sp>
      <p:sp>
        <p:nvSpPr>
          <p:cNvPr id="1027" name="Google Shape;1027;p44"/>
          <p:cNvSpPr/>
          <p:nvPr/>
        </p:nvSpPr>
        <p:spPr>
          <a:xfrm>
            <a:off x="793790" y="1893873"/>
            <a:ext cx="5805600" cy="5158500"/>
          </a:xfrm>
          <a:prstGeom prst="roundRect">
            <a:avLst>
              <a:gd fmla="val 1200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8" name="Google Shape;1028;p44"/>
          <p:cNvSpPr/>
          <p:nvPr/>
        </p:nvSpPr>
        <p:spPr>
          <a:xfrm>
            <a:off x="786525" y="1893866"/>
            <a:ext cx="5820000" cy="5955900"/>
          </a:xfrm>
          <a:prstGeom prst="roundRect">
            <a:avLst>
              <a:gd fmla="val 429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9" name="Google Shape;1029;p44"/>
          <p:cNvSpPr/>
          <p:nvPr/>
        </p:nvSpPr>
        <p:spPr>
          <a:xfrm>
            <a:off x="970717" y="2041273"/>
            <a:ext cx="5451600" cy="4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2863A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22863A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Input : y_obs — raw sensor measurement at time t</a:t>
            </a:r>
            <a:endParaRPr b="0" i="0" sz="1150" u="none" cap="none" strike="noStrike"/>
          </a:p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2863A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22863A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     ψ — complex wave function (150 elements, persists)</a:t>
            </a:r>
            <a:endParaRPr b="0" i="0" sz="1150" u="none" cap="none" strike="noStrike"/>
          </a:p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2863A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22863A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     θ = {m, σ, γ, ℏ, bias_strength} — PSO-tuned params</a:t>
            </a:r>
            <a:endParaRPr b="0" i="0" sz="1150" u="none" cap="none" strike="noStrike"/>
          </a:p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2863A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22863A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Output: ŷ — filtered estimate (zero-lag)</a:t>
            </a:r>
            <a:endParaRPr b="0" i="0" sz="1150" u="none" cap="none" strike="noStrike"/>
          </a:p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2863A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22863A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1. BIAS WAVEPACKET toward observation:</a:t>
            </a:r>
            <a:endParaRPr b="0" i="0" sz="1150" u="none" cap="none" strike="noStrike"/>
          </a:p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2863A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22863A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G(x) = exp( −(x − y_obs)² / 2σ² )</a:t>
            </a:r>
            <a:endParaRPr b="0" i="0" sz="1150" u="none" cap="none" strike="noStrike"/>
          </a:p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2863A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22863A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ψ ← ψ + bias_strength · G(x)</a:t>
            </a:r>
            <a:endParaRPr b="0" i="0" sz="1150" u="none" cap="none" strike="noStrike"/>
          </a:p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2863A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22863A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ψ ← ψ / ‖ψ‖  {renormalize: Σ|ψ|²=1}</a:t>
            </a:r>
            <a:endParaRPr b="0" i="0" sz="1150" u="none" cap="none" strike="noStrike"/>
          </a:p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2863A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22863A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2. COMPUTE QUADRATIC POTENTIAL:</a:t>
            </a:r>
            <a:endParaRPr b="0" i="0" sz="1150" u="none" cap="none" strike="noStrike"/>
          </a:p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2863A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22863A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V(x) = γ · (x − y_obs)²  {well centered on y_obs}</a:t>
            </a:r>
            <a:endParaRPr b="0" i="0" sz="1150" u="none" cap="none" strike="noStrike"/>
          </a:p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2863A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22863A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3. BUILD HAMILTONIAN (tridiagonal):</a:t>
            </a:r>
            <a:endParaRPr b="0" i="0" sz="1150" u="none" cap="none" strike="noStrike"/>
          </a:p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2863A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22863A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Hᵢᵢ = ℏ²/m·Δx² + V(xᵢ)       {diagonal}</a:t>
            </a:r>
            <a:endParaRPr b="0" i="0" sz="1150" u="none" cap="none" strike="noStrike"/>
          </a:p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2863A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22863A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Hᵢ,ᵢ±1 = −ℏ²/(2m·Δx²)        {off-diagonal kinetic}</a:t>
            </a:r>
            <a:endParaRPr b="0" i="0" sz="1150" u="none" cap="none" strike="noStrike"/>
          </a:p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2863A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22863A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4. EVOLVE — 3 Crank-Nicolson substeps:</a:t>
            </a:r>
            <a:endParaRPr b="0" i="0" sz="1150" u="none" cap="none" strike="noStrike"/>
          </a:p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2863A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22863A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A = I + i·H·dt/2  {implicit}</a:t>
            </a:r>
            <a:endParaRPr b="0" i="0" sz="1150" u="none" cap="none" strike="noStrike"/>
          </a:p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2863A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22863A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B = I − i·H·dt/2  {explicit}</a:t>
            </a:r>
            <a:endParaRPr b="0" i="0" sz="1150" u="none" cap="none" strike="noStrike"/>
          </a:p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2863A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22863A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ψ ← A⁻¹ · B · ψ   {tridiagonal solve O(N)}</a:t>
            </a:r>
            <a:endParaRPr b="0" i="0" sz="1150" u="none" cap="none" strike="noStrike"/>
          </a:p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2863A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22863A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5. EXTRACT PROBABILITY DENSITY:</a:t>
            </a:r>
            <a:endParaRPr b="0" i="0" sz="1150" u="none" cap="none" strike="noStrike"/>
          </a:p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2863A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22863A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p(x) = |ψ(x)|²  {Born rule}</a:t>
            </a:r>
            <a:endParaRPr b="0" i="0" sz="1150" u="none" cap="none" strike="noStrike"/>
          </a:p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2863A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22863A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6. COMPUTE EXPECTATION VALUE:</a:t>
            </a:r>
            <a:endParaRPr b="0" i="0" sz="1150" u="none" cap="none" strike="noStrike"/>
          </a:p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2863A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22863A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ŷ = Σᵢ xᵢ · p(xᵢ)  {center of mass}</a:t>
            </a:r>
            <a:endParaRPr b="0" i="0" sz="1150" u="none" cap="none" strike="noStrike"/>
          </a:p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2863A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22863A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7. HEBBIAN WEIGHT UPDATE:</a:t>
            </a:r>
            <a:endParaRPr b="0" i="0" sz="1150" u="none" cap="none" strike="noStrike"/>
          </a:p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2863A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22863A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err ← y_obs − ŷ</a:t>
            </a:r>
            <a:endParaRPr b="0" i="0" sz="1150" u="none" cap="none" strike="noStrike"/>
          </a:p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2863A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22863A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Δw ∝ err · ŷ  {online adaptation}</a:t>
            </a:r>
            <a:endParaRPr b="0" i="0" sz="1150" u="none" cap="none" strike="noStrike"/>
          </a:p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2863A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22863A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return ŷ</a:t>
            </a:r>
            <a:endParaRPr b="0" i="0" sz="1150" u="none" cap="none" strike="noStrike"/>
          </a:p>
        </p:txBody>
      </p:sp>
      <p:sp>
        <p:nvSpPr>
          <p:cNvPr id="1030" name="Google Shape;1030;p44"/>
          <p:cNvSpPr/>
          <p:nvPr/>
        </p:nvSpPr>
        <p:spPr>
          <a:xfrm>
            <a:off x="6966466" y="1544306"/>
            <a:ext cx="1935000" cy="2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Petrona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PSO Search Bounds</a:t>
            </a:r>
            <a:endParaRPr b="0" i="0" sz="1500" u="none" cap="none" strike="noStrike"/>
          </a:p>
        </p:txBody>
      </p:sp>
      <p:sp>
        <p:nvSpPr>
          <p:cNvPr id="1031" name="Google Shape;1031;p44"/>
          <p:cNvSpPr/>
          <p:nvPr/>
        </p:nvSpPr>
        <p:spPr>
          <a:xfrm>
            <a:off x="6966466" y="1893873"/>
            <a:ext cx="6877500" cy="2287200"/>
          </a:xfrm>
          <a:prstGeom prst="roundRect">
            <a:avLst>
              <a:gd fmla="val 2707" name="adj"/>
            </a:avLst>
          </a:prstGeom>
          <a:noFill/>
          <a:ln cap="flat" cmpd="sng" w="9525">
            <a:solidFill>
              <a:srgbClr val="000000">
                <a:alpha val="784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2" name="Google Shape;1032;p44"/>
          <p:cNvSpPr/>
          <p:nvPr/>
        </p:nvSpPr>
        <p:spPr>
          <a:xfrm>
            <a:off x="6974086" y="1901493"/>
            <a:ext cx="6862500" cy="324600"/>
          </a:xfrm>
          <a:prstGeom prst="rect">
            <a:avLst/>
          </a:prstGeom>
          <a:solidFill>
            <a:srgbClr val="FFFFFF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3" name="Google Shape;1033;p44"/>
          <p:cNvSpPr/>
          <p:nvPr/>
        </p:nvSpPr>
        <p:spPr>
          <a:xfrm>
            <a:off x="7121604" y="1966501"/>
            <a:ext cx="17601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b="1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Parameter</a:t>
            </a:r>
            <a:endParaRPr b="0" i="0" sz="1150" u="none" cap="none" strike="noStrike"/>
          </a:p>
        </p:txBody>
      </p:sp>
      <p:sp>
        <p:nvSpPr>
          <p:cNvPr id="1034" name="Google Shape;1034;p44"/>
          <p:cNvSpPr/>
          <p:nvPr/>
        </p:nvSpPr>
        <p:spPr>
          <a:xfrm>
            <a:off x="9184124" y="1966501"/>
            <a:ext cx="17199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b="1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Bounds</a:t>
            </a:r>
            <a:endParaRPr b="0" i="0" sz="1150" u="none" cap="none" strike="noStrike"/>
          </a:p>
        </p:txBody>
      </p:sp>
      <p:sp>
        <p:nvSpPr>
          <p:cNvPr id="1035" name="Google Shape;1035;p44"/>
          <p:cNvSpPr/>
          <p:nvPr/>
        </p:nvSpPr>
        <p:spPr>
          <a:xfrm>
            <a:off x="11206401" y="1966501"/>
            <a:ext cx="24828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b="1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Role</a:t>
            </a:r>
            <a:endParaRPr b="0" i="0" sz="1150" u="none" cap="none" strike="noStrike"/>
          </a:p>
        </p:txBody>
      </p:sp>
      <p:sp>
        <p:nvSpPr>
          <p:cNvPr id="1036" name="Google Shape;1036;p44"/>
          <p:cNvSpPr/>
          <p:nvPr/>
        </p:nvSpPr>
        <p:spPr>
          <a:xfrm>
            <a:off x="6974086" y="2226058"/>
            <a:ext cx="6862500" cy="324600"/>
          </a:xfrm>
          <a:prstGeom prst="rect">
            <a:avLst/>
          </a:prstGeom>
          <a:solidFill>
            <a:srgbClr val="000000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7" name="Google Shape;1037;p44"/>
          <p:cNvSpPr/>
          <p:nvPr/>
        </p:nvSpPr>
        <p:spPr>
          <a:xfrm>
            <a:off x="7121604" y="2291066"/>
            <a:ext cx="17601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b="0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n_lattice</a:t>
            </a:r>
            <a:endParaRPr b="0" i="0" sz="1150" u="none" cap="none" strike="noStrike"/>
          </a:p>
        </p:txBody>
      </p:sp>
      <p:sp>
        <p:nvSpPr>
          <p:cNvPr id="1038" name="Google Shape;1038;p44"/>
          <p:cNvSpPr/>
          <p:nvPr/>
        </p:nvSpPr>
        <p:spPr>
          <a:xfrm>
            <a:off x="9184124" y="2291066"/>
            <a:ext cx="17199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b="0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150 (fixed)</a:t>
            </a:r>
            <a:endParaRPr b="0" i="0" sz="1150" u="none" cap="none" strike="noStrike"/>
          </a:p>
        </p:txBody>
      </p:sp>
      <p:sp>
        <p:nvSpPr>
          <p:cNvPr id="1039" name="Google Shape;1039;p44"/>
          <p:cNvSpPr/>
          <p:nvPr/>
        </p:nvSpPr>
        <p:spPr>
          <a:xfrm>
            <a:off x="11206401" y="2291066"/>
            <a:ext cx="24828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b="0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Spatial grid resolution</a:t>
            </a:r>
            <a:endParaRPr b="0" i="0" sz="1150" u="none" cap="none" strike="noStrike"/>
          </a:p>
        </p:txBody>
      </p:sp>
      <p:sp>
        <p:nvSpPr>
          <p:cNvPr id="1040" name="Google Shape;1040;p44"/>
          <p:cNvSpPr/>
          <p:nvPr/>
        </p:nvSpPr>
        <p:spPr>
          <a:xfrm>
            <a:off x="6974086" y="2550622"/>
            <a:ext cx="6862500" cy="324600"/>
          </a:xfrm>
          <a:prstGeom prst="rect">
            <a:avLst/>
          </a:prstGeom>
          <a:solidFill>
            <a:srgbClr val="FFFFFF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1" name="Google Shape;1041;p44"/>
          <p:cNvSpPr/>
          <p:nvPr/>
        </p:nvSpPr>
        <p:spPr>
          <a:xfrm>
            <a:off x="7121604" y="2615630"/>
            <a:ext cx="17601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b="0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mass (m)</a:t>
            </a:r>
            <a:endParaRPr b="0" i="0" sz="1150" u="none" cap="none" strike="noStrike"/>
          </a:p>
        </p:txBody>
      </p:sp>
      <p:sp>
        <p:nvSpPr>
          <p:cNvPr id="1042" name="Google Shape;1042;p44"/>
          <p:cNvSpPr/>
          <p:nvPr/>
        </p:nvSpPr>
        <p:spPr>
          <a:xfrm>
            <a:off x="9184124" y="2615630"/>
            <a:ext cx="17199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b="0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0.5 → 15.0</a:t>
            </a:r>
            <a:endParaRPr b="0" i="0" sz="1150" u="none" cap="none" strike="noStrike"/>
          </a:p>
        </p:txBody>
      </p:sp>
      <p:sp>
        <p:nvSpPr>
          <p:cNvPr id="1043" name="Google Shape;1043;p44"/>
          <p:cNvSpPr/>
          <p:nvPr/>
        </p:nvSpPr>
        <p:spPr>
          <a:xfrm>
            <a:off x="11206401" y="2615630"/>
            <a:ext cx="24828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b="0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Kinetic spread rate</a:t>
            </a:r>
            <a:endParaRPr b="0" i="0" sz="1150" u="none" cap="none" strike="noStrike"/>
          </a:p>
        </p:txBody>
      </p:sp>
      <p:sp>
        <p:nvSpPr>
          <p:cNvPr id="1044" name="Google Shape;1044;p44"/>
          <p:cNvSpPr/>
          <p:nvPr/>
        </p:nvSpPr>
        <p:spPr>
          <a:xfrm>
            <a:off x="6974086" y="2875186"/>
            <a:ext cx="6862500" cy="324600"/>
          </a:xfrm>
          <a:prstGeom prst="rect">
            <a:avLst/>
          </a:prstGeom>
          <a:solidFill>
            <a:srgbClr val="000000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5" name="Google Shape;1045;p44"/>
          <p:cNvSpPr/>
          <p:nvPr/>
        </p:nvSpPr>
        <p:spPr>
          <a:xfrm>
            <a:off x="7121604" y="2940194"/>
            <a:ext cx="17601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b="0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sigma (σ)</a:t>
            </a:r>
            <a:endParaRPr b="0" i="0" sz="1150" u="none" cap="none" strike="noStrike"/>
          </a:p>
        </p:txBody>
      </p:sp>
      <p:sp>
        <p:nvSpPr>
          <p:cNvPr id="1046" name="Google Shape;1046;p44"/>
          <p:cNvSpPr/>
          <p:nvPr/>
        </p:nvSpPr>
        <p:spPr>
          <a:xfrm>
            <a:off x="9184124" y="2940194"/>
            <a:ext cx="17199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b="0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0.05 → 3.0</a:t>
            </a:r>
            <a:endParaRPr b="0" i="0" sz="1150" u="none" cap="none" strike="noStrike"/>
          </a:p>
        </p:txBody>
      </p:sp>
      <p:sp>
        <p:nvSpPr>
          <p:cNvPr id="1047" name="Google Shape;1047;p44"/>
          <p:cNvSpPr/>
          <p:nvPr/>
        </p:nvSpPr>
        <p:spPr>
          <a:xfrm>
            <a:off x="11206401" y="2940194"/>
            <a:ext cx="24828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b="0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Bias Gaussian width</a:t>
            </a:r>
            <a:endParaRPr b="0" i="0" sz="1150" u="none" cap="none" strike="noStrike"/>
          </a:p>
        </p:txBody>
      </p:sp>
      <p:sp>
        <p:nvSpPr>
          <p:cNvPr id="1048" name="Google Shape;1048;p44"/>
          <p:cNvSpPr/>
          <p:nvPr/>
        </p:nvSpPr>
        <p:spPr>
          <a:xfrm>
            <a:off x="6974086" y="3199751"/>
            <a:ext cx="6862500" cy="324600"/>
          </a:xfrm>
          <a:prstGeom prst="rect">
            <a:avLst/>
          </a:prstGeom>
          <a:solidFill>
            <a:srgbClr val="FFFFFF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9" name="Google Shape;1049;p44"/>
          <p:cNvSpPr/>
          <p:nvPr/>
        </p:nvSpPr>
        <p:spPr>
          <a:xfrm>
            <a:off x="7121604" y="3264759"/>
            <a:ext cx="17601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b="0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gamma (γ)</a:t>
            </a:r>
            <a:endParaRPr b="0" i="0" sz="1150" u="none" cap="none" strike="noStrike"/>
          </a:p>
        </p:txBody>
      </p:sp>
      <p:sp>
        <p:nvSpPr>
          <p:cNvPr id="1050" name="Google Shape;1050;p44"/>
          <p:cNvSpPr/>
          <p:nvPr/>
        </p:nvSpPr>
        <p:spPr>
          <a:xfrm>
            <a:off x="9184124" y="3264759"/>
            <a:ext cx="17199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b="0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0.1 → 20.0</a:t>
            </a:r>
            <a:endParaRPr b="0" i="0" sz="1150" u="none" cap="none" strike="noStrike"/>
          </a:p>
        </p:txBody>
      </p:sp>
      <p:sp>
        <p:nvSpPr>
          <p:cNvPr id="1051" name="Google Shape;1051;p44"/>
          <p:cNvSpPr/>
          <p:nvPr/>
        </p:nvSpPr>
        <p:spPr>
          <a:xfrm>
            <a:off x="11206401" y="3264759"/>
            <a:ext cx="24828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b="0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Potential well depth</a:t>
            </a:r>
            <a:endParaRPr b="0" i="0" sz="1150" u="none" cap="none" strike="noStrike"/>
          </a:p>
        </p:txBody>
      </p:sp>
      <p:sp>
        <p:nvSpPr>
          <p:cNvPr id="1052" name="Google Shape;1052;p44"/>
          <p:cNvSpPr/>
          <p:nvPr/>
        </p:nvSpPr>
        <p:spPr>
          <a:xfrm>
            <a:off x="6974086" y="3524315"/>
            <a:ext cx="6862500" cy="324600"/>
          </a:xfrm>
          <a:prstGeom prst="rect">
            <a:avLst/>
          </a:prstGeom>
          <a:solidFill>
            <a:srgbClr val="000000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3" name="Google Shape;1053;p44"/>
          <p:cNvSpPr/>
          <p:nvPr/>
        </p:nvSpPr>
        <p:spPr>
          <a:xfrm>
            <a:off x="7121604" y="3589323"/>
            <a:ext cx="17601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b="0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bias_strength</a:t>
            </a:r>
            <a:endParaRPr b="0" i="0" sz="1150" u="none" cap="none" strike="noStrike"/>
          </a:p>
        </p:txBody>
      </p:sp>
      <p:sp>
        <p:nvSpPr>
          <p:cNvPr id="1054" name="Google Shape;1054;p44"/>
          <p:cNvSpPr/>
          <p:nvPr/>
        </p:nvSpPr>
        <p:spPr>
          <a:xfrm>
            <a:off x="9184124" y="3589323"/>
            <a:ext cx="17199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b="0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0.05 → 0.95</a:t>
            </a:r>
            <a:endParaRPr b="0" i="0" sz="1150" u="none" cap="none" strike="noStrike"/>
          </a:p>
        </p:txBody>
      </p:sp>
      <p:sp>
        <p:nvSpPr>
          <p:cNvPr id="1055" name="Google Shape;1055;p44"/>
          <p:cNvSpPr/>
          <p:nvPr/>
        </p:nvSpPr>
        <p:spPr>
          <a:xfrm>
            <a:off x="11206401" y="3589323"/>
            <a:ext cx="24828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b="0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Observation pull factor</a:t>
            </a:r>
            <a:endParaRPr b="0" i="0" sz="1150" u="none" cap="none" strike="noStrike"/>
          </a:p>
        </p:txBody>
      </p:sp>
      <p:sp>
        <p:nvSpPr>
          <p:cNvPr id="1056" name="Google Shape;1056;p44"/>
          <p:cNvSpPr/>
          <p:nvPr/>
        </p:nvSpPr>
        <p:spPr>
          <a:xfrm>
            <a:off x="6974086" y="3848880"/>
            <a:ext cx="6862500" cy="324600"/>
          </a:xfrm>
          <a:prstGeom prst="rect">
            <a:avLst/>
          </a:prstGeom>
          <a:solidFill>
            <a:srgbClr val="FFFFFF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7" name="Google Shape;1057;p44"/>
          <p:cNvSpPr/>
          <p:nvPr/>
        </p:nvSpPr>
        <p:spPr>
          <a:xfrm>
            <a:off x="7121604" y="3913888"/>
            <a:ext cx="17601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b="0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hbar (ℏ)</a:t>
            </a:r>
            <a:endParaRPr b="0" i="0" sz="1150" u="none" cap="none" strike="noStrike"/>
          </a:p>
        </p:txBody>
      </p:sp>
      <p:sp>
        <p:nvSpPr>
          <p:cNvPr id="1058" name="Google Shape;1058;p44"/>
          <p:cNvSpPr/>
          <p:nvPr/>
        </p:nvSpPr>
        <p:spPr>
          <a:xfrm>
            <a:off x="9184124" y="3913888"/>
            <a:ext cx="17199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b="0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0.5 → 6.0</a:t>
            </a:r>
            <a:endParaRPr b="0" i="0" sz="1150" u="none" cap="none" strike="noStrike"/>
          </a:p>
        </p:txBody>
      </p:sp>
      <p:sp>
        <p:nvSpPr>
          <p:cNvPr id="1059" name="Google Shape;1059;p44"/>
          <p:cNvSpPr/>
          <p:nvPr/>
        </p:nvSpPr>
        <p:spPr>
          <a:xfrm>
            <a:off x="11206401" y="3913888"/>
            <a:ext cx="24828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b="0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Quantum of action</a:t>
            </a:r>
            <a:endParaRPr b="0" i="0" sz="1150" u="none" cap="none" strike="noStrike"/>
          </a:p>
        </p:txBody>
      </p:sp>
      <p:sp>
        <p:nvSpPr>
          <p:cNvPr id="1060" name="Google Shape;1060;p44"/>
          <p:cNvSpPr/>
          <p:nvPr/>
        </p:nvSpPr>
        <p:spPr>
          <a:xfrm>
            <a:off x="6966466" y="4288815"/>
            <a:ext cx="1935000" cy="2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Petrona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Design Guarantees</a:t>
            </a:r>
            <a:endParaRPr b="0" i="0" sz="1500" u="none" cap="none" strike="noStrike"/>
          </a:p>
        </p:txBody>
      </p:sp>
      <p:sp>
        <p:nvSpPr>
          <p:cNvPr id="1061" name="Google Shape;1061;p44"/>
          <p:cNvSpPr/>
          <p:nvPr/>
        </p:nvSpPr>
        <p:spPr>
          <a:xfrm>
            <a:off x="6966466" y="4626358"/>
            <a:ext cx="6877500" cy="11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Inter"/>
              <a:buNone/>
            </a:pPr>
            <a:r>
              <a:rPr b="0" i="0" lang="en-US" sz="11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✅</a:t>
            </a:r>
            <a:r>
              <a:rPr b="0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Zero phase lag</a:t>
            </a:r>
            <a:endParaRPr b="0" i="0" sz="1150" u="none" cap="none" strike="noStrike"/>
          </a:p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Inter"/>
              <a:buNone/>
            </a:pPr>
            <a:r>
              <a:rPr b="0" i="0" lang="en-US" sz="11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✅</a:t>
            </a:r>
            <a:r>
              <a:rPr b="0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Probability conserved: ‖ψ‖ = 1</a:t>
            </a:r>
            <a:endParaRPr b="0" i="0" sz="1150" u="none" cap="none" strike="noStrike"/>
          </a:p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Inter"/>
              <a:buNone/>
            </a:pPr>
            <a:r>
              <a:rPr b="0" i="0" lang="en-US" sz="11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✅</a:t>
            </a:r>
            <a:r>
              <a:rPr b="0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Numerically stable: Crank-Nicolson is unitary</a:t>
            </a:r>
            <a:endParaRPr b="0" i="0" sz="1150" u="none" cap="none" strike="noStrike"/>
          </a:p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Inter"/>
              <a:buNone/>
            </a:pPr>
            <a:r>
              <a:rPr b="0" i="0" lang="en-US" sz="11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✅</a:t>
            </a:r>
            <a:r>
              <a:rPr b="0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Online adaptive: Hebbian — no retraining</a:t>
            </a:r>
            <a:endParaRPr b="0" i="0" sz="1150" u="none" cap="none" strike="noStrike"/>
          </a:p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Inter"/>
              <a:buNone/>
            </a:pPr>
            <a:r>
              <a:rPr b="0" i="0" lang="en-US" sz="11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✅</a:t>
            </a:r>
            <a:r>
              <a:rPr b="0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Fallback: uses config defaults if JSON missing</a:t>
            </a:r>
            <a:endParaRPr b="0" i="0" sz="1150" u="none" cap="none" strike="noStrike"/>
          </a:p>
        </p:txBody>
      </p:sp>
      <p:sp>
        <p:nvSpPr>
          <p:cNvPr id="1062" name="Google Shape;1062;p44"/>
          <p:cNvSpPr/>
          <p:nvPr/>
        </p:nvSpPr>
        <p:spPr>
          <a:xfrm>
            <a:off x="6966466" y="5840676"/>
            <a:ext cx="6877500" cy="681600"/>
          </a:xfrm>
          <a:prstGeom prst="roundRect">
            <a:avLst>
              <a:gd fmla="val 9086" name="adj"/>
            </a:avLst>
          </a:prstGeom>
          <a:solidFill>
            <a:srgbClr val="B6D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63" name="Google Shape;1063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13865" y="6040582"/>
            <a:ext cx="184190" cy="147399"/>
          </a:xfrm>
          <a:prstGeom prst="rect">
            <a:avLst/>
          </a:prstGeom>
          <a:noFill/>
          <a:ln>
            <a:noFill/>
          </a:ln>
        </p:spPr>
      </p:pic>
      <p:sp>
        <p:nvSpPr>
          <p:cNvPr id="1064" name="Google Shape;1064;p44"/>
          <p:cNvSpPr/>
          <p:nvPr/>
        </p:nvSpPr>
        <p:spPr>
          <a:xfrm>
            <a:off x="7445454" y="5973193"/>
            <a:ext cx="6251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Inter"/>
              <a:buNone/>
            </a:pPr>
            <a:r>
              <a:rPr b="1" i="0" lang="en-US" sz="11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Complexity:</a:t>
            </a:r>
            <a:r>
              <a:rPr b="0" i="0" lang="en-US" sz="11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O(N) per sample. 150-point lattice ≈ 0.3 ms @ 3 GHz per channel. 5 channels parallel: &lt;2 ms total. Well within 20 ms EKF budget (50 Hz).</a:t>
            </a:r>
            <a:endParaRPr b="0" i="0" sz="1150" u="none" cap="none" strike="noStrike"/>
          </a:p>
        </p:txBody>
      </p:sp>
      <p:sp>
        <p:nvSpPr>
          <p:cNvPr id="1065" name="Google Shape;1065;p44"/>
          <p:cNvSpPr/>
          <p:nvPr/>
        </p:nvSpPr>
        <p:spPr>
          <a:xfrm>
            <a:off x="12845075" y="7780725"/>
            <a:ext cx="1680600" cy="356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32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0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p45"/>
          <p:cNvSpPr/>
          <p:nvPr/>
        </p:nvSpPr>
        <p:spPr>
          <a:xfrm>
            <a:off x="793790" y="913115"/>
            <a:ext cx="66720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5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50"/>
              <a:buFont typeface="Petrona"/>
              <a:buNone/>
            </a:pPr>
            <a:r>
              <a:rPr b="1" i="0" lang="en-US" sz="325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PSO Hyperparameter Optimisation</a:t>
            </a:r>
            <a:endParaRPr b="0" i="0" sz="3250" u="none" cap="none" strike="noStrike"/>
          </a:p>
        </p:txBody>
      </p:sp>
      <p:sp>
        <p:nvSpPr>
          <p:cNvPr id="1072" name="Google Shape;1072;p45"/>
          <p:cNvSpPr/>
          <p:nvPr/>
        </p:nvSpPr>
        <p:spPr>
          <a:xfrm>
            <a:off x="793790" y="1600820"/>
            <a:ext cx="130428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50 particles × 100 iterations offline; best parameters saved to JSON for deployment</a:t>
            </a:r>
            <a:endParaRPr b="0" i="0" sz="1250" u="none" cap="none" strike="noStrike"/>
          </a:p>
        </p:txBody>
      </p:sp>
      <p:sp>
        <p:nvSpPr>
          <p:cNvPr id="1073" name="Google Shape;1073;p45"/>
          <p:cNvSpPr/>
          <p:nvPr/>
        </p:nvSpPr>
        <p:spPr>
          <a:xfrm>
            <a:off x="793790" y="2052900"/>
            <a:ext cx="35883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1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Petrona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Algorithm 2: PSO_Tune(bounds, data)</a:t>
            </a:r>
            <a:endParaRPr b="0" i="0" sz="1600" u="none" cap="none" strike="noStrike"/>
          </a:p>
        </p:txBody>
      </p:sp>
      <p:sp>
        <p:nvSpPr>
          <p:cNvPr id="1074" name="Google Shape;1074;p45"/>
          <p:cNvSpPr/>
          <p:nvPr/>
        </p:nvSpPr>
        <p:spPr>
          <a:xfrm>
            <a:off x="793790" y="2438305"/>
            <a:ext cx="4984800" cy="4421100"/>
          </a:xfrm>
          <a:prstGeom prst="roundRect">
            <a:avLst>
              <a:gd fmla="val 1508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5" name="Google Shape;1075;p45"/>
          <p:cNvSpPr/>
          <p:nvPr/>
        </p:nvSpPr>
        <p:spPr>
          <a:xfrm>
            <a:off x="785925" y="2438299"/>
            <a:ext cx="5000400" cy="5169900"/>
          </a:xfrm>
          <a:prstGeom prst="roundRect">
            <a:avLst>
              <a:gd fmla="val 539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6" name="Google Shape;1076;p45"/>
          <p:cNvSpPr/>
          <p:nvPr/>
        </p:nvSpPr>
        <p:spPr>
          <a:xfrm>
            <a:off x="984290" y="2597015"/>
            <a:ext cx="4603800" cy="41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Config: N_particles=50, N_iter=100</a:t>
            </a:r>
            <a:endParaRPr b="0" i="0" sz="1250" u="none" cap="none" strike="noStrike"/>
          </a:p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     w: 0.9 → 0.4 (linear inertia decay)</a:t>
            </a:r>
            <a:endParaRPr b="0" i="0" sz="1250" u="none" cap="none" strike="noStrike"/>
          </a:p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     c1=1.5 (cognitive), c2=1.5 (social)</a:t>
            </a:r>
            <a:endParaRPr b="0" i="0" sz="1250" u="none" cap="none" strike="noStrike"/>
          </a:p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SzPts val="1250"/>
              <a:buFont typeface="Arial"/>
              <a:buNone/>
            </a:pPr>
            <a:r>
              <a:t/>
            </a:r>
            <a:endParaRPr b="0" i="0" sz="1250" u="none" cap="none" strike="noStrike"/>
          </a:p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1. INIT: positions ← uniform_random(bounds)</a:t>
            </a:r>
            <a:endParaRPr b="0" i="0" sz="1250" u="none" cap="none" strike="noStrike"/>
          </a:p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pbest ← initial positions</a:t>
            </a:r>
            <a:endParaRPr b="0" i="0" sz="1250" u="none" cap="none" strike="noStrike"/>
          </a:p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gbest ← argmin_f(pbest)</a:t>
            </a:r>
            <a:endParaRPr b="0" i="0" sz="1250" u="none" cap="none" strike="noStrike"/>
          </a:p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SzPts val="1250"/>
              <a:buFont typeface="Arial"/>
              <a:buNone/>
            </a:pPr>
            <a:r>
              <a:t/>
            </a:r>
            <a:endParaRPr b="0" i="0" sz="1250" u="none" cap="none" strike="noStrike"/>
          </a:p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2. FOR iter = 1..100:</a:t>
            </a:r>
            <a:endParaRPr b="0" i="0" sz="1250" u="none" cap="none" strike="noStrike"/>
          </a:p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a. f(θ) = RMSE + 1.5×roughness + 0.3×lag</a:t>
            </a:r>
            <a:endParaRPr b="0" i="0" sz="1250" u="none" cap="none" strike="noStrike"/>
          </a:p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b. UPDATE personal/global best</a:t>
            </a:r>
            <a:endParaRPr b="0" i="0" sz="1250" u="none" cap="none" strike="noStrike"/>
          </a:p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c. DECAY inertia: w = 0.9 − iter × 0.5/100</a:t>
            </a:r>
            <a:endParaRPr b="0" i="0" sz="1250" u="none" cap="none" strike="noStrike"/>
          </a:p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d. UPDATE velocity:</a:t>
            </a:r>
            <a:endParaRPr b="0" i="0" sz="1250" u="none" cap="none" strike="noStrike"/>
          </a:p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   v ← w·v + c1·r1·(pbest−x) + c2·r2·(gbest−x)</a:t>
            </a:r>
            <a:endParaRPr b="0" i="0" sz="1250" u="none" cap="none" strike="noStrike"/>
          </a:p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e. UPDATE position: x ← x + v</a:t>
            </a:r>
            <a:endParaRPr b="0" i="0" sz="1250" u="none" cap="none" strike="noStrike"/>
          </a:p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f. CLAMP x to bounds</a:t>
            </a:r>
            <a:endParaRPr b="0" i="0" sz="1250" u="none" cap="none" strike="noStrike"/>
          </a:p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SzPts val="1250"/>
              <a:buFont typeface="Arial"/>
              <a:buNone/>
            </a:pPr>
            <a:r>
              <a:t/>
            </a:r>
            <a:endParaRPr b="0" i="0" sz="1250" u="none" cap="none" strike="noStrike"/>
          </a:p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3. SAVE gbest → rqnn_pretrained_params.json</a:t>
            </a:r>
            <a:endParaRPr b="0" i="0" sz="1250" u="none" cap="none" strike="noStrike"/>
          </a:p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4. ROS2 node loads JSON at startup</a:t>
            </a:r>
            <a:endParaRPr b="0" i="0" sz="1250" u="none" cap="none" strike="noStrike"/>
          </a:p>
        </p:txBody>
      </p:sp>
      <p:sp>
        <p:nvSpPr>
          <p:cNvPr id="1077" name="Google Shape;1077;p45"/>
          <p:cNvSpPr/>
          <p:nvPr/>
        </p:nvSpPr>
        <p:spPr>
          <a:xfrm>
            <a:off x="6173391" y="2052900"/>
            <a:ext cx="20841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1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Petrona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Fitness Function</a:t>
            </a:r>
            <a:endParaRPr b="0" i="0" sz="1600" u="none" cap="none" strike="noStrike"/>
          </a:p>
        </p:txBody>
      </p:sp>
      <p:sp>
        <p:nvSpPr>
          <p:cNvPr id="1078" name="Google Shape;1078;p45"/>
          <p:cNvSpPr/>
          <p:nvPr/>
        </p:nvSpPr>
        <p:spPr>
          <a:xfrm>
            <a:off x="6173391" y="2438305"/>
            <a:ext cx="7670700" cy="1626000"/>
          </a:xfrm>
          <a:prstGeom prst="roundRect">
            <a:avLst>
              <a:gd fmla="val 4102" name="adj"/>
            </a:avLst>
          </a:prstGeom>
          <a:solidFill>
            <a:srgbClr val="FCF2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79" name="Google Shape;107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2101" y="2657737"/>
            <a:ext cx="198358" cy="158710"/>
          </a:xfrm>
          <a:prstGeom prst="rect">
            <a:avLst/>
          </a:prstGeom>
          <a:noFill/>
          <a:ln>
            <a:noFill/>
          </a:ln>
        </p:spPr>
      </p:pic>
      <p:sp>
        <p:nvSpPr>
          <p:cNvPr id="1080" name="Google Shape;1080;p45"/>
          <p:cNvSpPr/>
          <p:nvPr/>
        </p:nvSpPr>
        <p:spPr>
          <a:xfrm>
            <a:off x="6689169" y="2589038"/>
            <a:ext cx="6996300" cy="12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Inter"/>
              <a:buNone/>
            </a:pPr>
            <a:r>
              <a:rPr b="1" i="0" lang="en-US" sz="12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fitness = RMSE + 1.5 × roughness + 0.3 × lag</a:t>
            </a:r>
            <a:r>
              <a:rPr b="0" i="0" lang="en-US" sz="12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RMSE = sqrt(mean((ŷ − ref)²))</a:t>
            </a:r>
            <a:endParaRPr b="0" i="0" sz="1250" u="none" cap="none" strike="noStrike"/>
          </a:p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roughness = sqrt(mean(diff(ŷ)²))</a:t>
            </a:r>
            <a:endParaRPr b="0" i="0" sz="1250" u="none" cap="none" strike="noStrike"/>
          </a:p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lag = argmax(xcorr(y_raw, ŷ))</a:t>
            </a:r>
            <a:endParaRPr b="0" i="0" sz="1250" u="none" cap="none" strike="noStrike"/>
          </a:p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Inter"/>
              <a:buNone/>
            </a:pPr>
            <a:r>
              <a:rPr b="0" i="1" lang="en-US" sz="12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Note: lag_weight = 0.3 (was 1.0). Original 1.0 dominated RMSE, forced zero-lag at cost of noise reduction quality → drift spiked.</a:t>
            </a:r>
            <a:endParaRPr b="0" i="0" sz="1250" u="none" cap="none" strike="noStrike"/>
          </a:p>
        </p:txBody>
      </p:sp>
      <p:sp>
        <p:nvSpPr>
          <p:cNvPr id="1081" name="Google Shape;1081;p45"/>
          <p:cNvSpPr/>
          <p:nvPr/>
        </p:nvSpPr>
        <p:spPr>
          <a:xfrm>
            <a:off x="6173391" y="4189238"/>
            <a:ext cx="27351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1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Petrona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Why Bounds Were Expanded</a:t>
            </a:r>
            <a:endParaRPr b="0" i="0" sz="1600" u="none" cap="none" strike="noStrike"/>
          </a:p>
        </p:txBody>
      </p:sp>
      <p:sp>
        <p:nvSpPr>
          <p:cNvPr id="1082" name="Google Shape;1082;p45"/>
          <p:cNvSpPr/>
          <p:nvPr/>
        </p:nvSpPr>
        <p:spPr>
          <a:xfrm>
            <a:off x="6173391" y="4574644"/>
            <a:ext cx="7670700" cy="2202600"/>
          </a:xfrm>
          <a:prstGeom prst="roundRect">
            <a:avLst>
              <a:gd fmla="val 3028" name="adj"/>
            </a:avLst>
          </a:prstGeom>
          <a:noFill/>
          <a:ln cap="flat" cmpd="sng" w="9525">
            <a:solidFill>
              <a:srgbClr val="000000">
                <a:alpha val="784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3" name="Google Shape;1083;p45"/>
          <p:cNvSpPr/>
          <p:nvPr/>
        </p:nvSpPr>
        <p:spPr>
          <a:xfrm>
            <a:off x="6181011" y="4582264"/>
            <a:ext cx="7655400" cy="364500"/>
          </a:xfrm>
          <a:prstGeom prst="rect">
            <a:avLst/>
          </a:prstGeom>
          <a:solidFill>
            <a:srgbClr val="FFFFFF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4" name="Google Shape;1084;p45"/>
          <p:cNvSpPr/>
          <p:nvPr/>
        </p:nvSpPr>
        <p:spPr>
          <a:xfrm>
            <a:off x="6340078" y="4656559"/>
            <a:ext cx="15927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1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Param</a:t>
            </a:r>
            <a:endParaRPr b="0" i="0" sz="1250" u="none" cap="none" strike="noStrike"/>
          </a:p>
        </p:txBody>
      </p:sp>
      <p:sp>
        <p:nvSpPr>
          <p:cNvPr id="1085" name="Google Shape;1085;p45"/>
          <p:cNvSpPr/>
          <p:nvPr/>
        </p:nvSpPr>
        <p:spPr>
          <a:xfrm>
            <a:off x="8257699" y="4656559"/>
            <a:ext cx="10605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1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Old Bound</a:t>
            </a:r>
            <a:endParaRPr b="0" i="0" sz="1250" u="none" cap="none" strike="noStrike"/>
          </a:p>
        </p:txBody>
      </p:sp>
      <p:sp>
        <p:nvSpPr>
          <p:cNvPr id="1086" name="Google Shape;1086;p45"/>
          <p:cNvSpPr/>
          <p:nvPr/>
        </p:nvSpPr>
        <p:spPr>
          <a:xfrm>
            <a:off x="9643229" y="4656559"/>
            <a:ext cx="12366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1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New Bound</a:t>
            </a:r>
            <a:endParaRPr b="0" i="0" sz="1250" u="none" cap="none" strike="noStrike"/>
          </a:p>
        </p:txBody>
      </p:sp>
      <p:sp>
        <p:nvSpPr>
          <p:cNvPr id="1087" name="Google Shape;1087;p45"/>
          <p:cNvSpPr/>
          <p:nvPr/>
        </p:nvSpPr>
        <p:spPr>
          <a:xfrm>
            <a:off x="11204853" y="4656559"/>
            <a:ext cx="24729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1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Why</a:t>
            </a:r>
            <a:endParaRPr b="0" i="0" sz="1250" u="none" cap="none" strike="noStrike"/>
          </a:p>
        </p:txBody>
      </p:sp>
      <p:sp>
        <p:nvSpPr>
          <p:cNvPr id="1088" name="Google Shape;1088;p45"/>
          <p:cNvSpPr/>
          <p:nvPr/>
        </p:nvSpPr>
        <p:spPr>
          <a:xfrm>
            <a:off x="6181011" y="4946833"/>
            <a:ext cx="7655400" cy="364500"/>
          </a:xfrm>
          <a:prstGeom prst="rect">
            <a:avLst/>
          </a:prstGeom>
          <a:solidFill>
            <a:srgbClr val="000000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9" name="Google Shape;1089;p45"/>
          <p:cNvSpPr/>
          <p:nvPr/>
        </p:nvSpPr>
        <p:spPr>
          <a:xfrm>
            <a:off x="6340078" y="5021128"/>
            <a:ext cx="15927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mass</a:t>
            </a:r>
            <a:endParaRPr b="0" i="0" sz="1250" u="none" cap="none" strike="noStrike"/>
          </a:p>
        </p:txBody>
      </p:sp>
      <p:sp>
        <p:nvSpPr>
          <p:cNvPr id="1090" name="Google Shape;1090;p45"/>
          <p:cNvSpPr/>
          <p:nvPr/>
        </p:nvSpPr>
        <p:spPr>
          <a:xfrm>
            <a:off x="8257699" y="5021128"/>
            <a:ext cx="10605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≤ 5.0</a:t>
            </a:r>
            <a:endParaRPr b="0" i="0" sz="1250" u="none" cap="none" strike="noStrike"/>
          </a:p>
        </p:txBody>
      </p:sp>
      <p:sp>
        <p:nvSpPr>
          <p:cNvPr id="1091" name="Google Shape;1091;p45"/>
          <p:cNvSpPr/>
          <p:nvPr/>
        </p:nvSpPr>
        <p:spPr>
          <a:xfrm>
            <a:off x="9643229" y="5021128"/>
            <a:ext cx="12366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≤ 15.0</a:t>
            </a:r>
            <a:endParaRPr b="0" i="0" sz="1250" u="none" cap="none" strike="noStrike"/>
          </a:p>
        </p:txBody>
      </p:sp>
      <p:sp>
        <p:nvSpPr>
          <p:cNvPr id="1092" name="Google Shape;1092;p45"/>
          <p:cNvSpPr/>
          <p:nvPr/>
        </p:nvSpPr>
        <p:spPr>
          <a:xfrm>
            <a:off x="11204853" y="5021128"/>
            <a:ext cx="24729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PSO kept hitting ceiling</a:t>
            </a:r>
            <a:endParaRPr b="0" i="0" sz="1250" u="none" cap="none" strike="noStrike"/>
          </a:p>
        </p:txBody>
      </p:sp>
      <p:sp>
        <p:nvSpPr>
          <p:cNvPr id="1093" name="Google Shape;1093;p45"/>
          <p:cNvSpPr/>
          <p:nvPr/>
        </p:nvSpPr>
        <p:spPr>
          <a:xfrm>
            <a:off x="6181011" y="5311402"/>
            <a:ext cx="7655400" cy="364500"/>
          </a:xfrm>
          <a:prstGeom prst="rect">
            <a:avLst/>
          </a:prstGeom>
          <a:solidFill>
            <a:srgbClr val="FFFFFF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4" name="Google Shape;1094;p45"/>
          <p:cNvSpPr/>
          <p:nvPr/>
        </p:nvSpPr>
        <p:spPr>
          <a:xfrm>
            <a:off x="6340078" y="5385697"/>
            <a:ext cx="15927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sigma</a:t>
            </a:r>
            <a:endParaRPr b="0" i="0" sz="1250" u="none" cap="none" strike="noStrike"/>
          </a:p>
        </p:txBody>
      </p:sp>
      <p:sp>
        <p:nvSpPr>
          <p:cNvPr id="1095" name="Google Shape;1095;p45"/>
          <p:cNvSpPr/>
          <p:nvPr/>
        </p:nvSpPr>
        <p:spPr>
          <a:xfrm>
            <a:off x="8257699" y="5385697"/>
            <a:ext cx="10605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≥ 0.1</a:t>
            </a:r>
            <a:endParaRPr b="0" i="0" sz="1250" u="none" cap="none" strike="noStrike"/>
          </a:p>
        </p:txBody>
      </p:sp>
      <p:sp>
        <p:nvSpPr>
          <p:cNvPr id="1096" name="Google Shape;1096;p45"/>
          <p:cNvSpPr/>
          <p:nvPr/>
        </p:nvSpPr>
        <p:spPr>
          <a:xfrm>
            <a:off x="9643229" y="5385697"/>
            <a:ext cx="12366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≥ 0.05</a:t>
            </a:r>
            <a:endParaRPr b="0" i="0" sz="1250" u="none" cap="none" strike="noStrike"/>
          </a:p>
        </p:txBody>
      </p:sp>
      <p:sp>
        <p:nvSpPr>
          <p:cNvPr id="1097" name="Google Shape;1097;p45"/>
          <p:cNvSpPr/>
          <p:nvPr/>
        </p:nvSpPr>
        <p:spPr>
          <a:xfrm>
            <a:off x="11204853" y="5385697"/>
            <a:ext cx="24729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Needed narrower wells</a:t>
            </a:r>
            <a:endParaRPr b="0" i="0" sz="1250" u="none" cap="none" strike="noStrike"/>
          </a:p>
        </p:txBody>
      </p:sp>
      <p:sp>
        <p:nvSpPr>
          <p:cNvPr id="1098" name="Google Shape;1098;p45"/>
          <p:cNvSpPr/>
          <p:nvPr/>
        </p:nvSpPr>
        <p:spPr>
          <a:xfrm>
            <a:off x="6181011" y="5675972"/>
            <a:ext cx="7655400" cy="364500"/>
          </a:xfrm>
          <a:prstGeom prst="rect">
            <a:avLst/>
          </a:prstGeom>
          <a:solidFill>
            <a:srgbClr val="000000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9" name="Google Shape;1099;p45"/>
          <p:cNvSpPr/>
          <p:nvPr/>
        </p:nvSpPr>
        <p:spPr>
          <a:xfrm>
            <a:off x="6340078" y="5750267"/>
            <a:ext cx="15927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sigma</a:t>
            </a:r>
            <a:endParaRPr b="0" i="0" sz="1250" u="none" cap="none" strike="noStrike"/>
          </a:p>
        </p:txBody>
      </p:sp>
      <p:sp>
        <p:nvSpPr>
          <p:cNvPr id="1100" name="Google Shape;1100;p45"/>
          <p:cNvSpPr/>
          <p:nvPr/>
        </p:nvSpPr>
        <p:spPr>
          <a:xfrm>
            <a:off x="8257699" y="5750267"/>
            <a:ext cx="10605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≤ 2.0</a:t>
            </a:r>
            <a:endParaRPr b="0" i="0" sz="1250" u="none" cap="none" strike="noStrike"/>
          </a:p>
        </p:txBody>
      </p:sp>
      <p:sp>
        <p:nvSpPr>
          <p:cNvPr id="1101" name="Google Shape;1101;p45"/>
          <p:cNvSpPr/>
          <p:nvPr/>
        </p:nvSpPr>
        <p:spPr>
          <a:xfrm>
            <a:off x="9643229" y="5750267"/>
            <a:ext cx="12366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≤ 3.0</a:t>
            </a:r>
            <a:endParaRPr b="0" i="0" sz="1250" u="none" cap="none" strike="noStrike"/>
          </a:p>
        </p:txBody>
      </p:sp>
      <p:sp>
        <p:nvSpPr>
          <p:cNvPr id="1102" name="Google Shape;1102;p45"/>
          <p:cNvSpPr/>
          <p:nvPr/>
        </p:nvSpPr>
        <p:spPr>
          <a:xfrm>
            <a:off x="11204853" y="5750267"/>
            <a:ext cx="24729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Wider packets for LiDAR</a:t>
            </a:r>
            <a:endParaRPr b="0" i="0" sz="1250" u="none" cap="none" strike="noStrike"/>
          </a:p>
        </p:txBody>
      </p:sp>
      <p:sp>
        <p:nvSpPr>
          <p:cNvPr id="1103" name="Google Shape;1103;p45"/>
          <p:cNvSpPr/>
          <p:nvPr/>
        </p:nvSpPr>
        <p:spPr>
          <a:xfrm>
            <a:off x="6181011" y="6040541"/>
            <a:ext cx="7655400" cy="364500"/>
          </a:xfrm>
          <a:prstGeom prst="rect">
            <a:avLst/>
          </a:prstGeom>
          <a:solidFill>
            <a:srgbClr val="FFFFFF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4" name="Google Shape;1104;p45"/>
          <p:cNvSpPr/>
          <p:nvPr/>
        </p:nvSpPr>
        <p:spPr>
          <a:xfrm>
            <a:off x="6340078" y="6114836"/>
            <a:ext cx="15927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gamma</a:t>
            </a:r>
            <a:endParaRPr b="0" i="0" sz="1250" u="none" cap="none" strike="noStrike"/>
          </a:p>
        </p:txBody>
      </p:sp>
      <p:sp>
        <p:nvSpPr>
          <p:cNvPr id="1105" name="Google Shape;1105;p45"/>
          <p:cNvSpPr/>
          <p:nvPr/>
        </p:nvSpPr>
        <p:spPr>
          <a:xfrm>
            <a:off x="8257699" y="6114836"/>
            <a:ext cx="10605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≤ 10.0</a:t>
            </a:r>
            <a:endParaRPr b="0" i="0" sz="1250" u="none" cap="none" strike="noStrike"/>
          </a:p>
        </p:txBody>
      </p:sp>
      <p:sp>
        <p:nvSpPr>
          <p:cNvPr id="1106" name="Google Shape;1106;p45"/>
          <p:cNvSpPr/>
          <p:nvPr/>
        </p:nvSpPr>
        <p:spPr>
          <a:xfrm>
            <a:off x="9643229" y="6114836"/>
            <a:ext cx="12366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≤ 20.0</a:t>
            </a:r>
            <a:endParaRPr b="0" i="0" sz="1250" u="none" cap="none" strike="noStrike"/>
          </a:p>
        </p:txBody>
      </p:sp>
      <p:sp>
        <p:nvSpPr>
          <p:cNvPr id="1107" name="Google Shape;1107;p45"/>
          <p:cNvSpPr/>
          <p:nvPr/>
        </p:nvSpPr>
        <p:spPr>
          <a:xfrm>
            <a:off x="11204853" y="6114836"/>
            <a:ext cx="24729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Deeper wells for IMU accel</a:t>
            </a:r>
            <a:endParaRPr b="0" i="0" sz="1250" u="none" cap="none" strike="noStrike"/>
          </a:p>
        </p:txBody>
      </p:sp>
      <p:sp>
        <p:nvSpPr>
          <p:cNvPr id="1108" name="Google Shape;1108;p45"/>
          <p:cNvSpPr/>
          <p:nvPr/>
        </p:nvSpPr>
        <p:spPr>
          <a:xfrm>
            <a:off x="6181011" y="6405110"/>
            <a:ext cx="7655400" cy="364500"/>
          </a:xfrm>
          <a:prstGeom prst="rect">
            <a:avLst/>
          </a:prstGeom>
          <a:solidFill>
            <a:srgbClr val="000000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9" name="Google Shape;1109;p45"/>
          <p:cNvSpPr/>
          <p:nvPr/>
        </p:nvSpPr>
        <p:spPr>
          <a:xfrm>
            <a:off x="6340078" y="6479405"/>
            <a:ext cx="15927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hbar</a:t>
            </a:r>
            <a:endParaRPr b="0" i="0" sz="1250" u="none" cap="none" strike="noStrike"/>
          </a:p>
        </p:txBody>
      </p:sp>
      <p:sp>
        <p:nvSpPr>
          <p:cNvPr id="1110" name="Google Shape;1110;p45"/>
          <p:cNvSpPr/>
          <p:nvPr/>
        </p:nvSpPr>
        <p:spPr>
          <a:xfrm>
            <a:off x="8257699" y="6479405"/>
            <a:ext cx="10605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≤ 3.0</a:t>
            </a:r>
            <a:endParaRPr b="0" i="0" sz="1250" u="none" cap="none" strike="noStrike"/>
          </a:p>
        </p:txBody>
      </p:sp>
      <p:sp>
        <p:nvSpPr>
          <p:cNvPr id="1111" name="Google Shape;1111;p45"/>
          <p:cNvSpPr/>
          <p:nvPr/>
        </p:nvSpPr>
        <p:spPr>
          <a:xfrm>
            <a:off x="9643229" y="6479405"/>
            <a:ext cx="12366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≤ 6.0</a:t>
            </a:r>
            <a:endParaRPr b="0" i="0" sz="1250" u="none" cap="none" strike="noStrike"/>
          </a:p>
        </p:txBody>
      </p:sp>
      <p:sp>
        <p:nvSpPr>
          <p:cNvPr id="1112" name="Google Shape;1112;p45"/>
          <p:cNvSpPr/>
          <p:nvPr/>
        </p:nvSpPr>
        <p:spPr>
          <a:xfrm>
            <a:off x="11204853" y="6479405"/>
            <a:ext cx="24729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More quantum tunneling range</a:t>
            </a:r>
            <a:endParaRPr b="0" i="0" sz="1250" u="none" cap="none" strike="noStrike"/>
          </a:p>
        </p:txBody>
      </p:sp>
      <p:sp>
        <p:nvSpPr>
          <p:cNvPr id="1113" name="Google Shape;1113;p45"/>
          <p:cNvSpPr/>
          <p:nvPr/>
        </p:nvSpPr>
        <p:spPr>
          <a:xfrm>
            <a:off x="12845075" y="7780725"/>
            <a:ext cx="1680600" cy="356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33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8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Google Shape;1119;p46"/>
          <p:cNvSpPr/>
          <p:nvPr/>
        </p:nvSpPr>
        <p:spPr>
          <a:xfrm>
            <a:off x="793790" y="745212"/>
            <a:ext cx="70848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Petrona"/>
              <a:buNone/>
            </a:pPr>
            <a:r>
              <a:rPr b="1" i="0" lang="en-US" sz="420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Per-Sensor Filtering Strategy</a:t>
            </a:r>
            <a:endParaRPr b="0" i="0" sz="4200" u="none" cap="none" strike="noStrike"/>
          </a:p>
        </p:txBody>
      </p:sp>
      <p:sp>
        <p:nvSpPr>
          <p:cNvPr id="1120" name="Google Shape;1120;p46"/>
          <p:cNvSpPr/>
          <p:nvPr/>
        </p:nvSpPr>
        <p:spPr>
          <a:xfrm>
            <a:off x="793790" y="1563796"/>
            <a:ext cx="130428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00"/>
              <a:buFont typeface="Inter"/>
              <a:buNone/>
            </a:pPr>
            <a:r>
              <a:rPr b="0" i="0" lang="en-US" sz="16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Critical design: what to filter, what to pass through — derived from noise analysis and EKF coupling</a:t>
            </a:r>
            <a:endParaRPr b="0" i="0" sz="1600" u="none" cap="none" strike="noStrike"/>
          </a:p>
        </p:txBody>
      </p:sp>
      <p:sp>
        <p:nvSpPr>
          <p:cNvPr id="1121" name="Google Shape;1121;p46"/>
          <p:cNvSpPr/>
          <p:nvPr/>
        </p:nvSpPr>
        <p:spPr>
          <a:xfrm>
            <a:off x="793800" y="2071775"/>
            <a:ext cx="4225200" cy="5412600"/>
          </a:xfrm>
          <a:prstGeom prst="roundRect">
            <a:avLst>
              <a:gd fmla="val 2597" name="adj"/>
            </a:avLst>
          </a:prstGeom>
          <a:solidFill>
            <a:srgbClr val="FFFFFF">
              <a:alpha val="94900"/>
            </a:srgbClr>
          </a:solidFill>
          <a:ln cap="flat" cmpd="sng" w="22850">
            <a:solidFill>
              <a:srgbClr val="B2D4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2" name="Google Shape;1122;p46"/>
          <p:cNvSpPr/>
          <p:nvPr/>
        </p:nvSpPr>
        <p:spPr>
          <a:xfrm>
            <a:off x="770923" y="2071750"/>
            <a:ext cx="116700" cy="5412600"/>
          </a:xfrm>
          <a:prstGeom prst="roundRect">
            <a:avLst>
              <a:gd fmla="val 0" name="adj"/>
            </a:avLst>
          </a:prstGeom>
          <a:solidFill>
            <a:srgbClr val="007EB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3" name="Google Shape;1123;p46"/>
          <p:cNvSpPr/>
          <p:nvPr/>
        </p:nvSpPr>
        <p:spPr>
          <a:xfrm>
            <a:off x="1089303" y="2227129"/>
            <a:ext cx="3051900" cy="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100"/>
              <a:buFont typeface="Petrona"/>
              <a:buNone/>
            </a:pPr>
            <a:r>
              <a:rPr b="1" i="0" lang="en-US" sz="21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IMU — Filter accel + gyro</a:t>
            </a:r>
            <a:endParaRPr b="0" i="0" sz="2100" u="none" cap="none" strike="noStrike"/>
          </a:p>
        </p:txBody>
      </p:sp>
      <p:sp>
        <p:nvSpPr>
          <p:cNvPr id="1124" name="Google Shape;1124;p46"/>
          <p:cNvSpPr/>
          <p:nvPr/>
        </p:nvSpPr>
        <p:spPr>
          <a:xfrm>
            <a:off x="1089303" y="2672066"/>
            <a:ext cx="37026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00"/>
              <a:buFont typeface="Inter"/>
              <a:buNone/>
            </a:pPr>
            <a:r>
              <a:rPr b="0" i="0" lang="en-US" sz="16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Filter: ax, ay, az, gx, gy, gz. Pass-through: quaternion orientation.</a:t>
            </a:r>
            <a:endParaRPr b="0" i="0" sz="1600" u="none" cap="none" strike="noStrike"/>
          </a:p>
        </p:txBody>
      </p:sp>
      <p:sp>
        <p:nvSpPr>
          <p:cNvPr id="1125" name="Google Shape;1125;p46"/>
          <p:cNvSpPr/>
          <p:nvPr/>
        </p:nvSpPr>
        <p:spPr>
          <a:xfrm>
            <a:off x="1089303" y="3402752"/>
            <a:ext cx="3702600" cy="18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00"/>
              <a:buFont typeface="Inter"/>
              <a:buNone/>
            </a:pPr>
            <a:r>
              <a:rPr b="0" i="0" lang="en-US" sz="16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Accel X: σ 0.985 → 0.218 m/s² (</a:t>
            </a:r>
            <a:r>
              <a:rPr b="1" i="0" lang="en-US" sz="16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75.6% ↓</a:t>
            </a:r>
            <a:r>
              <a:rPr b="0" i="0" lang="en-US" sz="16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). Gyro Z: σ 0.204 → 0.177 rad/s (</a:t>
            </a:r>
            <a:r>
              <a:rPr b="1" i="0" lang="en-US" sz="16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13.2% ↓</a:t>
            </a:r>
            <a:r>
              <a:rPr b="0" i="0" lang="en-US" sz="16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). </a:t>
            </a:r>
            <a:r>
              <a:rPr b="1" i="0" lang="en-US" sz="16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Why NOT filter orientation:</a:t>
            </a:r>
            <a:r>
              <a:rPr b="0" i="0" lang="en-US" sz="16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IMU integrates gyro internally. Filtering quaternion distorts chip's internal complementary filter.</a:t>
            </a:r>
            <a:endParaRPr b="0" i="0" sz="1600" u="none" cap="none" strike="noStrike"/>
          </a:p>
        </p:txBody>
      </p:sp>
      <p:sp>
        <p:nvSpPr>
          <p:cNvPr id="1126" name="Google Shape;1126;p46"/>
          <p:cNvSpPr/>
          <p:nvPr/>
        </p:nvSpPr>
        <p:spPr>
          <a:xfrm>
            <a:off x="1089303" y="5627764"/>
            <a:ext cx="3702600" cy="15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00"/>
              <a:buFont typeface="Inter"/>
              <a:buNone/>
            </a:pPr>
            <a:r>
              <a:rPr b="1" i="0" lang="en-US" sz="16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Covariance override:</a:t>
            </a:r>
            <a:r>
              <a:rPr b="0" i="0" lang="en-US" sz="16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[0.002, 0.002, 0.00</a:t>
            </a:r>
            <a:r>
              <a:rPr lang="en-US" sz="16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r>
              <a:rPr b="0" i="0" lang="en-US" sz="16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] — Gazebo σ²=0.000081 (white noise only). True noise = 0.001 bias_stddev. Over-trust → yaw drift without override.</a:t>
            </a:r>
            <a:endParaRPr b="0" i="0" sz="1600" u="none" cap="none" strike="noStrike"/>
          </a:p>
        </p:txBody>
      </p:sp>
      <p:sp>
        <p:nvSpPr>
          <p:cNvPr id="1127" name="Google Shape;1127;p46"/>
          <p:cNvSpPr/>
          <p:nvPr/>
        </p:nvSpPr>
        <p:spPr>
          <a:xfrm>
            <a:off x="5202550" y="2071750"/>
            <a:ext cx="4225200" cy="5412600"/>
          </a:xfrm>
          <a:prstGeom prst="roundRect">
            <a:avLst>
              <a:gd fmla="val 2597" name="adj"/>
            </a:avLst>
          </a:prstGeom>
          <a:solidFill>
            <a:srgbClr val="FFFFFF">
              <a:alpha val="94900"/>
            </a:srgbClr>
          </a:solidFill>
          <a:ln cap="flat" cmpd="sng" w="22850">
            <a:solidFill>
              <a:srgbClr val="B2D4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8" name="Google Shape;1128;p46"/>
          <p:cNvSpPr/>
          <p:nvPr/>
        </p:nvSpPr>
        <p:spPr>
          <a:xfrm>
            <a:off x="5179701" y="2071750"/>
            <a:ext cx="116700" cy="5412600"/>
          </a:xfrm>
          <a:prstGeom prst="roundRect">
            <a:avLst>
              <a:gd fmla="val 0" name="adj"/>
            </a:avLst>
          </a:prstGeom>
          <a:solidFill>
            <a:srgbClr val="007EB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9" name="Google Shape;1129;p46"/>
          <p:cNvSpPr/>
          <p:nvPr/>
        </p:nvSpPr>
        <p:spPr>
          <a:xfrm>
            <a:off x="5498068" y="2273169"/>
            <a:ext cx="3586200" cy="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100"/>
              <a:buFont typeface="Petrona"/>
              <a:buNone/>
            </a:pPr>
            <a:r>
              <a:rPr b="1" i="0" lang="en-US" sz="21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Wheel Odometry — USE RAW</a:t>
            </a:r>
            <a:endParaRPr b="0" i="0" sz="2100" u="none" cap="none" strike="noStrike"/>
          </a:p>
        </p:txBody>
      </p:sp>
      <p:sp>
        <p:nvSpPr>
          <p:cNvPr id="1130" name="Google Shape;1130;p46"/>
          <p:cNvSpPr/>
          <p:nvPr/>
        </p:nvSpPr>
        <p:spPr>
          <a:xfrm>
            <a:off x="5498068" y="2718106"/>
            <a:ext cx="3702600" cy="15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00"/>
              <a:buFont typeface="Inter"/>
              <a:buNone/>
            </a:pPr>
            <a:r>
              <a:rPr b="0" i="0" lang="en-US" sz="16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vx σ=0.032 m/s — already very clean. RQNN applied: noise </a:t>
            </a:r>
            <a:r>
              <a:rPr b="1" i="0" lang="en-US" sz="16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INCREASES 0.2%</a:t>
            </a:r>
            <a:r>
              <a:rPr b="0" i="0" lang="en-US" sz="16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(−0.58 dB SNR — filter degrades it!). EKF uses raw topic directly.</a:t>
            </a:r>
            <a:endParaRPr b="0" i="0" sz="1600" u="none" cap="none" strike="noStrike"/>
          </a:p>
        </p:txBody>
      </p:sp>
      <p:sp>
        <p:nvSpPr>
          <p:cNvPr id="1131" name="Google Shape;1131;p46"/>
          <p:cNvSpPr/>
          <p:nvPr/>
        </p:nvSpPr>
        <p:spPr>
          <a:xfrm>
            <a:off x="5498068" y="4552271"/>
            <a:ext cx="3702600" cy="9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00"/>
              <a:buFont typeface="Inter"/>
              <a:buNone/>
            </a:pPr>
            <a:r>
              <a:rPr b="0" i="0" lang="en-US" sz="16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Wheel encoders in Gazebo are nearly ideal; RQNN overhead without benefit on already-Gaussian signal.</a:t>
            </a:r>
            <a:endParaRPr b="0" i="0" sz="1600" u="none" cap="none" strike="noStrike"/>
          </a:p>
        </p:txBody>
      </p:sp>
      <p:sp>
        <p:nvSpPr>
          <p:cNvPr id="1132" name="Google Shape;1132;p46"/>
          <p:cNvSpPr/>
          <p:nvPr/>
        </p:nvSpPr>
        <p:spPr>
          <a:xfrm>
            <a:off x="9611450" y="2071750"/>
            <a:ext cx="4225200" cy="5412600"/>
          </a:xfrm>
          <a:prstGeom prst="roundRect">
            <a:avLst>
              <a:gd fmla="val 2597" name="adj"/>
            </a:avLst>
          </a:prstGeom>
          <a:solidFill>
            <a:srgbClr val="FFFFFF">
              <a:alpha val="94900"/>
            </a:srgbClr>
          </a:solidFill>
          <a:ln cap="flat" cmpd="sng" w="22850">
            <a:solidFill>
              <a:srgbClr val="B2D4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3" name="Google Shape;1133;p46"/>
          <p:cNvSpPr/>
          <p:nvPr/>
        </p:nvSpPr>
        <p:spPr>
          <a:xfrm>
            <a:off x="9563348" y="2071750"/>
            <a:ext cx="116700" cy="5412600"/>
          </a:xfrm>
          <a:prstGeom prst="roundRect">
            <a:avLst>
              <a:gd fmla="val 93767" name="adj"/>
            </a:avLst>
          </a:prstGeom>
          <a:solidFill>
            <a:srgbClr val="007EB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4" name="Google Shape;1134;p46"/>
          <p:cNvSpPr/>
          <p:nvPr/>
        </p:nvSpPr>
        <p:spPr>
          <a:xfrm>
            <a:off x="9906953" y="2296188"/>
            <a:ext cx="37026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100"/>
              <a:buFont typeface="Petrona"/>
              <a:buNone/>
            </a:pPr>
            <a:r>
              <a:rPr b="1" i="0" lang="en-US" sz="21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Visual + LiDAR Odom — Filter twist only</a:t>
            </a:r>
            <a:endParaRPr b="0" i="0" sz="2100" u="none" cap="none" strike="noStrike"/>
          </a:p>
        </p:txBody>
      </p:sp>
      <p:sp>
        <p:nvSpPr>
          <p:cNvPr id="1135" name="Google Shape;1135;p46"/>
          <p:cNvSpPr/>
          <p:nvPr/>
        </p:nvSpPr>
        <p:spPr>
          <a:xfrm>
            <a:off x="9906953" y="3087439"/>
            <a:ext cx="37026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00"/>
              <a:buFont typeface="Inter"/>
              <a:buNone/>
            </a:pPr>
            <a:r>
              <a:rPr b="0" i="0" lang="en-US" sz="16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Filter twist: vx, vyaw. Pass-through: pose (x, y, yaw).</a:t>
            </a:r>
            <a:endParaRPr b="0" i="0" sz="1600" u="none" cap="none" strike="noStrike"/>
          </a:p>
        </p:txBody>
      </p:sp>
      <p:sp>
        <p:nvSpPr>
          <p:cNvPr id="1136" name="Google Shape;1136;p46"/>
          <p:cNvSpPr/>
          <p:nvPr/>
        </p:nvSpPr>
        <p:spPr>
          <a:xfrm>
            <a:off x="9906953" y="3818125"/>
            <a:ext cx="3702600" cy="9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00"/>
              <a:buFont typeface="Inter"/>
              <a:buNone/>
            </a:pPr>
            <a:r>
              <a:rPr b="0" i="0" lang="en-US" sz="16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VO vx: σ 0.480 → 0.214 m/s (</a:t>
            </a:r>
            <a:r>
              <a:rPr b="1" i="0" lang="en-US" sz="16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55.4% ↓</a:t>
            </a:r>
            <a:r>
              <a:rPr b="0" i="0" lang="en-US" sz="16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). VO wz: σ 0.033 → 0.018 rad/s (</a:t>
            </a:r>
            <a:r>
              <a:rPr b="1" i="0" lang="en-US" sz="16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45.5% ↓</a:t>
            </a:r>
            <a:r>
              <a:rPr b="0" i="0" lang="en-US" sz="16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). LiDAR vx: 3.1% reduction.</a:t>
            </a:r>
            <a:endParaRPr b="0" i="0" sz="1600" u="none" cap="none" strike="noStrike"/>
          </a:p>
        </p:txBody>
      </p:sp>
      <p:sp>
        <p:nvSpPr>
          <p:cNvPr id="1137" name="Google Shape;1137;p46"/>
          <p:cNvSpPr/>
          <p:nvPr/>
        </p:nvSpPr>
        <p:spPr>
          <a:xfrm>
            <a:off x="9906953" y="4916639"/>
            <a:ext cx="3702600" cy="21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00"/>
              <a:buFont typeface="Inter"/>
              <a:buNone/>
            </a:pPr>
            <a:r>
              <a:rPr b="1" i="0" lang="en-US" sz="16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Why NOT filter pose:</a:t>
            </a:r>
            <a:r>
              <a:rPr b="0" i="0" lang="en-US" sz="16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differential:true → EKF uses Δpose. Filtered pose + differencing → lag → Δ underestimates accel, overestimates decel → systematic drift builds up. Pre-fix drift: </a:t>
            </a:r>
            <a:r>
              <a:rPr b="1" i="0" lang="en-US" sz="16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21 m</a:t>
            </a:r>
            <a:r>
              <a:rPr b="0" i="0" lang="en-US" sz="16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| Post-fix drift: </a:t>
            </a:r>
            <a:r>
              <a:rPr b="1" i="0" lang="en-US" sz="16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0.46 m</a:t>
            </a:r>
            <a:r>
              <a:rPr b="0" i="0" lang="en-US" sz="16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16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✅</a:t>
            </a:r>
            <a:endParaRPr b="0" i="0" sz="1600" u="none" cap="none" strike="noStrike"/>
          </a:p>
        </p:txBody>
      </p:sp>
      <p:sp>
        <p:nvSpPr>
          <p:cNvPr id="1138" name="Google Shape;1138;p46"/>
          <p:cNvSpPr/>
          <p:nvPr/>
        </p:nvSpPr>
        <p:spPr>
          <a:xfrm>
            <a:off x="12845075" y="7780725"/>
            <a:ext cx="1680600" cy="356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34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3" name="Shape 1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" name="Google Shape;1144;p47"/>
          <p:cNvSpPr/>
          <p:nvPr/>
        </p:nvSpPr>
        <p:spPr>
          <a:xfrm>
            <a:off x="793790" y="583815"/>
            <a:ext cx="8878800" cy="4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Petrona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Full QF-EKF YAML — EKF #1 (Local / Odom Frame)</a:t>
            </a:r>
            <a:endParaRPr b="0" i="0" sz="3000" u="none" cap="none" strike="noStrike"/>
          </a:p>
        </p:txBody>
      </p:sp>
      <p:sp>
        <p:nvSpPr>
          <p:cNvPr id="1145" name="Google Shape;1145;p47"/>
          <p:cNvSpPr/>
          <p:nvPr/>
        </p:nvSpPr>
        <p:spPr>
          <a:xfrm>
            <a:off x="793790" y="1259138"/>
            <a:ext cx="130428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b="0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All parameters shown with rationale; Q values tightened after RQNN reduces sensor noise</a:t>
            </a:r>
            <a:endParaRPr b="0" i="0" sz="1150" u="none" cap="none" strike="noStrike"/>
          </a:p>
        </p:txBody>
      </p:sp>
      <p:sp>
        <p:nvSpPr>
          <p:cNvPr id="1146" name="Google Shape;1146;p47"/>
          <p:cNvSpPr/>
          <p:nvPr/>
        </p:nvSpPr>
        <p:spPr>
          <a:xfrm>
            <a:off x="793790" y="1657163"/>
            <a:ext cx="2065200" cy="2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Petrona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ekf_filter_node_odom</a:t>
            </a:r>
            <a:endParaRPr b="0" i="0" sz="1500" u="none" cap="none" strike="noStrike"/>
          </a:p>
        </p:txBody>
      </p:sp>
      <p:sp>
        <p:nvSpPr>
          <p:cNvPr id="1147" name="Google Shape;1147;p47"/>
          <p:cNvSpPr/>
          <p:nvPr/>
        </p:nvSpPr>
        <p:spPr>
          <a:xfrm>
            <a:off x="793790" y="2006731"/>
            <a:ext cx="6341700" cy="4380300"/>
          </a:xfrm>
          <a:prstGeom prst="roundRect">
            <a:avLst>
              <a:gd fmla="val 1414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8" name="Google Shape;1148;p47"/>
          <p:cNvSpPr/>
          <p:nvPr/>
        </p:nvSpPr>
        <p:spPr>
          <a:xfrm>
            <a:off x="786525" y="2006723"/>
            <a:ext cx="6356100" cy="5751000"/>
          </a:xfrm>
          <a:prstGeom prst="roundRect">
            <a:avLst>
              <a:gd fmla="val 505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9" name="Google Shape;1149;p47"/>
          <p:cNvSpPr/>
          <p:nvPr/>
        </p:nvSpPr>
        <p:spPr>
          <a:xfrm>
            <a:off x="970725" y="2154123"/>
            <a:ext cx="5987700" cy="54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frequency: 50                  # 20 ms EKF cycle — matches robot controller</a:t>
            </a:r>
            <a:endParaRPr b="0" i="0" sz="1150" u="none" cap="none" strike="noStrike"/>
          </a:p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sensor_timeout: 0.</a:t>
            </a:r>
            <a:r>
              <a:rPr lang="en-US" sz="1150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25</a:t>
            </a:r>
            <a:r>
              <a:rPr b="0" i="0" lang="en-US" sz="115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         # tolerate 1 dropped frame before timeout</a:t>
            </a:r>
            <a:endParaRPr b="0" i="0" sz="1150" u="none" cap="none" strike="noStrike"/>
          </a:p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two_d_mode: true               # ground robot: z=0, removes roll/pitch from state</a:t>
            </a:r>
            <a:endParaRPr b="0" i="0" sz="1150" u="none" cap="none" strike="noStrike"/>
          </a:p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world_frame: odom              # EKF#1 publishes odom→base_link TF</a:t>
            </a:r>
            <a:endParaRPr b="0" i="0" sz="1150" u="none" cap="none" strike="noStrike"/>
          </a:p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SzPts val="1150"/>
              <a:buFont typeface="Arial"/>
              <a:buNone/>
            </a:pPr>
            <a:r>
              <a:t/>
            </a:r>
            <a:endParaRPr b="0" i="0" sz="1150" u="none" cap="none" strike="noStrike"/>
          </a:p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odom0: /diff_drive_controller/odom</a:t>
            </a:r>
            <a:endParaRPr b="0" i="0" sz="1150" u="none" cap="none" strike="noStrike"/>
          </a:p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odom0_config: [false,false,false,</a:t>
            </a:r>
            <a:endParaRPr b="0" i="0" sz="1150" u="none" cap="none" strike="noStrike"/>
          </a:p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            false,false,false,</a:t>
            </a:r>
            <a:endParaRPr b="0" i="0" sz="1150" u="none" cap="none" strike="noStrike"/>
          </a:p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            true, false,false,</a:t>
            </a:r>
            <a:endParaRPr b="0" i="0" sz="1150" u="none" cap="none" strike="noStrike"/>
          </a:p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            false,false,true,  # vx + vyaw only</a:t>
            </a:r>
            <a:endParaRPr b="0" i="0" sz="1150" u="none" cap="none" strike="noStrike"/>
          </a:p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            false,false,false]</a:t>
            </a:r>
            <a:endParaRPr b="0" i="0" sz="1150" u="none" cap="none" strike="noStrike"/>
          </a:p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# WHY vx+vyaw only: absolute wheel pose drifts with slip; velocity is clean</a:t>
            </a:r>
            <a:endParaRPr b="0" i="0" sz="1150" u="none" cap="none" strike="noStrike"/>
          </a:p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odom0_differential: false      # wheel stable; no Δ needed</a:t>
            </a:r>
            <a:endParaRPr b="0" i="0" sz="1150" u="none" cap="none" strike="noStrike"/>
          </a:p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odom0_nodelay: true</a:t>
            </a:r>
            <a:endParaRPr b="0" i="0" sz="1150" u="none" cap="none" strike="noStrike"/>
          </a:p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imu0: /imu/data/filtered</a:t>
            </a:r>
            <a:endParaRPr b="0" i="0" sz="1150" u="none" cap="none" strike="noStrike"/>
          </a:p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imu0_config: [false,false,false,</a:t>
            </a:r>
            <a:endParaRPr b="0" i="0" sz="1150" u="none" cap="none" strike="noStrike"/>
          </a:p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           false,false,false,</a:t>
            </a:r>
            <a:endParaRPr b="0" i="0" sz="1150" u="none" cap="none" strike="noStrike"/>
          </a:p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           false,false,false,</a:t>
            </a:r>
            <a:endParaRPr b="0" i="0" sz="1150" u="none" cap="none" strike="noStrike"/>
          </a:p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           </a:t>
            </a:r>
            <a:r>
              <a:rPr lang="en-US" sz="1150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b="0" i="0" lang="en-US" sz="115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150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b="0" i="0" lang="en-US" sz="115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, true,   # </a:t>
            </a:r>
            <a:r>
              <a:rPr b="0" i="0" lang="en-US" sz="115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ang_vel</a:t>
            </a:r>
            <a:endParaRPr b="0" i="0" sz="1150" u="none" cap="none" strike="noStrike"/>
          </a:p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           </a:t>
            </a:r>
            <a:r>
              <a:rPr lang="en-US" sz="1150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b="0" i="0" lang="en-US" sz="115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150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b="0" i="0" lang="en-US" sz="115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150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b="0" i="0" lang="en-US" sz="115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]</a:t>
            </a:r>
            <a:endParaRPr b="0" i="0" sz="1150" u="none" cap="none" strike="noStrike"/>
          </a:p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# WHY orientation disabled: no magnetometer → absolute yaw invalid in sim</a:t>
            </a:r>
            <a:endParaRPr b="0" i="0" sz="1150" u="none" cap="none" strike="noStrike"/>
          </a:p>
        </p:txBody>
      </p:sp>
      <p:sp>
        <p:nvSpPr>
          <p:cNvPr id="1150" name="Google Shape;1150;p47"/>
          <p:cNvSpPr/>
          <p:nvPr/>
        </p:nvSpPr>
        <p:spPr>
          <a:xfrm>
            <a:off x="7502604" y="1657163"/>
            <a:ext cx="1935000" cy="2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Petrona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 </a:t>
            </a:r>
            <a:endParaRPr b="0" i="0" sz="1500" u="none" cap="none" strike="noStrike"/>
          </a:p>
        </p:txBody>
      </p:sp>
      <p:sp>
        <p:nvSpPr>
          <p:cNvPr id="1151" name="Google Shape;1151;p47"/>
          <p:cNvSpPr/>
          <p:nvPr/>
        </p:nvSpPr>
        <p:spPr>
          <a:xfrm>
            <a:off x="7502604" y="2006731"/>
            <a:ext cx="6341700" cy="4380300"/>
          </a:xfrm>
          <a:prstGeom prst="roundRect">
            <a:avLst>
              <a:gd fmla="val 1414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2" name="Google Shape;1152;p47"/>
          <p:cNvSpPr/>
          <p:nvPr/>
        </p:nvSpPr>
        <p:spPr>
          <a:xfrm>
            <a:off x="7495350" y="2006723"/>
            <a:ext cx="6356100" cy="5751000"/>
          </a:xfrm>
          <a:prstGeom prst="roundRect">
            <a:avLst>
              <a:gd fmla="val 505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3" name="Google Shape;1153;p47"/>
          <p:cNvSpPr/>
          <p:nvPr/>
        </p:nvSpPr>
        <p:spPr>
          <a:xfrm>
            <a:off x="7679531" y="2154131"/>
            <a:ext cx="5987700" cy="40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6A737D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# WHY differential:true: prevents 150° heading runaway (tested)</a:t>
            </a:r>
            <a:endParaRPr b="0" i="0" sz="1150" u="none" cap="none" strike="noStrike"/>
          </a:p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6A737D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imu0_differential: true</a:t>
            </a:r>
            <a:endParaRPr b="0" i="0" sz="1150" u="none" cap="none" strike="noStrike"/>
          </a:p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6A737D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imu0_remove_gravitational_acceleration: true</a:t>
            </a:r>
            <a:endParaRPr b="0" i="0" sz="1150" u="none" cap="none" strike="noStrike"/>
          </a:p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6A737D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imu0_pose_rejection_threshold: 0.</a:t>
            </a:r>
            <a:r>
              <a:rPr lang="en-US" sz="1150">
                <a:solidFill>
                  <a:srgbClr val="6A737D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8</a:t>
            </a:r>
            <a:r>
              <a:rPr b="0" i="0" lang="en-US" sz="1150" u="none" cap="none" strike="noStrike">
                <a:solidFill>
                  <a:srgbClr val="6A737D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 # tightened — RQNN -7.8% noise</a:t>
            </a:r>
            <a:endParaRPr b="0" i="0" sz="1150" u="none" cap="none" strike="noStrike"/>
          </a:p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6A737D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imu0_twist_rejection_threshold: 0.6</a:t>
            </a:r>
            <a:endParaRPr b="0" i="0" sz="1150" u="none" cap="none" strike="noStrike"/>
          </a:p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6A737D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imu0_linear_acceleration_rejection_threshold: 0.5</a:t>
            </a:r>
            <a:endParaRPr b="0" i="0" sz="1150" u="none" cap="none" strike="noStrike"/>
          </a:p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SzPts val="1150"/>
              <a:buFont typeface="Arial"/>
              <a:buNone/>
            </a:pPr>
            <a:r>
              <a:t/>
            </a:r>
            <a:endParaRPr b="0" i="0" sz="1150" u="none" cap="none" strike="noStrike"/>
          </a:p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6A737D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use_control: true</a:t>
            </a:r>
            <a:endParaRPr b="0" i="0" sz="1150" u="none" cap="none" strike="noStrike"/>
          </a:p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6A737D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control_config: [true,false,false,false,false,true]  # vx + vyaw</a:t>
            </a:r>
            <a:endParaRPr b="0" i="0" sz="1150" u="none" cap="none" strike="noStrike"/>
          </a:p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6A737D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acceleration_limits: [1.0,0,0,0,0,1.5]</a:t>
            </a:r>
            <a:endParaRPr b="0" i="0" sz="1150" u="none" cap="none" strike="noStrike"/>
          </a:p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6A737D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acceleration_gains: [0.8,0,0,0,0,0.9]</a:t>
            </a:r>
            <a:endParaRPr b="0" i="0" sz="1150" u="none" cap="none" strike="noStrike"/>
          </a:p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6A737D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deceleration_gains: [1.0,0,0,0,0,1.0]</a:t>
            </a:r>
            <a:endParaRPr b="0" i="0" sz="1150" u="none" cap="none" strike="noStrike"/>
          </a:p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SzPts val="1150"/>
              <a:buFont typeface="Arial"/>
              <a:buNone/>
            </a:pPr>
            <a:r>
              <a:t/>
            </a:r>
            <a:endParaRPr b="0" i="0" sz="1150" u="none" cap="none" strike="noStrike"/>
          </a:p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6A737D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process_noise_covariance:      # Q matrix — tightened after RQNN</a:t>
            </a:r>
            <a:endParaRPr b="0" i="0" sz="1150" u="none" cap="none" strike="noStrike"/>
          </a:p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6A737D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x, y: 0.0</a:t>
            </a:r>
            <a:r>
              <a:rPr lang="en-US" sz="1150">
                <a:solidFill>
                  <a:srgbClr val="6A737D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15</a:t>
            </a:r>
            <a:r>
              <a:rPr b="0" i="0" lang="en-US" sz="1150" u="none" cap="none" strike="noStrike">
                <a:solidFill>
                  <a:srgbClr val="6A737D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               # baseline 0.05 → -30% (cleaner vel prediction)</a:t>
            </a:r>
            <a:endParaRPr b="0" i="0" sz="1150" u="none" cap="none" strike="noStrike"/>
          </a:p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6A737D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z: 0.0</a:t>
            </a:r>
            <a:r>
              <a:rPr lang="en-US" sz="1150">
                <a:solidFill>
                  <a:srgbClr val="6A737D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6</a:t>
            </a:r>
            <a:endParaRPr b="0" i="0" sz="1150" u="none" cap="none" strike="noStrike"/>
          </a:p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6A737D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yaw: 0.0</a:t>
            </a:r>
            <a:r>
              <a:rPr lang="en-US" sz="1150">
                <a:solidFill>
                  <a:srgbClr val="6A737D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6</a:t>
            </a:r>
            <a:endParaRPr b="0" i="0" sz="1150" u="none" cap="none" strike="noStrike"/>
          </a:p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6A737D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vx, vy: 0.0</a:t>
            </a:r>
            <a:r>
              <a:rPr lang="en-US" sz="1150">
                <a:solidFill>
                  <a:srgbClr val="6A737D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-US" sz="1150" u="none" cap="none" strike="noStrike">
                <a:solidFill>
                  <a:srgbClr val="6A737D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             # baseline 0.025 → -40% (IMU accel 75% noise drop)</a:t>
            </a:r>
            <a:endParaRPr b="0" i="0" sz="1150" u="none" cap="none" strike="noStrike"/>
          </a:p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6A737D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ax, ay: 0.01</a:t>
            </a:r>
            <a:endParaRPr b="0" i="0" sz="1150" u="none" cap="none" strike="noStrike"/>
          </a:p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SzPts val="1150"/>
              <a:buFont typeface="Arial"/>
              <a:buNone/>
            </a:pPr>
            <a:r>
              <a:t/>
            </a:r>
            <a:endParaRPr b="0" i="0" sz="1150" u="none" cap="none" strike="noStrike"/>
          </a:p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6A737D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initial_estimate_covariance: 1e-9  # robot starts at known odom origin</a:t>
            </a:r>
            <a:endParaRPr b="0" i="0" sz="1150" u="none" cap="none" strike="noStrike"/>
          </a:p>
        </p:txBody>
      </p:sp>
      <p:sp>
        <p:nvSpPr>
          <p:cNvPr id="1154" name="Google Shape;1154;p47"/>
          <p:cNvSpPr/>
          <p:nvPr/>
        </p:nvSpPr>
        <p:spPr>
          <a:xfrm>
            <a:off x="12845075" y="7780725"/>
            <a:ext cx="1680600" cy="356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35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9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Google Shape;1160;p48"/>
          <p:cNvSpPr/>
          <p:nvPr/>
        </p:nvSpPr>
        <p:spPr>
          <a:xfrm>
            <a:off x="793790" y="667145"/>
            <a:ext cx="9097800" cy="4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Petrona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Full QF-EKF YAML — EKF #2 (Global/Map) + NavSat</a:t>
            </a:r>
            <a:endParaRPr b="0" i="0" sz="3000" u="none" cap="none" strike="noStrike"/>
          </a:p>
        </p:txBody>
      </p:sp>
      <p:sp>
        <p:nvSpPr>
          <p:cNvPr id="1161" name="Google Shape;1161;p48"/>
          <p:cNvSpPr/>
          <p:nvPr/>
        </p:nvSpPr>
        <p:spPr>
          <a:xfrm>
            <a:off x="793790" y="1294605"/>
            <a:ext cx="130428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b="0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GPS fusion, navsat circular dependency resolution, and magnetic declination handling</a:t>
            </a:r>
            <a:endParaRPr b="0" i="0" sz="1150" u="none" cap="none" strike="noStrike"/>
          </a:p>
        </p:txBody>
      </p:sp>
      <p:sp>
        <p:nvSpPr>
          <p:cNvPr id="1162" name="Google Shape;1162;p48"/>
          <p:cNvSpPr/>
          <p:nvPr/>
        </p:nvSpPr>
        <p:spPr>
          <a:xfrm>
            <a:off x="793790" y="1692631"/>
            <a:ext cx="1955400" cy="2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Petrona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ekf_filter_node_map</a:t>
            </a:r>
            <a:endParaRPr b="0" i="0" sz="1500" u="none" cap="none" strike="noStrike"/>
          </a:p>
        </p:txBody>
      </p:sp>
      <p:sp>
        <p:nvSpPr>
          <p:cNvPr id="1163" name="Google Shape;1163;p48"/>
          <p:cNvSpPr/>
          <p:nvPr/>
        </p:nvSpPr>
        <p:spPr>
          <a:xfrm>
            <a:off x="793790" y="2042198"/>
            <a:ext cx="6341700" cy="3991200"/>
          </a:xfrm>
          <a:prstGeom prst="roundRect">
            <a:avLst>
              <a:gd fmla="val 1552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4" name="Google Shape;1164;p48"/>
          <p:cNvSpPr/>
          <p:nvPr/>
        </p:nvSpPr>
        <p:spPr>
          <a:xfrm>
            <a:off x="786525" y="2042201"/>
            <a:ext cx="6356100" cy="5312700"/>
          </a:xfrm>
          <a:prstGeom prst="roundRect">
            <a:avLst>
              <a:gd fmla="val 554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5" name="Google Shape;1165;p48"/>
          <p:cNvSpPr/>
          <p:nvPr/>
        </p:nvSpPr>
        <p:spPr>
          <a:xfrm>
            <a:off x="970717" y="2189598"/>
            <a:ext cx="5987700" cy="36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frequency: 50</a:t>
            </a:r>
            <a:endParaRPr b="0" i="0" sz="1150" u="none" cap="none" strike="noStrike"/>
          </a:p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world_frame: map               # publishes map→odom TF</a:t>
            </a:r>
            <a:endParaRPr b="0" i="0" sz="1150" u="none" cap="none" strike="noStrike"/>
          </a:p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SzPts val="1150"/>
              <a:buFont typeface="Arial"/>
              <a:buNone/>
            </a:pPr>
            <a:r>
              <a:t/>
            </a:r>
            <a:endParaRPr b="0" i="0" sz="1150" u="none" cap="none" strike="noStrike"/>
          </a:p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odom0: /diff_drive_controller/odom/filtered  # same as EKF#1</a:t>
            </a:r>
            <a:endParaRPr b="0" i="0" sz="1150" u="none" cap="none" strike="noStrike"/>
          </a:p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SzPts val="1150"/>
              <a:buFont typeface="Arial"/>
              <a:buNone/>
            </a:pPr>
            <a:r>
              <a:t/>
            </a:r>
            <a:endParaRPr b="0" i="0" sz="1150" u="none" cap="none" strike="noStrike"/>
          </a:p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odom1: /odometry/gps           # navsat_transform output</a:t>
            </a:r>
            <a:endParaRPr b="0" i="0" sz="1150" u="none" cap="none" strike="noStrike"/>
          </a:p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odom1_config: [true,true,false, ...]  # x,y only</a:t>
            </a:r>
            <a:endParaRPr b="0" i="0" sz="1150" u="none" cap="none" strike="noStrike"/>
          </a:p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# WHY x,y only: GPS has no orientation</a:t>
            </a:r>
            <a:endParaRPr b="0" i="0" sz="1150" u="none" cap="none" strike="noStrike"/>
          </a:p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odom1_rejection_threshold: 2.0</a:t>
            </a:r>
            <a:endParaRPr b="0" i="0" sz="1150" u="none" cap="none" strike="noStrike"/>
          </a:p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SzPts val="1150"/>
              <a:buFont typeface="Arial"/>
              <a:buNone/>
            </a:pPr>
            <a:r>
              <a:t/>
            </a:r>
            <a:endParaRPr b="0" i="0" sz="1150" u="none" cap="none" strike="noStrike"/>
          </a:p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om2: /odometry/visual/filtered</a:t>
            </a:r>
            <a:endParaRPr b="0" i="0" sz="1150" u="none" cap="none" strike="noStrike"/>
          </a:p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odom2_differential: true       # CRITICAL: prevents loop-closure jumps</a:t>
            </a:r>
            <a:endParaRPr b="0" i="0" sz="1150" u="none" cap="none" strike="noStrike"/>
          </a:p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odom2_rejection_threshold: 2.0</a:t>
            </a:r>
            <a:endParaRPr b="0" i="0" sz="1150" u="none" cap="none" strike="noStrike"/>
          </a:p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SzPts val="1150"/>
              <a:buFont typeface="Arial"/>
              <a:buNone/>
            </a:pPr>
            <a:r>
              <a:t/>
            </a:r>
            <a:endParaRPr b="0" i="0" sz="1150" u="none" cap="none" strike="noStrike"/>
          </a:p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odom3: /odometry/lidar/filtered</a:t>
            </a:r>
            <a:endParaRPr b="0" i="0" sz="1150" u="none" cap="none" strike="noStrike"/>
          </a:p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odom3_differential: true</a:t>
            </a:r>
            <a:endParaRPr b="0" i="0" sz="1150" u="none" cap="none" strike="noStrike"/>
          </a:p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odom3_rejection_threshold: 2.0</a:t>
            </a:r>
            <a:endParaRPr b="0" i="0" sz="1150" u="none" cap="none" strike="noStrike"/>
          </a:p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SzPts val="1150"/>
              <a:buFont typeface="Arial"/>
              <a:buNone/>
            </a:pPr>
            <a:r>
              <a:t/>
            </a:r>
            <a:endParaRPr b="0" i="0" sz="1150" u="none" cap="none" strike="noStrike"/>
          </a:p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imu0: /imu/data/filtered       # same IMU config as EKF#1</a:t>
            </a:r>
            <a:endParaRPr b="0" i="0" sz="1150" u="none" cap="none" strike="noStrike"/>
          </a:p>
        </p:txBody>
      </p:sp>
      <p:sp>
        <p:nvSpPr>
          <p:cNvPr id="1166" name="Google Shape;1166;p48"/>
          <p:cNvSpPr/>
          <p:nvPr/>
        </p:nvSpPr>
        <p:spPr>
          <a:xfrm>
            <a:off x="7502604" y="1692631"/>
            <a:ext cx="1935000" cy="2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Petrona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 </a:t>
            </a:r>
            <a:endParaRPr b="0" i="0" sz="1500" u="none" cap="none" strike="noStrike"/>
          </a:p>
        </p:txBody>
      </p:sp>
      <p:sp>
        <p:nvSpPr>
          <p:cNvPr id="1167" name="Google Shape;1167;p48"/>
          <p:cNvSpPr/>
          <p:nvPr/>
        </p:nvSpPr>
        <p:spPr>
          <a:xfrm>
            <a:off x="7502604" y="2042198"/>
            <a:ext cx="6341700" cy="3991200"/>
          </a:xfrm>
          <a:prstGeom prst="roundRect">
            <a:avLst>
              <a:gd fmla="val 1552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8" name="Google Shape;1168;p48"/>
          <p:cNvSpPr/>
          <p:nvPr/>
        </p:nvSpPr>
        <p:spPr>
          <a:xfrm>
            <a:off x="7495350" y="2042201"/>
            <a:ext cx="6356100" cy="5312700"/>
          </a:xfrm>
          <a:prstGeom prst="roundRect">
            <a:avLst>
              <a:gd fmla="val 554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9" name="Google Shape;1169;p48"/>
          <p:cNvSpPr/>
          <p:nvPr/>
        </p:nvSpPr>
        <p:spPr>
          <a:xfrm>
            <a:off x="7679531" y="2189598"/>
            <a:ext cx="5987700" cy="36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process_noise_covariance:</a:t>
            </a:r>
            <a:endParaRPr b="0" i="0" sz="1150" u="none" cap="none" strike="noStrike"/>
          </a:p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x, y: 0.025                   # larger than EKF#1 — GPS at 10 Hz leaves 100 ms gaps</a:t>
            </a:r>
            <a:endParaRPr b="0" i="0" sz="1150" u="none" cap="none" strike="noStrike"/>
          </a:p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vx, vy: 0.05                 # higher uncertainty during inter-GPS prediction</a:t>
            </a:r>
            <a:endParaRPr b="0" i="0" sz="1150" u="none" cap="none" strike="noStrike"/>
          </a:p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SzPts val="1150"/>
              <a:buFont typeface="Arial"/>
              <a:buNone/>
            </a:pPr>
            <a:r>
              <a:t/>
            </a:r>
            <a:endParaRPr b="0" i="0" sz="1150" u="none" cap="none" strike="noStrike"/>
          </a:p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initial_estimate_covariance: </a:t>
            </a:r>
            <a:r>
              <a:rPr lang="en-US" sz="1150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1e-9</a:t>
            </a:r>
            <a:r>
              <a:rPr b="0" i="0" lang="en-US" sz="115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# HIGH: no global fix yet</a:t>
            </a:r>
            <a:endParaRPr b="0" i="0" sz="1150" u="none" cap="none" strike="noStrike"/>
          </a:p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SzPts val="1150"/>
              <a:buFont typeface="Arial"/>
              <a:buNone/>
            </a:pPr>
            <a:r>
              <a:t/>
            </a:r>
            <a:endParaRPr b="0" i="0" sz="1150" u="none" cap="none" strike="noStrike"/>
          </a:p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navsat_transform_node:</a:t>
            </a:r>
            <a:endParaRPr b="0" i="0" sz="1150" u="none" cap="none" strike="noStrike"/>
          </a:p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frequency: 10.0</a:t>
            </a:r>
            <a:endParaRPr b="0" i="0" sz="1150" u="none" cap="none" strike="noStrike"/>
          </a:p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delay: 0.</a:t>
            </a:r>
            <a:r>
              <a:rPr lang="en-US" sz="1150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US" sz="115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                # wait for EKF#1 heading to stabilize</a:t>
            </a:r>
            <a:endParaRPr b="0" i="0" sz="1150" u="none" cap="none" strike="noStrike"/>
          </a:p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magnetic_declination_radians: 0.0</a:t>
            </a:r>
            <a:endParaRPr b="0" i="0" sz="1150" u="none" cap="none" strike="noStrike"/>
          </a:p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# SIM: Gazebo ENU. IMU yaw=0=East. Zero offset correct.</a:t>
            </a:r>
            <a:endParaRPr b="0" i="0" sz="1150" u="none" cap="none" strike="noStrike"/>
          </a:p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# REAL ROBOT: use https://ngdc.noaa.gov/geomag-web</a:t>
            </a:r>
            <a:endParaRPr b="0" i="0" sz="1150" u="none" cap="none" strike="noStrike"/>
          </a:p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# Delhi: ~0.5° E = 0.0087 rad</a:t>
            </a:r>
            <a:endParaRPr b="0" i="0" sz="1150" u="none" cap="none" strike="noStrike"/>
          </a:p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# Munich: ~3.5° E = 0.061 rad</a:t>
            </a:r>
            <a:endParaRPr b="0" i="0" sz="1150" u="none" cap="none" strike="noStrike"/>
          </a:p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# WRONG VALUE → GPS frame rotated → 14 m+ initial drift!</a:t>
            </a:r>
            <a:endParaRPr b="0" i="0" sz="1150" u="none" cap="none" strike="noStrike"/>
          </a:p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yaw_offset: 0.0</a:t>
            </a:r>
            <a:endParaRPr b="0" i="0" sz="1150" u="none" cap="none" strike="noStrike"/>
          </a:p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zero_altitude: true</a:t>
            </a:r>
            <a:endParaRPr b="0" i="0" sz="1150" u="none" cap="none" strike="noStrike"/>
          </a:p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use_odometry_yaw: </a:t>
            </a:r>
            <a:r>
              <a:rPr lang="en-US" sz="1150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b="0" i="0" lang="en-US" sz="115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   # CRITICAL — breaks circular dependency</a:t>
            </a:r>
            <a:endParaRPr b="0" i="0" sz="1150" u="none" cap="none" strike="noStrike"/>
          </a:p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005CC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wait_for_datum: false        # use first GPS fix as local origin</a:t>
            </a:r>
            <a:endParaRPr b="0" i="0" sz="1150" u="none" cap="none" strike="noStrike"/>
          </a:p>
        </p:txBody>
      </p:sp>
      <p:sp>
        <p:nvSpPr>
          <p:cNvPr id="1170" name="Google Shape;1170;p48"/>
          <p:cNvSpPr/>
          <p:nvPr/>
        </p:nvSpPr>
        <p:spPr>
          <a:xfrm>
            <a:off x="12845075" y="7780725"/>
            <a:ext cx="1680600" cy="356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36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5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6" name="Google Shape;1176;p49"/>
          <p:cNvSpPr/>
          <p:nvPr/>
        </p:nvSpPr>
        <p:spPr>
          <a:xfrm>
            <a:off x="793790" y="803315"/>
            <a:ext cx="5694000" cy="4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Petrona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Critical Issues Faced &amp; Resolved</a:t>
            </a:r>
            <a:endParaRPr b="0" i="0" sz="3000" u="none" cap="none" strike="noStrike"/>
          </a:p>
        </p:txBody>
      </p:sp>
      <p:sp>
        <p:nvSpPr>
          <p:cNvPr id="1177" name="Google Shape;1177;p49"/>
          <p:cNvSpPr/>
          <p:nvPr/>
        </p:nvSpPr>
        <p:spPr>
          <a:xfrm>
            <a:off x="793790" y="1478637"/>
            <a:ext cx="130428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b="0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Five design decisions derived from debugging — each with measurable impact on drift performance</a:t>
            </a:r>
            <a:endParaRPr b="0" i="0" sz="1150" u="none" cap="none" strike="noStrike"/>
          </a:p>
        </p:txBody>
      </p:sp>
      <p:sp>
        <p:nvSpPr>
          <p:cNvPr id="1178" name="Google Shape;1178;p49"/>
          <p:cNvSpPr/>
          <p:nvPr/>
        </p:nvSpPr>
        <p:spPr>
          <a:xfrm>
            <a:off x="793790" y="1780937"/>
            <a:ext cx="13042800" cy="1208100"/>
          </a:xfrm>
          <a:prstGeom prst="roundRect">
            <a:avLst>
              <a:gd fmla="val 5126" name="adj"/>
            </a:avLst>
          </a:prstGeom>
          <a:solidFill>
            <a:srgbClr val="FFFFFF">
              <a:alpha val="94900"/>
            </a:srgbClr>
          </a:solidFill>
          <a:ln cap="flat" cmpd="sng" w="15225">
            <a:solidFill>
              <a:srgbClr val="B2D4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9" name="Google Shape;1179;p49"/>
          <p:cNvSpPr/>
          <p:nvPr/>
        </p:nvSpPr>
        <p:spPr>
          <a:xfrm>
            <a:off x="809030" y="1796177"/>
            <a:ext cx="589800" cy="1177500"/>
          </a:xfrm>
          <a:prstGeom prst="roundRect">
            <a:avLst>
              <a:gd fmla="val 7399" name="adj"/>
            </a:avLst>
          </a:prstGeom>
          <a:solidFill>
            <a:srgbClr val="CCE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0" name="Google Shape;1180;p49"/>
          <p:cNvSpPr/>
          <p:nvPr/>
        </p:nvSpPr>
        <p:spPr>
          <a:xfrm>
            <a:off x="989528" y="2246828"/>
            <a:ext cx="2211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Petrona"/>
              <a:buNone/>
            </a:pPr>
            <a:r>
              <a:rPr b="1" i="0" lang="en-US" sz="17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1</a:t>
            </a:r>
            <a:endParaRPr b="0" i="0" sz="1700" u="none" cap="none" strike="noStrike"/>
          </a:p>
        </p:txBody>
      </p:sp>
      <p:sp>
        <p:nvSpPr>
          <p:cNvPr id="1181" name="Google Shape;1181;p49"/>
          <p:cNvSpPr/>
          <p:nvPr/>
        </p:nvSpPr>
        <p:spPr>
          <a:xfrm>
            <a:off x="1494473" y="1943576"/>
            <a:ext cx="2263800" cy="2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00"/>
              <a:buFont typeface="Petrona"/>
              <a:buNone/>
            </a:pPr>
            <a:r>
              <a:rPr b="1" i="0" lang="en-US" sz="15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Pose filtering → drift 21 m</a:t>
            </a:r>
            <a:endParaRPr b="0" i="0" sz="1500" u="none" cap="none" strike="noStrike"/>
          </a:p>
        </p:txBody>
      </p:sp>
      <p:sp>
        <p:nvSpPr>
          <p:cNvPr id="1182" name="Google Shape;1182;p49"/>
          <p:cNvSpPr/>
          <p:nvPr/>
        </p:nvSpPr>
        <p:spPr>
          <a:xfrm>
            <a:off x="1494473" y="2242780"/>
            <a:ext cx="12179400" cy="5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b="1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Problem:</a:t>
            </a:r>
            <a:r>
              <a:rPr b="0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Filtering absolute pose then differencing introduces temporal lag in Δpose. EKF integrates biased deltas → drift accumulates.</a:t>
            </a:r>
            <a:endParaRPr b="0" i="0" sz="1150" u="none" cap="none" strike="noStrike"/>
          </a:p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b="1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Fix:</a:t>
            </a:r>
            <a:r>
              <a:rPr b="0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Filter TWIST only. Pose passed unfiltered.</a:t>
            </a:r>
            <a:endParaRPr b="0" i="0" sz="1150" u="none" cap="none" strike="noStrike"/>
          </a:p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b="1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Result:</a:t>
            </a:r>
            <a:r>
              <a:rPr b="0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i="0" lang="en-US" sz="1150" u="none" cap="none" strike="noStrike">
                <a:solidFill>
                  <a:srgbClr val="007EBD"/>
                </a:solidFill>
                <a:latin typeface="Inter"/>
                <a:ea typeface="Inter"/>
                <a:cs typeface="Inter"/>
                <a:sym typeface="Inter"/>
              </a:rPr>
              <a:t>21 m → 0.46 m drift</a:t>
            </a:r>
            <a:r>
              <a:rPr b="0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11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✅</a:t>
            </a:r>
            <a:endParaRPr b="0" i="0" sz="1150" u="none" cap="none" strike="noStrike"/>
          </a:p>
        </p:txBody>
      </p:sp>
      <p:sp>
        <p:nvSpPr>
          <p:cNvPr id="1183" name="Google Shape;1183;p49"/>
          <p:cNvSpPr/>
          <p:nvPr/>
        </p:nvSpPr>
        <p:spPr>
          <a:xfrm>
            <a:off x="793790" y="3084790"/>
            <a:ext cx="13042800" cy="1013700"/>
          </a:xfrm>
          <a:prstGeom prst="roundRect">
            <a:avLst>
              <a:gd fmla="val 6109" name="adj"/>
            </a:avLst>
          </a:prstGeom>
          <a:solidFill>
            <a:srgbClr val="FFFFFF">
              <a:alpha val="94900"/>
            </a:srgbClr>
          </a:solidFill>
          <a:ln cap="flat" cmpd="sng" w="15225">
            <a:solidFill>
              <a:srgbClr val="B2D4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4" name="Google Shape;1184;p49"/>
          <p:cNvSpPr/>
          <p:nvPr/>
        </p:nvSpPr>
        <p:spPr>
          <a:xfrm>
            <a:off x="809030" y="3100030"/>
            <a:ext cx="589800" cy="983100"/>
          </a:xfrm>
          <a:prstGeom prst="roundRect">
            <a:avLst>
              <a:gd fmla="val 7399" name="adj"/>
            </a:avLst>
          </a:prstGeom>
          <a:solidFill>
            <a:srgbClr val="CCE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5" name="Google Shape;1185;p49"/>
          <p:cNvSpPr/>
          <p:nvPr/>
        </p:nvSpPr>
        <p:spPr>
          <a:xfrm>
            <a:off x="989528" y="3453408"/>
            <a:ext cx="2211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Petrona"/>
              <a:buNone/>
            </a:pPr>
            <a:r>
              <a:rPr b="1" i="0" lang="en-US" sz="17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2</a:t>
            </a:r>
            <a:endParaRPr b="0" i="0" sz="1700" u="none" cap="none" strike="noStrike"/>
          </a:p>
        </p:txBody>
      </p:sp>
      <p:sp>
        <p:nvSpPr>
          <p:cNvPr id="1186" name="Google Shape;1186;p49"/>
          <p:cNvSpPr/>
          <p:nvPr/>
        </p:nvSpPr>
        <p:spPr>
          <a:xfrm>
            <a:off x="1494473" y="3247430"/>
            <a:ext cx="2682300" cy="2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00"/>
              <a:buFont typeface="Petrona"/>
              <a:buNone/>
            </a:pPr>
            <a:r>
              <a:rPr b="1" i="0" lang="en-US" sz="15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Wheel odom degrades with QF</a:t>
            </a:r>
            <a:endParaRPr b="0" i="0" sz="1500" u="none" cap="none" strike="noStrike"/>
          </a:p>
        </p:txBody>
      </p:sp>
      <p:sp>
        <p:nvSpPr>
          <p:cNvPr id="1187" name="Google Shape;1187;p49"/>
          <p:cNvSpPr/>
          <p:nvPr/>
        </p:nvSpPr>
        <p:spPr>
          <a:xfrm>
            <a:off x="1494473" y="3546634"/>
            <a:ext cx="12179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b="1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Problem:</a:t>
            </a:r>
            <a:r>
              <a:rPr b="0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Wheel encoder in Gazebo is nearly ideal (σ=0.032 m/s). RQNN INCREASES noise by 0.2% (−0.58 dB).</a:t>
            </a:r>
            <a:endParaRPr b="0" i="0" sz="1150" u="none" cap="none" strike="noStrike"/>
          </a:p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b="1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Fix:</a:t>
            </a:r>
            <a:r>
              <a:rPr b="0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Use RAW wheel odometry in EKF. Skip /filtered variant.</a:t>
            </a:r>
            <a:endParaRPr b="0" i="0" sz="1150" u="none" cap="none" strike="noStrike"/>
          </a:p>
        </p:txBody>
      </p:sp>
      <p:sp>
        <p:nvSpPr>
          <p:cNvPr id="1188" name="Google Shape;1188;p49"/>
          <p:cNvSpPr/>
          <p:nvPr/>
        </p:nvSpPr>
        <p:spPr>
          <a:xfrm>
            <a:off x="793790" y="4194096"/>
            <a:ext cx="13042800" cy="1013700"/>
          </a:xfrm>
          <a:prstGeom prst="roundRect">
            <a:avLst>
              <a:gd fmla="val 6109" name="adj"/>
            </a:avLst>
          </a:prstGeom>
          <a:solidFill>
            <a:srgbClr val="FFFFFF">
              <a:alpha val="94900"/>
            </a:srgbClr>
          </a:solidFill>
          <a:ln cap="flat" cmpd="sng" w="15225">
            <a:solidFill>
              <a:srgbClr val="B2D4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9" name="Google Shape;1189;p49"/>
          <p:cNvSpPr/>
          <p:nvPr/>
        </p:nvSpPr>
        <p:spPr>
          <a:xfrm>
            <a:off x="809030" y="4209336"/>
            <a:ext cx="589800" cy="983100"/>
          </a:xfrm>
          <a:prstGeom prst="roundRect">
            <a:avLst>
              <a:gd fmla="val 7399" name="adj"/>
            </a:avLst>
          </a:prstGeom>
          <a:solidFill>
            <a:srgbClr val="CCE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0" name="Google Shape;1190;p49"/>
          <p:cNvSpPr/>
          <p:nvPr/>
        </p:nvSpPr>
        <p:spPr>
          <a:xfrm>
            <a:off x="989528" y="4562713"/>
            <a:ext cx="2211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Petrona"/>
              <a:buNone/>
            </a:pPr>
            <a:r>
              <a:rPr b="1" i="0" lang="en-US" sz="17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3</a:t>
            </a:r>
            <a:endParaRPr b="0" i="0" sz="1700" u="none" cap="none" strike="noStrike"/>
          </a:p>
        </p:txBody>
      </p:sp>
      <p:sp>
        <p:nvSpPr>
          <p:cNvPr id="1191" name="Google Shape;1191;p49"/>
          <p:cNvSpPr/>
          <p:nvPr/>
        </p:nvSpPr>
        <p:spPr>
          <a:xfrm>
            <a:off x="1494473" y="4356735"/>
            <a:ext cx="2327400" cy="2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00"/>
              <a:buFont typeface="Petrona"/>
              <a:buNone/>
            </a:pPr>
            <a:r>
              <a:rPr b="1" i="0" lang="en-US" sz="15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IMU covariance mismatch</a:t>
            </a:r>
            <a:endParaRPr b="0" i="0" sz="1500" u="none" cap="none" strike="noStrike"/>
          </a:p>
        </p:txBody>
      </p:sp>
      <p:sp>
        <p:nvSpPr>
          <p:cNvPr id="1192" name="Google Shape;1192;p49"/>
          <p:cNvSpPr/>
          <p:nvPr/>
        </p:nvSpPr>
        <p:spPr>
          <a:xfrm>
            <a:off x="1494473" y="4655939"/>
            <a:ext cx="12179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b="1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Problem:</a:t>
            </a:r>
            <a:r>
              <a:rPr b="0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Gazebo IMU covariance σ²=0.000081 (white noise only). Actual noise includes bias_stddev=0.001. EKF over-trusts gyro → yaw drift.</a:t>
            </a:r>
            <a:endParaRPr b="0" i="0" sz="1150" u="none" cap="none" strike="noStrike"/>
          </a:p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b="1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Fix:</a:t>
            </a:r>
            <a:r>
              <a:rPr b="0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Override: angular_velocity_covariance = [0.002, 0.002, 0.00</a:t>
            </a:r>
            <a:r>
              <a:rPr lang="en-US" sz="11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r>
              <a:rPr b="0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]</a:t>
            </a:r>
            <a:endParaRPr b="0" i="0" sz="1150" u="none" cap="none" strike="noStrike"/>
          </a:p>
        </p:txBody>
      </p:sp>
      <p:sp>
        <p:nvSpPr>
          <p:cNvPr id="1193" name="Google Shape;1193;p49"/>
          <p:cNvSpPr/>
          <p:nvPr/>
        </p:nvSpPr>
        <p:spPr>
          <a:xfrm>
            <a:off x="793790" y="5303401"/>
            <a:ext cx="13042800" cy="1013700"/>
          </a:xfrm>
          <a:prstGeom prst="roundRect">
            <a:avLst>
              <a:gd fmla="val 6109" name="adj"/>
            </a:avLst>
          </a:prstGeom>
          <a:solidFill>
            <a:srgbClr val="FFFFFF">
              <a:alpha val="94900"/>
            </a:srgbClr>
          </a:solidFill>
          <a:ln cap="flat" cmpd="sng" w="15225">
            <a:solidFill>
              <a:srgbClr val="B2D4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4" name="Google Shape;1194;p49"/>
          <p:cNvSpPr/>
          <p:nvPr/>
        </p:nvSpPr>
        <p:spPr>
          <a:xfrm>
            <a:off x="809030" y="5318641"/>
            <a:ext cx="589800" cy="983100"/>
          </a:xfrm>
          <a:prstGeom prst="roundRect">
            <a:avLst>
              <a:gd fmla="val 7399" name="adj"/>
            </a:avLst>
          </a:prstGeom>
          <a:solidFill>
            <a:srgbClr val="CCE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5" name="Google Shape;1195;p49"/>
          <p:cNvSpPr/>
          <p:nvPr/>
        </p:nvSpPr>
        <p:spPr>
          <a:xfrm>
            <a:off x="989528" y="5672018"/>
            <a:ext cx="2211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Petrona"/>
              <a:buNone/>
            </a:pPr>
            <a:r>
              <a:rPr b="1" i="0" lang="en-US" sz="17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4</a:t>
            </a:r>
            <a:endParaRPr b="0" i="0" sz="1700" u="none" cap="none" strike="noStrike"/>
          </a:p>
        </p:txBody>
      </p:sp>
      <p:sp>
        <p:nvSpPr>
          <p:cNvPr id="1196" name="Google Shape;1196;p49"/>
          <p:cNvSpPr/>
          <p:nvPr/>
        </p:nvSpPr>
        <p:spPr>
          <a:xfrm>
            <a:off x="1494473" y="5466040"/>
            <a:ext cx="2790900" cy="2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00"/>
              <a:buFont typeface="Petrona"/>
              <a:buNone/>
            </a:pPr>
            <a:r>
              <a:rPr b="1" i="0" lang="en-US" sz="15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Orientation double-counts gyro</a:t>
            </a:r>
            <a:endParaRPr b="0" i="0" sz="1500" u="none" cap="none" strike="noStrike"/>
          </a:p>
        </p:txBody>
      </p:sp>
      <p:sp>
        <p:nvSpPr>
          <p:cNvPr id="1197" name="Google Shape;1197;p49"/>
          <p:cNvSpPr/>
          <p:nvPr/>
        </p:nvSpPr>
        <p:spPr>
          <a:xfrm>
            <a:off x="1494473" y="5765244"/>
            <a:ext cx="12179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b="1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Problem:</a:t>
            </a:r>
            <a:r>
              <a:rPr b="0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Fusing both orientation AND angular_velocity uses the same biased gyro signal twice → yaw corruption.</a:t>
            </a:r>
            <a:endParaRPr b="0" i="0" sz="1150" u="none" cap="none" strike="noStrike"/>
          </a:p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b="1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Fix:</a:t>
            </a:r>
            <a:r>
              <a:rPr b="0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Disable orientation rows in imu0_config. Only angular_velocity + linear_accel rows active.</a:t>
            </a:r>
            <a:endParaRPr b="0" i="0" sz="1150" u="none" cap="none" strike="noStrike"/>
          </a:p>
        </p:txBody>
      </p:sp>
      <p:sp>
        <p:nvSpPr>
          <p:cNvPr id="1198" name="Google Shape;1198;p49"/>
          <p:cNvSpPr/>
          <p:nvPr/>
        </p:nvSpPr>
        <p:spPr>
          <a:xfrm>
            <a:off x="793790" y="6412706"/>
            <a:ext cx="13042800" cy="1013700"/>
          </a:xfrm>
          <a:prstGeom prst="roundRect">
            <a:avLst>
              <a:gd fmla="val 6109" name="adj"/>
            </a:avLst>
          </a:prstGeom>
          <a:solidFill>
            <a:srgbClr val="FFFFFF">
              <a:alpha val="94900"/>
            </a:srgbClr>
          </a:solidFill>
          <a:ln cap="flat" cmpd="sng" w="15225">
            <a:solidFill>
              <a:srgbClr val="B2D4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9" name="Google Shape;1199;p49"/>
          <p:cNvSpPr/>
          <p:nvPr/>
        </p:nvSpPr>
        <p:spPr>
          <a:xfrm>
            <a:off x="809030" y="6427946"/>
            <a:ext cx="589800" cy="983100"/>
          </a:xfrm>
          <a:prstGeom prst="roundRect">
            <a:avLst>
              <a:gd fmla="val 7399" name="adj"/>
            </a:avLst>
          </a:prstGeom>
          <a:solidFill>
            <a:srgbClr val="CCE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0" name="Google Shape;1200;p49"/>
          <p:cNvSpPr/>
          <p:nvPr/>
        </p:nvSpPr>
        <p:spPr>
          <a:xfrm>
            <a:off x="989528" y="6781324"/>
            <a:ext cx="2211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Petrona"/>
              <a:buNone/>
            </a:pPr>
            <a:r>
              <a:rPr b="1" i="0" lang="en-US" sz="17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5</a:t>
            </a:r>
            <a:endParaRPr b="0" i="0" sz="1700" u="none" cap="none" strike="noStrike"/>
          </a:p>
        </p:txBody>
      </p:sp>
      <p:sp>
        <p:nvSpPr>
          <p:cNvPr id="1201" name="Google Shape;1201;p49"/>
          <p:cNvSpPr/>
          <p:nvPr/>
        </p:nvSpPr>
        <p:spPr>
          <a:xfrm>
            <a:off x="1494473" y="6575346"/>
            <a:ext cx="2658300" cy="2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00"/>
              <a:buFont typeface="Petrona"/>
              <a:buNone/>
            </a:pPr>
            <a:r>
              <a:rPr b="1" i="0" lang="en-US" sz="15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PSO lag penalty too aggressive</a:t>
            </a:r>
            <a:endParaRPr b="0" i="0" sz="1500" u="none" cap="none" strike="noStrike"/>
          </a:p>
        </p:txBody>
      </p:sp>
      <p:sp>
        <p:nvSpPr>
          <p:cNvPr id="1202" name="Google Shape;1202;p49"/>
          <p:cNvSpPr/>
          <p:nvPr/>
        </p:nvSpPr>
        <p:spPr>
          <a:xfrm>
            <a:off x="1494473" y="6874550"/>
            <a:ext cx="12179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b="1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Problem:</a:t>
            </a:r>
            <a:r>
              <a:rPr b="0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lag_weight=1.0 dominated RMSE term. PSO forced zero-lag at cost of noise reduction quality → higher drift.</a:t>
            </a:r>
            <a:endParaRPr b="0" i="0" sz="1150" u="none" cap="none" strike="noStrike"/>
          </a:p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b="1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Fix:</a:t>
            </a:r>
            <a:r>
              <a:rPr b="0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Reduced lag_weight: </a:t>
            </a:r>
            <a:r>
              <a:rPr b="1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1.0 → 0.3</a:t>
            </a:r>
            <a:r>
              <a:rPr b="0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. Balance smooth output AND signal responsiveness.</a:t>
            </a:r>
            <a:endParaRPr b="0" i="0" sz="1150" u="none" cap="none" strike="noStrike"/>
          </a:p>
        </p:txBody>
      </p:sp>
      <p:sp>
        <p:nvSpPr>
          <p:cNvPr id="1203" name="Google Shape;1203;p49"/>
          <p:cNvSpPr/>
          <p:nvPr/>
        </p:nvSpPr>
        <p:spPr>
          <a:xfrm>
            <a:off x="12845075" y="7780725"/>
            <a:ext cx="1680600" cy="356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37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8" name="Shape 1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9" name="Google Shape;1209;p50"/>
          <p:cNvSpPr/>
          <p:nvPr/>
        </p:nvSpPr>
        <p:spPr>
          <a:xfrm>
            <a:off x="793790" y="718423"/>
            <a:ext cx="9372000" cy="4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Petrona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Issue #1 Deep Dive — Pose Filtering Causes 21 m Drift</a:t>
            </a:r>
            <a:endParaRPr b="0" i="0" sz="3000" u="none" cap="none" strike="noStrike"/>
          </a:p>
        </p:txBody>
      </p:sp>
      <p:sp>
        <p:nvSpPr>
          <p:cNvPr id="1210" name="Google Shape;1210;p50"/>
          <p:cNvSpPr/>
          <p:nvPr/>
        </p:nvSpPr>
        <p:spPr>
          <a:xfrm>
            <a:off x="793790" y="1393746"/>
            <a:ext cx="130428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b="0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RQNN lag in filtered pose + differential mode = systematic velocity bias = unbounded drift</a:t>
            </a:r>
            <a:endParaRPr b="0" i="0" sz="1150" u="none" cap="none" strike="noStrike"/>
          </a:p>
        </p:txBody>
      </p:sp>
      <p:sp>
        <p:nvSpPr>
          <p:cNvPr id="1211" name="Google Shape;1211;p50"/>
          <p:cNvSpPr/>
          <p:nvPr/>
        </p:nvSpPr>
        <p:spPr>
          <a:xfrm>
            <a:off x="793790" y="1791772"/>
            <a:ext cx="2322000" cy="2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etrona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The Problem</a:t>
            </a:r>
            <a:endParaRPr b="0" i="0" sz="1800" u="none" cap="none" strike="noStrike"/>
          </a:p>
        </p:txBody>
      </p:sp>
      <p:sp>
        <p:nvSpPr>
          <p:cNvPr id="1212" name="Google Shape;1212;p50"/>
          <p:cNvSpPr/>
          <p:nvPr/>
        </p:nvSpPr>
        <p:spPr>
          <a:xfrm>
            <a:off x="793790" y="2177653"/>
            <a:ext cx="6073500" cy="2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b="0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EKF config: </a:t>
            </a:r>
            <a:r>
              <a:rPr b="0" i="0" lang="en-US" sz="1150" u="none" cap="none" strike="noStrike">
                <a:solidFill>
                  <a:srgbClr val="27252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odom2_differential: true</a:t>
            </a:r>
            <a:endParaRPr b="0" i="0" sz="1150" u="none" cap="none" strike="noStrike"/>
          </a:p>
        </p:txBody>
      </p:sp>
      <p:sp>
        <p:nvSpPr>
          <p:cNvPr id="1213" name="Google Shape;1213;p50"/>
          <p:cNvSpPr/>
          <p:nvPr/>
        </p:nvSpPr>
        <p:spPr>
          <a:xfrm>
            <a:off x="793790" y="2466023"/>
            <a:ext cx="6073500" cy="1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b="0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EKF computes: </a:t>
            </a:r>
            <a:r>
              <a:rPr b="0" i="1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\Delta pose_k = T(t_{k-1})^{-1} \cdot T(t_k)</a:t>
            </a:r>
            <a:endParaRPr b="0" i="0" sz="1150" u="none" cap="none" strike="noStrike"/>
          </a:p>
        </p:txBody>
      </p:sp>
      <p:sp>
        <p:nvSpPr>
          <p:cNvPr id="1214" name="Google Shape;1214;p50"/>
          <p:cNvSpPr/>
          <p:nvPr/>
        </p:nvSpPr>
        <p:spPr>
          <a:xfrm>
            <a:off x="793790" y="2747963"/>
            <a:ext cx="60735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b="0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If pose is RQNN-filtered:</a:t>
            </a:r>
            <a:endParaRPr b="0" i="0" sz="1150" u="none" cap="none" strike="noStrike"/>
          </a:p>
        </p:txBody>
      </p:sp>
      <p:sp>
        <p:nvSpPr>
          <p:cNvPr id="1215" name="Google Shape;1215;p50"/>
          <p:cNvSpPr/>
          <p:nvPr/>
        </p:nvSpPr>
        <p:spPr>
          <a:xfrm>
            <a:off x="793790" y="3028712"/>
            <a:ext cx="6073500" cy="1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b="0" i="1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\hat{y}(t) = \text{RQNN}[y(t)]</a:t>
            </a:r>
            <a:r>
              <a:rPr b="0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has temporal smoothing.</a:t>
            </a:r>
            <a:endParaRPr b="0" i="0" sz="1150" u="none" cap="none" strike="noStrike"/>
          </a:p>
        </p:txBody>
      </p:sp>
      <p:sp>
        <p:nvSpPr>
          <p:cNvPr id="1216" name="Google Shape;1216;p50"/>
          <p:cNvSpPr/>
          <p:nvPr/>
        </p:nvSpPr>
        <p:spPr>
          <a:xfrm>
            <a:off x="793790" y="3310652"/>
            <a:ext cx="60735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b="0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During acceleration:</a:t>
            </a:r>
            <a:endParaRPr b="0" i="0" sz="1150" u="none" cap="none" strike="noStrike"/>
          </a:p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b="0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y(t) increases fast, </a:t>
            </a:r>
            <a:r>
              <a:rPr b="0" i="1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\hat{y}(t)</a:t>
            </a:r>
            <a:r>
              <a:rPr b="0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lags behind.</a:t>
            </a:r>
            <a:endParaRPr b="0" i="0" sz="1150" u="none" cap="none" strike="noStrike"/>
          </a:p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b="0" i="1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\Delta\hat{y} &lt; \Delta y</a:t>
            </a:r>
            <a:r>
              <a:rPr b="0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→ EKF underestimates velocity.</a:t>
            </a:r>
            <a:endParaRPr b="0" i="0" sz="1150" u="none" cap="none" strike="noStrike"/>
          </a:p>
        </p:txBody>
      </p:sp>
      <p:sp>
        <p:nvSpPr>
          <p:cNvPr id="1217" name="Google Shape;1217;p50"/>
          <p:cNvSpPr/>
          <p:nvPr/>
        </p:nvSpPr>
        <p:spPr>
          <a:xfrm>
            <a:off x="793790" y="3982879"/>
            <a:ext cx="60735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b="0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During deceleration:</a:t>
            </a:r>
            <a:endParaRPr b="0" i="0" sz="1150" u="none" cap="none" strike="noStrike"/>
          </a:p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b="0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y(t) decreases fast, </a:t>
            </a:r>
            <a:r>
              <a:rPr b="0" i="1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\hat{y}(t)</a:t>
            </a:r>
            <a:r>
              <a:rPr b="0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still high.</a:t>
            </a:r>
            <a:endParaRPr b="0" i="0" sz="1150" u="none" cap="none" strike="noStrike"/>
          </a:p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b="0" i="1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\Delta\hat{y} &gt; \Delta y</a:t>
            </a:r>
            <a:r>
              <a:rPr b="0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→ EKF overestimates velocity.</a:t>
            </a:r>
            <a:endParaRPr b="0" i="0" sz="1150" u="none" cap="none" strike="noStrike"/>
          </a:p>
        </p:txBody>
      </p:sp>
      <p:sp>
        <p:nvSpPr>
          <p:cNvPr id="1218" name="Google Shape;1218;p50"/>
          <p:cNvSpPr/>
          <p:nvPr/>
        </p:nvSpPr>
        <p:spPr>
          <a:xfrm>
            <a:off x="793790" y="4655106"/>
            <a:ext cx="6073500" cy="5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b="0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Pattern: undercount accel, overcount decel</a:t>
            </a:r>
            <a:endParaRPr b="0" i="0" sz="1150" u="none" cap="none" strike="noStrike"/>
          </a:p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b="0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Net: NOT zero (robot turns have asymmetry).</a:t>
            </a:r>
            <a:endParaRPr b="0" i="0" sz="1150" u="none" cap="none" strike="noStrike"/>
          </a:p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b="0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Systematic bias accumulates per cycle.</a:t>
            </a:r>
            <a:endParaRPr b="0" i="0" sz="1150" u="none" cap="none" strike="noStrike"/>
          </a:p>
        </p:txBody>
      </p:sp>
      <p:sp>
        <p:nvSpPr>
          <p:cNvPr id="1219" name="Google Shape;1219;p50"/>
          <p:cNvSpPr/>
          <p:nvPr/>
        </p:nvSpPr>
        <p:spPr>
          <a:xfrm>
            <a:off x="793790" y="5324951"/>
            <a:ext cx="60735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b="0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Over 144 s run → </a:t>
            </a:r>
            <a:r>
              <a:rPr b="1" i="0" lang="en-US" sz="1150" u="none" cap="none" strike="noStrike">
                <a:solidFill>
                  <a:srgbClr val="007EBD"/>
                </a:solidFill>
                <a:latin typeface="Inter"/>
                <a:ea typeface="Inter"/>
                <a:cs typeface="Inter"/>
                <a:sym typeface="Inter"/>
              </a:rPr>
              <a:t>21 m position error</a:t>
            </a:r>
            <a:r>
              <a:rPr b="0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1150" u="none" cap="none" strike="noStrike"/>
          </a:p>
        </p:txBody>
      </p:sp>
      <p:sp>
        <p:nvSpPr>
          <p:cNvPr id="1220" name="Google Shape;1220;p50"/>
          <p:cNvSpPr/>
          <p:nvPr/>
        </p:nvSpPr>
        <p:spPr>
          <a:xfrm>
            <a:off x="7234476" y="1791772"/>
            <a:ext cx="2322000" cy="2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etrona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The Fix</a:t>
            </a:r>
            <a:endParaRPr b="0" i="0" sz="1800" u="none" cap="none" strike="noStrike"/>
          </a:p>
        </p:txBody>
      </p:sp>
      <p:sp>
        <p:nvSpPr>
          <p:cNvPr id="1221" name="Google Shape;1221;p50"/>
          <p:cNvSpPr/>
          <p:nvPr/>
        </p:nvSpPr>
        <p:spPr>
          <a:xfrm>
            <a:off x="7234476" y="2177653"/>
            <a:ext cx="66096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b="0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Filter TWIST (velocity) only. Pass pose unfiltered.</a:t>
            </a:r>
            <a:endParaRPr b="0" i="0" sz="1150" u="none" cap="none" strike="noStrike"/>
          </a:p>
        </p:txBody>
      </p:sp>
      <p:sp>
        <p:nvSpPr>
          <p:cNvPr id="1222" name="Google Shape;1222;p50"/>
          <p:cNvSpPr/>
          <p:nvPr/>
        </p:nvSpPr>
        <p:spPr>
          <a:xfrm>
            <a:off x="7234476" y="2458403"/>
            <a:ext cx="6609600" cy="2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b="0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In </a:t>
            </a:r>
            <a:r>
              <a:rPr b="0" i="0" lang="en-US" sz="1150" u="none" cap="none" strike="noStrike">
                <a:solidFill>
                  <a:srgbClr val="27252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quantum_filter_node.py</a:t>
            </a:r>
            <a:r>
              <a:rPr b="0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endParaRPr b="0" i="0" sz="1150" u="none" cap="none" strike="noStrike"/>
          </a:p>
        </p:txBody>
      </p:sp>
      <p:sp>
        <p:nvSpPr>
          <p:cNvPr id="1223" name="Google Shape;1223;p50"/>
          <p:cNvSpPr/>
          <p:nvPr/>
        </p:nvSpPr>
        <p:spPr>
          <a:xfrm>
            <a:off x="7234476" y="2768322"/>
            <a:ext cx="6609600" cy="2240400"/>
          </a:xfrm>
          <a:prstGeom prst="roundRect">
            <a:avLst>
              <a:gd fmla="val 2764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4" name="Google Shape;1224;p50"/>
          <p:cNvSpPr/>
          <p:nvPr/>
        </p:nvSpPr>
        <p:spPr>
          <a:xfrm>
            <a:off x="7227225" y="2768325"/>
            <a:ext cx="6624300" cy="2348100"/>
          </a:xfrm>
          <a:prstGeom prst="roundRect">
            <a:avLst>
              <a:gd fmla="val 98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5" name="Google Shape;1225;p50"/>
          <p:cNvSpPr/>
          <p:nvPr/>
        </p:nvSpPr>
        <p:spPr>
          <a:xfrm>
            <a:off x="7411403" y="2858172"/>
            <a:ext cx="6255900" cy="19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6A737D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# Odometry message processing</a:t>
            </a:r>
            <a:endParaRPr b="0" i="0" sz="1150" u="none" cap="none" strike="noStrike"/>
          </a:p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6A737D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msg_out.twist.twist.linear.x = (</a:t>
            </a:r>
            <a:endParaRPr b="0" i="0" sz="1150" u="none" cap="none" strike="noStrike"/>
          </a:p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6A737D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 rqnn_vx.filter(raw_vx))  # FILTERED</a:t>
            </a:r>
            <a:endParaRPr b="0" i="0" sz="1150" u="none" cap="none" strike="noStrike"/>
          </a:p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6A737D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msg_out.twist.twist.angular.z = (</a:t>
            </a:r>
            <a:endParaRPr b="0" i="0" sz="1150" u="none" cap="none" strike="noStrike"/>
          </a:p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6A737D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 rqnn_wz.filter(raw_wz))  # FILTERED</a:t>
            </a:r>
            <a:endParaRPr b="0" i="0" sz="1150" u="none" cap="none" strike="noStrike"/>
          </a:p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SzPts val="1150"/>
              <a:buFont typeface="Arial"/>
              <a:buNone/>
            </a:pPr>
            <a:r>
              <a:t/>
            </a:r>
            <a:endParaRPr b="0" i="0" sz="1150" u="none" cap="none" strike="noStrike"/>
          </a:p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6A737D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# Pose: copy raw directly</a:t>
            </a:r>
            <a:endParaRPr b="0" i="0" sz="1150" u="none" cap="none" strike="noStrike"/>
          </a:p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6A737D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msg_out.pose = msg_in.pose  # UNFILTERED</a:t>
            </a:r>
            <a:endParaRPr b="0" i="0" sz="1150" u="none" cap="none" strike="noStrike"/>
          </a:p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6A737D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# EKF differential mode uses Δpose</a:t>
            </a:r>
            <a:endParaRPr b="0" i="0" sz="1150" u="none" cap="none" strike="noStrike"/>
          </a:p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6A737D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# which is now raw Δ (no lag bias)</a:t>
            </a:r>
            <a:endParaRPr b="0" i="0" sz="1150" u="none" cap="none" strike="noStrike"/>
          </a:p>
        </p:txBody>
      </p:sp>
      <p:sp>
        <p:nvSpPr>
          <p:cNvPr id="1226" name="Google Shape;1226;p50"/>
          <p:cNvSpPr/>
          <p:nvPr/>
        </p:nvSpPr>
        <p:spPr>
          <a:xfrm>
            <a:off x="7234476" y="5150884"/>
            <a:ext cx="66096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b="0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Why twist filter still helps:</a:t>
            </a:r>
            <a:endParaRPr b="0" i="0" sz="1150" u="none" cap="none" strike="noStrike"/>
          </a:p>
        </p:txBody>
      </p:sp>
      <p:sp>
        <p:nvSpPr>
          <p:cNvPr id="1227" name="Google Shape;1227;p50"/>
          <p:cNvSpPr/>
          <p:nvPr/>
        </p:nvSpPr>
        <p:spPr>
          <a:xfrm>
            <a:off x="7234476" y="5397103"/>
            <a:ext cx="6609600" cy="5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b="0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EKF also fuses twist directly (not just Δpose).</a:t>
            </a:r>
            <a:endParaRPr b="0" i="0" sz="1150" u="none" cap="none" strike="noStrike"/>
          </a:p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b="0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Filtered vx (55% noise reduction) gives</a:t>
            </a:r>
            <a:endParaRPr b="0" i="0" sz="1150" u="none" cap="none" strike="noStrike"/>
          </a:p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b="0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EKF cleaner velocity measurements.</a:t>
            </a:r>
            <a:endParaRPr b="0" i="0" sz="1150" u="none" cap="none" strike="noStrike"/>
          </a:p>
        </p:txBody>
      </p:sp>
      <p:sp>
        <p:nvSpPr>
          <p:cNvPr id="1228" name="Google Shape;1228;p50"/>
          <p:cNvSpPr/>
          <p:nvPr/>
        </p:nvSpPr>
        <p:spPr>
          <a:xfrm>
            <a:off x="793790" y="6174700"/>
            <a:ext cx="13042800" cy="1336500"/>
          </a:xfrm>
          <a:prstGeom prst="roundRect">
            <a:avLst>
              <a:gd fmla="val 4634" name="adj"/>
            </a:avLst>
          </a:prstGeom>
          <a:noFill/>
          <a:ln cap="flat" cmpd="sng" w="9525">
            <a:solidFill>
              <a:srgbClr val="000000">
                <a:alpha val="784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9" name="Google Shape;1229;p50"/>
          <p:cNvSpPr/>
          <p:nvPr/>
        </p:nvSpPr>
        <p:spPr>
          <a:xfrm>
            <a:off x="948928" y="6247328"/>
            <a:ext cx="62151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b="1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Config</a:t>
            </a:r>
            <a:endParaRPr b="0" i="0" sz="1150" u="none" cap="none" strike="noStrike"/>
          </a:p>
        </p:txBody>
      </p:sp>
      <p:sp>
        <p:nvSpPr>
          <p:cNvPr id="1230" name="Google Shape;1230;p50"/>
          <p:cNvSpPr/>
          <p:nvPr/>
        </p:nvSpPr>
        <p:spPr>
          <a:xfrm>
            <a:off x="7466528" y="6247328"/>
            <a:ext cx="29544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b="1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Final Drift</a:t>
            </a:r>
            <a:endParaRPr b="0" i="0" sz="1150" u="none" cap="none" strike="noStrike"/>
          </a:p>
        </p:txBody>
      </p:sp>
      <p:sp>
        <p:nvSpPr>
          <p:cNvPr id="1231" name="Google Shape;1231;p50"/>
          <p:cNvSpPr/>
          <p:nvPr/>
        </p:nvSpPr>
        <p:spPr>
          <a:xfrm>
            <a:off x="10723364" y="6247328"/>
            <a:ext cx="29583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b="1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Max Drift</a:t>
            </a:r>
            <a:endParaRPr b="0" i="0" sz="1150" u="none" cap="none" strike="noStrike"/>
          </a:p>
        </p:txBody>
      </p:sp>
      <p:sp>
        <p:nvSpPr>
          <p:cNvPr id="1232" name="Google Shape;1232;p50"/>
          <p:cNvSpPr/>
          <p:nvPr/>
        </p:nvSpPr>
        <p:spPr>
          <a:xfrm>
            <a:off x="948928" y="6579513"/>
            <a:ext cx="62151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b="0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Pose + Twist filtered</a:t>
            </a:r>
            <a:endParaRPr b="0" i="0" sz="1150" u="none" cap="none" strike="noStrike"/>
          </a:p>
        </p:txBody>
      </p:sp>
      <p:sp>
        <p:nvSpPr>
          <p:cNvPr id="1233" name="Google Shape;1233;p50"/>
          <p:cNvSpPr/>
          <p:nvPr/>
        </p:nvSpPr>
        <p:spPr>
          <a:xfrm>
            <a:off x="7466528" y="6579513"/>
            <a:ext cx="29544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b="0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21.3 m</a:t>
            </a:r>
            <a:endParaRPr b="0" i="0" sz="1150" u="none" cap="none" strike="noStrike"/>
          </a:p>
        </p:txBody>
      </p:sp>
      <p:sp>
        <p:nvSpPr>
          <p:cNvPr id="1234" name="Google Shape;1234;p50"/>
          <p:cNvSpPr/>
          <p:nvPr/>
        </p:nvSpPr>
        <p:spPr>
          <a:xfrm>
            <a:off x="10723364" y="6579513"/>
            <a:ext cx="29583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b="0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21.3 m</a:t>
            </a:r>
            <a:endParaRPr b="0" i="0" sz="1150" u="none" cap="none" strike="noStrike"/>
          </a:p>
        </p:txBody>
      </p:sp>
      <p:sp>
        <p:nvSpPr>
          <p:cNvPr id="1235" name="Google Shape;1235;p50"/>
          <p:cNvSpPr/>
          <p:nvPr/>
        </p:nvSpPr>
        <p:spPr>
          <a:xfrm>
            <a:off x="948928" y="6911697"/>
            <a:ext cx="62151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b="0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Twist only filtered</a:t>
            </a:r>
            <a:endParaRPr b="0" i="0" sz="1150" u="none" cap="none" strike="noStrike"/>
          </a:p>
        </p:txBody>
      </p:sp>
      <p:sp>
        <p:nvSpPr>
          <p:cNvPr id="1236" name="Google Shape;1236;p50"/>
          <p:cNvSpPr/>
          <p:nvPr/>
        </p:nvSpPr>
        <p:spPr>
          <a:xfrm>
            <a:off x="7466528" y="6911697"/>
            <a:ext cx="29544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b="0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0.47 m</a:t>
            </a:r>
            <a:endParaRPr b="0" i="0" sz="1150" u="none" cap="none" strike="noStrike"/>
          </a:p>
        </p:txBody>
      </p:sp>
      <p:sp>
        <p:nvSpPr>
          <p:cNvPr id="1237" name="Google Shape;1237;p50"/>
          <p:cNvSpPr/>
          <p:nvPr/>
        </p:nvSpPr>
        <p:spPr>
          <a:xfrm>
            <a:off x="10723364" y="6911697"/>
            <a:ext cx="29583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b="0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2.96 m</a:t>
            </a:r>
            <a:endParaRPr b="0" i="0" sz="1150" u="none" cap="none" strike="noStrike"/>
          </a:p>
        </p:txBody>
      </p:sp>
      <p:sp>
        <p:nvSpPr>
          <p:cNvPr id="1238" name="Google Shape;1238;p50"/>
          <p:cNvSpPr/>
          <p:nvPr/>
        </p:nvSpPr>
        <p:spPr>
          <a:xfrm>
            <a:off x="948928" y="7243882"/>
            <a:ext cx="62151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b="0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QF-EKF (tuned)</a:t>
            </a:r>
            <a:endParaRPr b="0" i="0" sz="1150" u="none" cap="none" strike="noStrike"/>
          </a:p>
        </p:txBody>
      </p:sp>
      <p:sp>
        <p:nvSpPr>
          <p:cNvPr id="1239" name="Google Shape;1239;p50"/>
          <p:cNvSpPr/>
          <p:nvPr/>
        </p:nvSpPr>
        <p:spPr>
          <a:xfrm>
            <a:off x="7466528" y="7243882"/>
            <a:ext cx="29544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b="0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0.47 m</a:t>
            </a:r>
            <a:endParaRPr b="0" i="0" sz="1150" u="none" cap="none" strike="noStrike"/>
          </a:p>
        </p:txBody>
      </p:sp>
      <p:sp>
        <p:nvSpPr>
          <p:cNvPr id="1240" name="Google Shape;1240;p50"/>
          <p:cNvSpPr/>
          <p:nvPr/>
        </p:nvSpPr>
        <p:spPr>
          <a:xfrm>
            <a:off x="10723364" y="7243882"/>
            <a:ext cx="29583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b="0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2.96 m</a:t>
            </a:r>
            <a:endParaRPr b="0" i="0" sz="1150" u="none" cap="none" strike="noStrike"/>
          </a:p>
        </p:txBody>
      </p:sp>
      <p:sp>
        <p:nvSpPr>
          <p:cNvPr id="1241" name="Google Shape;1241;p50"/>
          <p:cNvSpPr/>
          <p:nvPr/>
        </p:nvSpPr>
        <p:spPr>
          <a:xfrm>
            <a:off x="12845075" y="7780725"/>
            <a:ext cx="1680600" cy="356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38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6" name="Shape 1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7" name="Google Shape;1247;p51"/>
          <p:cNvSpPr/>
          <p:nvPr/>
        </p:nvSpPr>
        <p:spPr>
          <a:xfrm>
            <a:off x="793790" y="974050"/>
            <a:ext cx="10474200" cy="5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2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etrona"/>
              <a:buNone/>
            </a:pPr>
            <a:r>
              <a:rPr b="1" i="0" lang="en-US" sz="350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Sampling Rate Drops — Live Test vs. Expected Rates</a:t>
            </a:r>
            <a:endParaRPr b="0" i="0" sz="3500" u="none" cap="none" strike="noStrike"/>
          </a:p>
        </p:txBody>
      </p:sp>
      <p:sp>
        <p:nvSpPr>
          <p:cNvPr id="1248" name="Google Shape;1248;p51"/>
          <p:cNvSpPr/>
          <p:nvPr/>
        </p:nvSpPr>
        <p:spPr>
          <a:xfrm>
            <a:off x="793790" y="1787366"/>
            <a:ext cx="130428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1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Bag: moving_bot_live_test_20260420_235133 | Duration: 144 s | Platform: Gazebo Ignition + ROS2 Humble on x86 laptop</a:t>
            </a:r>
            <a:endParaRPr b="0" i="0" sz="1300" u="none" cap="none" strike="noStrike"/>
          </a:p>
        </p:txBody>
      </p:sp>
      <p:sp>
        <p:nvSpPr>
          <p:cNvPr id="1249" name="Google Shape;1249;p51"/>
          <p:cNvSpPr/>
          <p:nvPr/>
        </p:nvSpPr>
        <p:spPr>
          <a:xfrm>
            <a:off x="793790" y="2168962"/>
            <a:ext cx="13042800" cy="3318600"/>
          </a:xfrm>
          <a:prstGeom prst="roundRect">
            <a:avLst>
              <a:gd fmla="val 2153" name="adj"/>
            </a:avLst>
          </a:prstGeom>
          <a:noFill/>
          <a:ln cap="flat" cmpd="sng" w="9525">
            <a:solidFill>
              <a:srgbClr val="000000">
                <a:alpha val="784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0" name="Google Shape;1250;p51"/>
          <p:cNvSpPr/>
          <p:nvPr/>
        </p:nvSpPr>
        <p:spPr>
          <a:xfrm>
            <a:off x="801410" y="2176582"/>
            <a:ext cx="13027500" cy="406200"/>
          </a:xfrm>
          <a:prstGeom prst="rect">
            <a:avLst/>
          </a:prstGeom>
          <a:solidFill>
            <a:srgbClr val="FFFFFF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1" name="Google Shape;1251;p51"/>
          <p:cNvSpPr/>
          <p:nvPr/>
        </p:nvSpPr>
        <p:spPr>
          <a:xfrm>
            <a:off x="972026" y="2260640"/>
            <a:ext cx="16989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Sensor</a:t>
            </a:r>
            <a:endParaRPr b="0" i="0" sz="1300" u="none" cap="none" strike="noStrike"/>
          </a:p>
        </p:txBody>
      </p:sp>
      <p:sp>
        <p:nvSpPr>
          <p:cNvPr id="1252" name="Google Shape;1252;p51"/>
          <p:cNvSpPr/>
          <p:nvPr/>
        </p:nvSpPr>
        <p:spPr>
          <a:xfrm>
            <a:off x="3018473" y="2260640"/>
            <a:ext cx="10461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Expected</a:t>
            </a:r>
            <a:endParaRPr b="0" i="0" sz="1300" u="none" cap="none" strike="noStrike"/>
          </a:p>
        </p:txBody>
      </p:sp>
      <p:sp>
        <p:nvSpPr>
          <p:cNvPr id="1253" name="Google Shape;1253;p51"/>
          <p:cNvSpPr/>
          <p:nvPr/>
        </p:nvSpPr>
        <p:spPr>
          <a:xfrm>
            <a:off x="4412337" y="2260640"/>
            <a:ext cx="10461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Actual</a:t>
            </a:r>
            <a:endParaRPr b="0" i="0" sz="1300" u="none" cap="none" strike="noStrike"/>
          </a:p>
        </p:txBody>
      </p:sp>
      <p:sp>
        <p:nvSpPr>
          <p:cNvPr id="1254" name="Google Shape;1254;p51"/>
          <p:cNvSpPr/>
          <p:nvPr/>
        </p:nvSpPr>
        <p:spPr>
          <a:xfrm>
            <a:off x="5806202" y="2260640"/>
            <a:ext cx="10005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Messages</a:t>
            </a:r>
            <a:endParaRPr b="0" i="0" sz="1300" u="none" cap="none" strike="noStrike"/>
          </a:p>
        </p:txBody>
      </p:sp>
      <p:sp>
        <p:nvSpPr>
          <p:cNvPr id="1255" name="Google Shape;1255;p51"/>
          <p:cNvSpPr/>
          <p:nvPr/>
        </p:nvSpPr>
        <p:spPr>
          <a:xfrm>
            <a:off x="7154466" y="2260640"/>
            <a:ext cx="12051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dt (ms)</a:t>
            </a:r>
            <a:endParaRPr b="0" i="0" sz="1300" u="none" cap="none" strike="noStrike"/>
          </a:p>
        </p:txBody>
      </p:sp>
      <p:sp>
        <p:nvSpPr>
          <p:cNvPr id="1256" name="Google Shape;1256;p51"/>
          <p:cNvSpPr/>
          <p:nvPr/>
        </p:nvSpPr>
        <p:spPr>
          <a:xfrm>
            <a:off x="8707279" y="2260640"/>
            <a:ext cx="9549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Drop %</a:t>
            </a:r>
            <a:endParaRPr b="0" i="0" sz="1300" u="none" cap="none" strike="noStrike"/>
          </a:p>
        </p:txBody>
      </p:sp>
      <p:sp>
        <p:nvSpPr>
          <p:cNvPr id="1257" name="Google Shape;1257;p51"/>
          <p:cNvSpPr/>
          <p:nvPr/>
        </p:nvSpPr>
        <p:spPr>
          <a:xfrm>
            <a:off x="10009942" y="2260640"/>
            <a:ext cx="36489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Impact</a:t>
            </a:r>
            <a:endParaRPr b="0" i="0" sz="1300" u="none" cap="none" strike="noStrike"/>
          </a:p>
        </p:txBody>
      </p:sp>
      <p:sp>
        <p:nvSpPr>
          <p:cNvPr id="1258" name="Google Shape;1258;p51"/>
          <p:cNvSpPr/>
          <p:nvPr/>
        </p:nvSpPr>
        <p:spPr>
          <a:xfrm>
            <a:off x="801410" y="2582823"/>
            <a:ext cx="13027500" cy="414000"/>
          </a:xfrm>
          <a:prstGeom prst="rect">
            <a:avLst/>
          </a:prstGeom>
          <a:solidFill>
            <a:srgbClr val="000000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9" name="Google Shape;1259;p51"/>
          <p:cNvSpPr/>
          <p:nvPr/>
        </p:nvSpPr>
        <p:spPr>
          <a:xfrm>
            <a:off x="972026" y="2666881"/>
            <a:ext cx="16989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IMU (9-DOF)</a:t>
            </a:r>
            <a:endParaRPr b="0" i="0" sz="1300" u="none" cap="none" strike="noStrike"/>
          </a:p>
        </p:txBody>
      </p:sp>
      <p:sp>
        <p:nvSpPr>
          <p:cNvPr id="1260" name="Google Shape;1260;p51"/>
          <p:cNvSpPr/>
          <p:nvPr/>
        </p:nvSpPr>
        <p:spPr>
          <a:xfrm>
            <a:off x="3018473" y="2666881"/>
            <a:ext cx="10461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150 Hz</a:t>
            </a:r>
            <a:endParaRPr b="0" i="0" sz="1300" u="none" cap="none" strike="noStrike"/>
          </a:p>
        </p:txBody>
      </p:sp>
      <p:sp>
        <p:nvSpPr>
          <p:cNvPr id="1261" name="Google Shape;1261;p51"/>
          <p:cNvSpPr/>
          <p:nvPr/>
        </p:nvSpPr>
        <p:spPr>
          <a:xfrm>
            <a:off x="4412337" y="2666881"/>
            <a:ext cx="10461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73.6 Hz</a:t>
            </a:r>
            <a:endParaRPr b="0" i="0" sz="1300" u="none" cap="none" strike="noStrike"/>
          </a:p>
        </p:txBody>
      </p:sp>
      <p:sp>
        <p:nvSpPr>
          <p:cNvPr id="1262" name="Google Shape;1262;p51"/>
          <p:cNvSpPr/>
          <p:nvPr/>
        </p:nvSpPr>
        <p:spPr>
          <a:xfrm>
            <a:off x="5806202" y="2666881"/>
            <a:ext cx="10005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10,601</a:t>
            </a:r>
            <a:endParaRPr b="0" i="0" sz="1300" u="none" cap="none" strike="noStrike"/>
          </a:p>
        </p:txBody>
      </p:sp>
      <p:sp>
        <p:nvSpPr>
          <p:cNvPr id="1263" name="Google Shape;1263;p51"/>
          <p:cNvSpPr/>
          <p:nvPr/>
        </p:nvSpPr>
        <p:spPr>
          <a:xfrm>
            <a:off x="7154466" y="2666881"/>
            <a:ext cx="12051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9.7 ms</a:t>
            </a:r>
            <a:endParaRPr b="0" i="0" sz="1300" u="none" cap="none" strike="noStrike"/>
          </a:p>
        </p:txBody>
      </p:sp>
      <p:sp>
        <p:nvSpPr>
          <p:cNvPr id="1264" name="Google Shape;1264;p51"/>
          <p:cNvSpPr/>
          <p:nvPr/>
        </p:nvSpPr>
        <p:spPr>
          <a:xfrm>
            <a:off x="8707279" y="2666881"/>
            <a:ext cx="9549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51% </a:t>
            </a:r>
            <a:r>
              <a:rPr b="0" i="0" lang="en-US" sz="13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🟡</a:t>
            </a:r>
            <a:endParaRPr b="0" i="0" sz="1300" u="none" cap="none" strike="noStrike"/>
          </a:p>
        </p:txBody>
      </p:sp>
      <p:sp>
        <p:nvSpPr>
          <p:cNvPr id="1265" name="Google Shape;1265;p51"/>
          <p:cNvSpPr/>
          <p:nvPr/>
        </p:nvSpPr>
        <p:spPr>
          <a:xfrm>
            <a:off x="10009942" y="2666881"/>
            <a:ext cx="36489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Reduced angular velocity resolution</a:t>
            </a:r>
            <a:endParaRPr b="0" i="0" sz="1300" u="none" cap="none" strike="noStrike"/>
          </a:p>
        </p:txBody>
      </p:sp>
      <p:sp>
        <p:nvSpPr>
          <p:cNvPr id="1266" name="Google Shape;1266;p51"/>
          <p:cNvSpPr/>
          <p:nvPr/>
        </p:nvSpPr>
        <p:spPr>
          <a:xfrm>
            <a:off x="801410" y="2996684"/>
            <a:ext cx="13027500" cy="414000"/>
          </a:xfrm>
          <a:prstGeom prst="rect">
            <a:avLst/>
          </a:prstGeom>
          <a:solidFill>
            <a:srgbClr val="FFFFFF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7" name="Google Shape;1267;p51"/>
          <p:cNvSpPr/>
          <p:nvPr/>
        </p:nvSpPr>
        <p:spPr>
          <a:xfrm>
            <a:off x="972026" y="3080742"/>
            <a:ext cx="16989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Wheel Odometry</a:t>
            </a:r>
            <a:endParaRPr b="0" i="0" sz="1300" u="none" cap="none" strike="noStrike"/>
          </a:p>
        </p:txBody>
      </p:sp>
      <p:sp>
        <p:nvSpPr>
          <p:cNvPr id="1268" name="Google Shape;1268;p51"/>
          <p:cNvSpPr/>
          <p:nvPr/>
        </p:nvSpPr>
        <p:spPr>
          <a:xfrm>
            <a:off x="3018473" y="3080742"/>
            <a:ext cx="10461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~38 Hz</a:t>
            </a:r>
            <a:endParaRPr b="0" i="0" sz="1300" u="none" cap="none" strike="noStrike"/>
          </a:p>
        </p:txBody>
      </p:sp>
      <p:sp>
        <p:nvSpPr>
          <p:cNvPr id="1269" name="Google Shape;1269;p51"/>
          <p:cNvSpPr/>
          <p:nvPr/>
        </p:nvSpPr>
        <p:spPr>
          <a:xfrm>
            <a:off x="4412337" y="3080742"/>
            <a:ext cx="10461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18.3 Hz</a:t>
            </a:r>
            <a:endParaRPr b="0" i="0" sz="1300" u="none" cap="none" strike="noStrike"/>
          </a:p>
        </p:txBody>
      </p:sp>
      <p:sp>
        <p:nvSpPr>
          <p:cNvPr id="1270" name="Google Shape;1270;p51"/>
          <p:cNvSpPr/>
          <p:nvPr/>
        </p:nvSpPr>
        <p:spPr>
          <a:xfrm>
            <a:off x="5806202" y="3080742"/>
            <a:ext cx="10005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2,515</a:t>
            </a:r>
            <a:endParaRPr b="0" i="0" sz="1300" u="none" cap="none" strike="noStrike"/>
          </a:p>
        </p:txBody>
      </p:sp>
      <p:sp>
        <p:nvSpPr>
          <p:cNvPr id="1271" name="Google Shape;1271;p51"/>
          <p:cNvSpPr/>
          <p:nvPr/>
        </p:nvSpPr>
        <p:spPr>
          <a:xfrm>
            <a:off x="7154466" y="3080742"/>
            <a:ext cx="12051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38.9 ms</a:t>
            </a:r>
            <a:endParaRPr b="0" i="0" sz="1300" u="none" cap="none" strike="noStrike"/>
          </a:p>
        </p:txBody>
      </p:sp>
      <p:sp>
        <p:nvSpPr>
          <p:cNvPr id="1272" name="Google Shape;1272;p51"/>
          <p:cNvSpPr/>
          <p:nvPr/>
        </p:nvSpPr>
        <p:spPr>
          <a:xfrm>
            <a:off x="8707279" y="3080742"/>
            <a:ext cx="9549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52% </a:t>
            </a:r>
            <a:r>
              <a:rPr b="0" i="0" lang="en-US" sz="13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🟡</a:t>
            </a:r>
            <a:endParaRPr b="0" i="0" sz="1300" u="none" cap="none" strike="noStrike"/>
          </a:p>
        </p:txBody>
      </p:sp>
      <p:sp>
        <p:nvSpPr>
          <p:cNvPr id="1273" name="Google Shape;1273;p51"/>
          <p:cNvSpPr/>
          <p:nvPr/>
        </p:nvSpPr>
        <p:spPr>
          <a:xfrm>
            <a:off x="10009942" y="3080742"/>
            <a:ext cx="36489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Coarser velocity updates to EKF</a:t>
            </a:r>
            <a:endParaRPr b="0" i="0" sz="1300" u="none" cap="none" strike="noStrike"/>
          </a:p>
        </p:txBody>
      </p:sp>
      <p:sp>
        <p:nvSpPr>
          <p:cNvPr id="1274" name="Google Shape;1274;p51"/>
          <p:cNvSpPr/>
          <p:nvPr/>
        </p:nvSpPr>
        <p:spPr>
          <a:xfrm>
            <a:off x="801410" y="3410545"/>
            <a:ext cx="13027500" cy="414000"/>
          </a:xfrm>
          <a:prstGeom prst="rect">
            <a:avLst/>
          </a:prstGeom>
          <a:solidFill>
            <a:srgbClr val="000000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5" name="Google Shape;1275;p51"/>
          <p:cNvSpPr/>
          <p:nvPr/>
        </p:nvSpPr>
        <p:spPr>
          <a:xfrm>
            <a:off x="972026" y="3494603"/>
            <a:ext cx="16989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Visual Odom (RTAB)</a:t>
            </a:r>
            <a:endParaRPr b="0" i="0" sz="1300" u="none" cap="none" strike="noStrike"/>
          </a:p>
        </p:txBody>
      </p:sp>
      <p:sp>
        <p:nvSpPr>
          <p:cNvPr id="1276" name="Google Shape;1276;p51"/>
          <p:cNvSpPr/>
          <p:nvPr/>
        </p:nvSpPr>
        <p:spPr>
          <a:xfrm>
            <a:off x="3018473" y="3494603"/>
            <a:ext cx="10461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~14 Hz</a:t>
            </a:r>
            <a:endParaRPr b="0" i="0" sz="1300" u="none" cap="none" strike="noStrike"/>
          </a:p>
        </p:txBody>
      </p:sp>
      <p:sp>
        <p:nvSpPr>
          <p:cNvPr id="1277" name="Google Shape;1277;p51"/>
          <p:cNvSpPr/>
          <p:nvPr/>
        </p:nvSpPr>
        <p:spPr>
          <a:xfrm>
            <a:off x="4412337" y="3494603"/>
            <a:ext cx="10461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0.5 Hz</a:t>
            </a:r>
            <a:endParaRPr b="0" i="0" sz="1300" u="none" cap="none" strike="noStrike"/>
          </a:p>
        </p:txBody>
      </p:sp>
      <p:sp>
        <p:nvSpPr>
          <p:cNvPr id="1278" name="Google Shape;1278;p51"/>
          <p:cNvSpPr/>
          <p:nvPr/>
        </p:nvSpPr>
        <p:spPr>
          <a:xfrm>
            <a:off x="5806202" y="3494603"/>
            <a:ext cx="10005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72</a:t>
            </a:r>
            <a:endParaRPr b="0" i="0" sz="1300" u="none" cap="none" strike="noStrike"/>
          </a:p>
        </p:txBody>
      </p:sp>
      <p:sp>
        <p:nvSpPr>
          <p:cNvPr id="1279" name="Google Shape;1279;p51"/>
          <p:cNvSpPr/>
          <p:nvPr/>
        </p:nvSpPr>
        <p:spPr>
          <a:xfrm>
            <a:off x="7154466" y="3494603"/>
            <a:ext cx="12051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117.9 ms</a:t>
            </a:r>
            <a:endParaRPr b="0" i="0" sz="1300" u="none" cap="none" strike="noStrike"/>
          </a:p>
        </p:txBody>
      </p:sp>
      <p:sp>
        <p:nvSpPr>
          <p:cNvPr id="1280" name="Google Shape;1280;p51"/>
          <p:cNvSpPr/>
          <p:nvPr/>
        </p:nvSpPr>
        <p:spPr>
          <a:xfrm>
            <a:off x="8707279" y="3494603"/>
            <a:ext cx="9549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96% </a:t>
            </a:r>
            <a:r>
              <a:rPr b="0" i="0" lang="en-US" sz="13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🔴</a:t>
            </a:r>
            <a:endParaRPr b="0" i="0" sz="1300" u="none" cap="none" strike="noStrike"/>
          </a:p>
        </p:txBody>
      </p:sp>
      <p:sp>
        <p:nvSpPr>
          <p:cNvPr id="1281" name="Google Shape;1281;p51"/>
          <p:cNvSpPr/>
          <p:nvPr/>
        </p:nvSpPr>
        <p:spPr>
          <a:xfrm>
            <a:off x="10009942" y="3494603"/>
            <a:ext cx="36489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Almost unusable — high CPU contention</a:t>
            </a:r>
            <a:endParaRPr b="0" i="0" sz="1300" u="none" cap="none" strike="noStrike"/>
          </a:p>
        </p:txBody>
      </p:sp>
      <p:sp>
        <p:nvSpPr>
          <p:cNvPr id="1282" name="Google Shape;1282;p51"/>
          <p:cNvSpPr/>
          <p:nvPr/>
        </p:nvSpPr>
        <p:spPr>
          <a:xfrm>
            <a:off x="801410" y="3824407"/>
            <a:ext cx="13027500" cy="414000"/>
          </a:xfrm>
          <a:prstGeom prst="rect">
            <a:avLst/>
          </a:prstGeom>
          <a:solidFill>
            <a:srgbClr val="FFFFFF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3" name="Google Shape;1283;p51"/>
          <p:cNvSpPr/>
          <p:nvPr/>
        </p:nvSpPr>
        <p:spPr>
          <a:xfrm>
            <a:off x="972026" y="3908465"/>
            <a:ext cx="16989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LiDAR Odom (FAST)</a:t>
            </a:r>
            <a:endParaRPr b="0" i="0" sz="1300" u="none" cap="none" strike="noStrike"/>
          </a:p>
        </p:txBody>
      </p:sp>
      <p:sp>
        <p:nvSpPr>
          <p:cNvPr id="1284" name="Google Shape;1284;p51"/>
          <p:cNvSpPr/>
          <p:nvPr/>
        </p:nvSpPr>
        <p:spPr>
          <a:xfrm>
            <a:off x="3018473" y="3908465"/>
            <a:ext cx="10461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~4 Hz</a:t>
            </a:r>
            <a:endParaRPr b="0" i="0" sz="1300" u="none" cap="none" strike="noStrike"/>
          </a:p>
        </p:txBody>
      </p:sp>
      <p:sp>
        <p:nvSpPr>
          <p:cNvPr id="1285" name="Google Shape;1285;p51"/>
          <p:cNvSpPr/>
          <p:nvPr/>
        </p:nvSpPr>
        <p:spPr>
          <a:xfrm>
            <a:off x="4412337" y="3908465"/>
            <a:ext cx="10461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1.8 Hz</a:t>
            </a:r>
            <a:endParaRPr b="0" i="0" sz="1300" u="none" cap="none" strike="noStrike"/>
          </a:p>
        </p:txBody>
      </p:sp>
      <p:sp>
        <p:nvSpPr>
          <p:cNvPr id="1286" name="Google Shape;1286;p51"/>
          <p:cNvSpPr/>
          <p:nvPr/>
        </p:nvSpPr>
        <p:spPr>
          <a:xfrm>
            <a:off x="5806202" y="3908465"/>
            <a:ext cx="10005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265</a:t>
            </a:r>
            <a:endParaRPr b="0" i="0" sz="1300" u="none" cap="none" strike="noStrike"/>
          </a:p>
        </p:txBody>
      </p:sp>
      <p:sp>
        <p:nvSpPr>
          <p:cNvPr id="1287" name="Google Shape;1287;p51"/>
          <p:cNvSpPr/>
          <p:nvPr/>
        </p:nvSpPr>
        <p:spPr>
          <a:xfrm>
            <a:off x="7154466" y="3908465"/>
            <a:ext cx="12051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389.0 ms</a:t>
            </a:r>
            <a:endParaRPr b="0" i="0" sz="1300" u="none" cap="none" strike="noStrike"/>
          </a:p>
        </p:txBody>
      </p:sp>
      <p:sp>
        <p:nvSpPr>
          <p:cNvPr id="1288" name="Google Shape;1288;p51"/>
          <p:cNvSpPr/>
          <p:nvPr/>
        </p:nvSpPr>
        <p:spPr>
          <a:xfrm>
            <a:off x="8707279" y="3908465"/>
            <a:ext cx="9549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55% </a:t>
            </a:r>
            <a:r>
              <a:rPr b="0" i="0" lang="en-US" sz="13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🟡</a:t>
            </a:r>
            <a:endParaRPr b="0" i="0" sz="1300" u="none" cap="none" strike="noStrike"/>
          </a:p>
        </p:txBody>
      </p:sp>
      <p:sp>
        <p:nvSpPr>
          <p:cNvPr id="1289" name="Google Shape;1289;p51"/>
          <p:cNvSpPr/>
          <p:nvPr/>
        </p:nvSpPr>
        <p:spPr>
          <a:xfrm>
            <a:off x="10009942" y="3908465"/>
            <a:ext cx="36489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Scan matching falls behind</a:t>
            </a:r>
            <a:endParaRPr b="0" i="0" sz="1300" u="none" cap="none" strike="noStrike"/>
          </a:p>
        </p:txBody>
      </p:sp>
      <p:sp>
        <p:nvSpPr>
          <p:cNvPr id="1290" name="Google Shape;1290;p51"/>
          <p:cNvSpPr/>
          <p:nvPr/>
        </p:nvSpPr>
        <p:spPr>
          <a:xfrm>
            <a:off x="801410" y="4238268"/>
            <a:ext cx="13027500" cy="414000"/>
          </a:xfrm>
          <a:prstGeom prst="rect">
            <a:avLst/>
          </a:prstGeom>
          <a:solidFill>
            <a:srgbClr val="000000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1" name="Google Shape;1291;p51"/>
          <p:cNvSpPr/>
          <p:nvPr/>
        </p:nvSpPr>
        <p:spPr>
          <a:xfrm>
            <a:off x="972026" y="4322326"/>
            <a:ext cx="16989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GPS (NavSat)</a:t>
            </a:r>
            <a:endParaRPr b="0" i="0" sz="1300" u="none" cap="none" strike="noStrike"/>
          </a:p>
        </p:txBody>
      </p:sp>
      <p:sp>
        <p:nvSpPr>
          <p:cNvPr id="1292" name="Google Shape;1292;p51"/>
          <p:cNvSpPr/>
          <p:nvPr/>
        </p:nvSpPr>
        <p:spPr>
          <a:xfrm>
            <a:off x="3018473" y="4322326"/>
            <a:ext cx="10461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10 Hz</a:t>
            </a:r>
            <a:endParaRPr b="0" i="0" sz="1300" u="none" cap="none" strike="noStrike"/>
          </a:p>
        </p:txBody>
      </p:sp>
      <p:sp>
        <p:nvSpPr>
          <p:cNvPr id="1293" name="Google Shape;1293;p51"/>
          <p:cNvSpPr/>
          <p:nvPr/>
        </p:nvSpPr>
        <p:spPr>
          <a:xfrm>
            <a:off x="4412337" y="4322326"/>
            <a:ext cx="10461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3.7 Hz</a:t>
            </a:r>
            <a:endParaRPr b="0" i="0" sz="1300" u="none" cap="none" strike="noStrike"/>
          </a:p>
        </p:txBody>
      </p:sp>
      <p:sp>
        <p:nvSpPr>
          <p:cNvPr id="1294" name="Google Shape;1294;p51"/>
          <p:cNvSpPr/>
          <p:nvPr/>
        </p:nvSpPr>
        <p:spPr>
          <a:xfrm>
            <a:off x="5806202" y="4322326"/>
            <a:ext cx="10005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530</a:t>
            </a:r>
            <a:endParaRPr b="0" i="0" sz="1300" u="none" cap="none" strike="noStrike"/>
          </a:p>
        </p:txBody>
      </p:sp>
      <p:sp>
        <p:nvSpPr>
          <p:cNvPr id="1295" name="Google Shape;1295;p51"/>
          <p:cNvSpPr/>
          <p:nvPr/>
        </p:nvSpPr>
        <p:spPr>
          <a:xfrm>
            <a:off x="7154466" y="4322326"/>
            <a:ext cx="12051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194.2 ms</a:t>
            </a:r>
            <a:endParaRPr b="0" i="0" sz="1300" u="none" cap="none" strike="noStrike"/>
          </a:p>
        </p:txBody>
      </p:sp>
      <p:sp>
        <p:nvSpPr>
          <p:cNvPr id="1296" name="Google Shape;1296;p51"/>
          <p:cNvSpPr/>
          <p:nvPr/>
        </p:nvSpPr>
        <p:spPr>
          <a:xfrm>
            <a:off x="8707279" y="4322326"/>
            <a:ext cx="9549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63% </a:t>
            </a:r>
            <a:r>
              <a:rPr b="0" i="0" lang="en-US" sz="13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🔴</a:t>
            </a:r>
            <a:endParaRPr b="0" i="0" sz="1300" u="none" cap="none" strike="noStrike"/>
          </a:p>
        </p:txBody>
      </p:sp>
      <p:sp>
        <p:nvSpPr>
          <p:cNvPr id="1297" name="Google Shape;1297;p51"/>
          <p:cNvSpPr/>
          <p:nvPr/>
        </p:nvSpPr>
        <p:spPr>
          <a:xfrm>
            <a:off x="10009942" y="4322326"/>
            <a:ext cx="36489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GPS correction infrequent</a:t>
            </a:r>
            <a:endParaRPr b="0" i="0" sz="1300" u="none" cap="none" strike="noStrike"/>
          </a:p>
        </p:txBody>
      </p:sp>
      <p:sp>
        <p:nvSpPr>
          <p:cNvPr id="1298" name="Google Shape;1298;p51"/>
          <p:cNvSpPr/>
          <p:nvPr/>
        </p:nvSpPr>
        <p:spPr>
          <a:xfrm>
            <a:off x="801410" y="4652129"/>
            <a:ext cx="13027500" cy="414000"/>
          </a:xfrm>
          <a:prstGeom prst="rect">
            <a:avLst/>
          </a:prstGeom>
          <a:solidFill>
            <a:srgbClr val="FFFFFF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9" name="Google Shape;1299;p51"/>
          <p:cNvSpPr/>
          <p:nvPr/>
        </p:nvSpPr>
        <p:spPr>
          <a:xfrm>
            <a:off x="972026" y="4736187"/>
            <a:ext cx="16989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EKF Local Output</a:t>
            </a:r>
            <a:endParaRPr b="0" i="0" sz="1300" u="none" cap="none" strike="noStrike"/>
          </a:p>
        </p:txBody>
      </p:sp>
      <p:sp>
        <p:nvSpPr>
          <p:cNvPr id="1300" name="Google Shape;1300;p51"/>
          <p:cNvSpPr/>
          <p:nvPr/>
        </p:nvSpPr>
        <p:spPr>
          <a:xfrm>
            <a:off x="3018473" y="4736187"/>
            <a:ext cx="10461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50 Hz</a:t>
            </a:r>
            <a:endParaRPr b="0" i="0" sz="1300" u="none" cap="none" strike="noStrike"/>
          </a:p>
        </p:txBody>
      </p:sp>
      <p:sp>
        <p:nvSpPr>
          <p:cNvPr id="1301" name="Google Shape;1301;p51"/>
          <p:cNvSpPr/>
          <p:nvPr/>
        </p:nvSpPr>
        <p:spPr>
          <a:xfrm>
            <a:off x="4412337" y="4736187"/>
            <a:ext cx="10461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18.4 Hz</a:t>
            </a:r>
            <a:endParaRPr b="0" i="0" sz="1300" u="none" cap="none" strike="noStrike"/>
          </a:p>
        </p:txBody>
      </p:sp>
      <p:sp>
        <p:nvSpPr>
          <p:cNvPr id="1302" name="Google Shape;1302;p51"/>
          <p:cNvSpPr/>
          <p:nvPr/>
        </p:nvSpPr>
        <p:spPr>
          <a:xfrm>
            <a:off x="5806202" y="4736187"/>
            <a:ext cx="10005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2,653</a:t>
            </a:r>
            <a:endParaRPr b="0" i="0" sz="1300" u="none" cap="none" strike="noStrike"/>
          </a:p>
        </p:txBody>
      </p:sp>
      <p:sp>
        <p:nvSpPr>
          <p:cNvPr id="1303" name="Google Shape;1303;p51"/>
          <p:cNvSpPr/>
          <p:nvPr/>
        </p:nvSpPr>
        <p:spPr>
          <a:xfrm>
            <a:off x="7154466" y="4736187"/>
            <a:ext cx="12051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-</a:t>
            </a:r>
            <a:endParaRPr b="0" i="0" sz="1300" u="none" cap="none" strike="noStrike"/>
          </a:p>
        </p:txBody>
      </p:sp>
      <p:sp>
        <p:nvSpPr>
          <p:cNvPr id="1304" name="Google Shape;1304;p51"/>
          <p:cNvSpPr/>
          <p:nvPr/>
        </p:nvSpPr>
        <p:spPr>
          <a:xfrm>
            <a:off x="8707279" y="4736187"/>
            <a:ext cx="9549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63% </a:t>
            </a:r>
            <a:r>
              <a:rPr b="0" i="0" lang="en-US" sz="13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🔴</a:t>
            </a:r>
            <a:endParaRPr b="0" i="0" sz="1300" u="none" cap="none" strike="noStrike"/>
          </a:p>
        </p:txBody>
      </p:sp>
      <p:sp>
        <p:nvSpPr>
          <p:cNvPr id="1305" name="Google Shape;1305;p51"/>
          <p:cNvSpPr/>
          <p:nvPr/>
        </p:nvSpPr>
        <p:spPr>
          <a:xfrm>
            <a:off x="10009942" y="4736187"/>
            <a:ext cx="36489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EKF not keeping up</a:t>
            </a:r>
            <a:endParaRPr b="0" i="0" sz="1300" u="none" cap="none" strike="noStrike"/>
          </a:p>
        </p:txBody>
      </p:sp>
      <p:sp>
        <p:nvSpPr>
          <p:cNvPr id="1306" name="Google Shape;1306;p51"/>
          <p:cNvSpPr/>
          <p:nvPr/>
        </p:nvSpPr>
        <p:spPr>
          <a:xfrm>
            <a:off x="801410" y="5065990"/>
            <a:ext cx="13027500" cy="414000"/>
          </a:xfrm>
          <a:prstGeom prst="rect">
            <a:avLst/>
          </a:prstGeom>
          <a:solidFill>
            <a:srgbClr val="000000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7" name="Google Shape;1307;p51"/>
          <p:cNvSpPr/>
          <p:nvPr/>
        </p:nvSpPr>
        <p:spPr>
          <a:xfrm>
            <a:off x="972026" y="5150048"/>
            <a:ext cx="16989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Ground Truth (GT)</a:t>
            </a:r>
            <a:endParaRPr b="0" i="0" sz="1300" u="none" cap="none" strike="noStrike"/>
          </a:p>
        </p:txBody>
      </p:sp>
      <p:sp>
        <p:nvSpPr>
          <p:cNvPr id="1308" name="Google Shape;1308;p51"/>
          <p:cNvSpPr/>
          <p:nvPr/>
        </p:nvSpPr>
        <p:spPr>
          <a:xfrm>
            <a:off x="3018473" y="5150048"/>
            <a:ext cx="10461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50 Hz</a:t>
            </a:r>
            <a:endParaRPr b="0" i="0" sz="1300" u="none" cap="none" strike="noStrike"/>
          </a:p>
        </p:txBody>
      </p:sp>
      <p:sp>
        <p:nvSpPr>
          <p:cNvPr id="1309" name="Google Shape;1309;p51"/>
          <p:cNvSpPr/>
          <p:nvPr/>
        </p:nvSpPr>
        <p:spPr>
          <a:xfrm>
            <a:off x="4412337" y="5150048"/>
            <a:ext cx="10461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18.4 Hz</a:t>
            </a:r>
            <a:endParaRPr b="0" i="0" sz="1300" u="none" cap="none" strike="noStrike"/>
          </a:p>
        </p:txBody>
      </p:sp>
      <p:sp>
        <p:nvSpPr>
          <p:cNvPr id="1310" name="Google Shape;1310;p51"/>
          <p:cNvSpPr/>
          <p:nvPr/>
        </p:nvSpPr>
        <p:spPr>
          <a:xfrm>
            <a:off x="5806202" y="5150048"/>
            <a:ext cx="10005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2,650</a:t>
            </a:r>
            <a:endParaRPr b="0" i="0" sz="1300" u="none" cap="none" strike="noStrike"/>
          </a:p>
        </p:txBody>
      </p:sp>
      <p:sp>
        <p:nvSpPr>
          <p:cNvPr id="1311" name="Google Shape;1311;p51"/>
          <p:cNvSpPr/>
          <p:nvPr/>
        </p:nvSpPr>
        <p:spPr>
          <a:xfrm>
            <a:off x="7154466" y="5150048"/>
            <a:ext cx="12051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-</a:t>
            </a:r>
            <a:endParaRPr b="0" i="0" sz="1300" u="none" cap="none" strike="noStrike"/>
          </a:p>
        </p:txBody>
      </p:sp>
      <p:sp>
        <p:nvSpPr>
          <p:cNvPr id="1312" name="Google Shape;1312;p51"/>
          <p:cNvSpPr/>
          <p:nvPr/>
        </p:nvSpPr>
        <p:spPr>
          <a:xfrm>
            <a:off x="8707279" y="5150048"/>
            <a:ext cx="9549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63% </a:t>
            </a:r>
            <a:r>
              <a:rPr b="0" i="0" lang="en-US" sz="13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🔴</a:t>
            </a:r>
            <a:endParaRPr b="0" i="0" sz="1300" u="none" cap="none" strike="noStrike"/>
          </a:p>
        </p:txBody>
      </p:sp>
      <p:sp>
        <p:nvSpPr>
          <p:cNvPr id="1313" name="Google Shape;1313;p51"/>
          <p:cNvSpPr/>
          <p:nvPr/>
        </p:nvSpPr>
        <p:spPr>
          <a:xfrm>
            <a:off x="10009942" y="5150048"/>
            <a:ext cx="36489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Reference for comparison</a:t>
            </a:r>
            <a:endParaRPr b="0" i="0" sz="1300" u="none" cap="none" strike="noStrike"/>
          </a:p>
        </p:txBody>
      </p:sp>
      <p:sp>
        <p:nvSpPr>
          <p:cNvPr id="1314" name="Google Shape;1314;p51"/>
          <p:cNvSpPr/>
          <p:nvPr/>
        </p:nvSpPr>
        <p:spPr>
          <a:xfrm>
            <a:off x="793800" y="5774393"/>
            <a:ext cx="6313800" cy="1695600"/>
          </a:xfrm>
          <a:prstGeom prst="roundRect">
            <a:avLst>
              <a:gd fmla="val 6544" name="adj"/>
            </a:avLst>
          </a:prstGeom>
          <a:solidFill>
            <a:srgbClr val="FCF2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15" name="Google Shape;1315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3811" y="6020991"/>
            <a:ext cx="212646" cy="170021"/>
          </a:xfrm>
          <a:prstGeom prst="rect">
            <a:avLst/>
          </a:prstGeom>
          <a:noFill/>
          <a:ln>
            <a:noFill/>
          </a:ln>
        </p:spPr>
      </p:pic>
      <p:sp>
        <p:nvSpPr>
          <p:cNvPr id="1316" name="Google Shape;1316;p51"/>
          <p:cNvSpPr/>
          <p:nvPr/>
        </p:nvSpPr>
        <p:spPr>
          <a:xfrm>
            <a:off x="1346478" y="5944433"/>
            <a:ext cx="5591100" cy="7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🔴 </a:t>
            </a:r>
            <a:r>
              <a:rPr b="1" i="0" lang="en-US" sz="13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RTAB-Map Visual Odometry (0.5 Hz actual):</a:t>
            </a:r>
            <a:r>
              <a:rPr b="0" i="0" lang="en-US" sz="13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CPU bottleneck from simultaneous Gazebo rendering + VO feature extraction + RQNN filter node running concurrently.</a:t>
            </a:r>
            <a:endParaRPr b="0" i="0" sz="1300" u="none" cap="none" strike="noStrike"/>
          </a:p>
        </p:txBody>
      </p:sp>
      <p:sp>
        <p:nvSpPr>
          <p:cNvPr id="1317" name="Google Shape;1317;p51"/>
          <p:cNvSpPr/>
          <p:nvPr/>
        </p:nvSpPr>
        <p:spPr>
          <a:xfrm>
            <a:off x="7530350" y="5774397"/>
            <a:ext cx="6313800" cy="1695600"/>
          </a:xfrm>
          <a:prstGeom prst="roundRect">
            <a:avLst>
              <a:gd fmla="val 5342" name="adj"/>
            </a:avLst>
          </a:prstGeom>
          <a:solidFill>
            <a:srgbClr val="B3E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18" name="Google Shape;1318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00367" y="6020991"/>
            <a:ext cx="212646" cy="170021"/>
          </a:xfrm>
          <a:prstGeom prst="rect">
            <a:avLst/>
          </a:prstGeom>
          <a:noFill/>
          <a:ln>
            <a:noFill/>
          </a:ln>
        </p:spPr>
      </p:pic>
      <p:sp>
        <p:nvSpPr>
          <p:cNvPr id="1319" name="Google Shape;1319;p51"/>
          <p:cNvSpPr/>
          <p:nvPr/>
        </p:nvSpPr>
        <p:spPr>
          <a:xfrm>
            <a:off x="8083034" y="5944433"/>
            <a:ext cx="5591100" cy="9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🟡 </a:t>
            </a:r>
            <a:r>
              <a:rPr b="1" i="0" lang="en-US" sz="13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IMU 51% drop:</a:t>
            </a:r>
            <a:r>
              <a:rPr b="0" i="0" lang="en-US" sz="13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ROS2 DDS middleware buffering under load — </a:t>
            </a:r>
            <a:r>
              <a:rPr b="0" i="0" lang="en-US" sz="1300" u="none" cap="none" strike="noStrike">
                <a:solidFill>
                  <a:srgbClr val="000000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sensor_timeout: 0.1s</a:t>
            </a:r>
            <a:r>
              <a:rPr b="0" i="0" lang="en-US" sz="13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in EKF config tolerates this without diverging. ✅ </a:t>
            </a:r>
            <a:r>
              <a:rPr b="1" i="0" lang="en-US" sz="13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Mitigation:</a:t>
            </a:r>
            <a:r>
              <a:rPr b="0" i="0" lang="en-US" sz="13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1300" u="none" cap="none" strike="noStrike">
                <a:solidFill>
                  <a:srgbClr val="000000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sensor_timeout:0.1</a:t>
            </a:r>
            <a:r>
              <a:rPr b="0" i="0" lang="en-US" sz="13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, Q matrix tuned for actual rates. EKF frequency:50 but update triggered by message arrival (event-driven).</a:t>
            </a:r>
            <a:endParaRPr b="0" i="0" sz="1300" u="none" cap="none" strike="noStrike"/>
          </a:p>
        </p:txBody>
      </p:sp>
      <p:sp>
        <p:nvSpPr>
          <p:cNvPr id="1320" name="Google Shape;1320;p51"/>
          <p:cNvSpPr/>
          <p:nvPr/>
        </p:nvSpPr>
        <p:spPr>
          <a:xfrm>
            <a:off x="12845075" y="7780725"/>
            <a:ext cx="1680600" cy="356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39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5" name="Shape 1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6" name="Google Shape;1326;p52"/>
          <p:cNvSpPr/>
          <p:nvPr/>
        </p:nvSpPr>
        <p:spPr>
          <a:xfrm>
            <a:off x="793790" y="949404"/>
            <a:ext cx="9460500" cy="5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2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etrona"/>
              <a:buNone/>
            </a:pPr>
            <a:r>
              <a:rPr b="1" i="0" lang="en-US" sz="350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RQNN Noise Reduction Results — Per Channel</a:t>
            </a:r>
            <a:endParaRPr b="0" i="0" sz="3500" u="none" cap="none" strike="noStrike"/>
          </a:p>
        </p:txBody>
      </p:sp>
      <p:sp>
        <p:nvSpPr>
          <p:cNvPr id="1327" name="Google Shape;1327;p52"/>
          <p:cNvSpPr/>
          <p:nvPr/>
        </p:nvSpPr>
        <p:spPr>
          <a:xfrm>
            <a:off x="793790" y="1762720"/>
            <a:ext cx="130428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Savitzky-Golay detrending isolates high-frequency noise; SNR gain computed via Welch PSD</a:t>
            </a:r>
            <a:endParaRPr b="0" i="0" sz="1300" u="none" cap="none" strike="noStrike"/>
          </a:p>
        </p:txBody>
      </p:sp>
      <p:sp>
        <p:nvSpPr>
          <p:cNvPr id="1328" name="Google Shape;1328;p52"/>
          <p:cNvSpPr/>
          <p:nvPr/>
        </p:nvSpPr>
        <p:spPr>
          <a:xfrm>
            <a:off x="793790" y="2144316"/>
            <a:ext cx="13042800" cy="4146300"/>
          </a:xfrm>
          <a:prstGeom prst="roundRect">
            <a:avLst>
              <a:gd fmla="val 1723" name="adj"/>
            </a:avLst>
          </a:prstGeom>
          <a:noFill/>
          <a:ln cap="flat" cmpd="sng" w="9525">
            <a:solidFill>
              <a:srgbClr val="000000">
                <a:alpha val="784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9" name="Google Shape;1329;p52"/>
          <p:cNvSpPr/>
          <p:nvPr/>
        </p:nvSpPr>
        <p:spPr>
          <a:xfrm>
            <a:off x="801410" y="2151936"/>
            <a:ext cx="13027500" cy="406200"/>
          </a:xfrm>
          <a:prstGeom prst="rect">
            <a:avLst/>
          </a:prstGeom>
          <a:solidFill>
            <a:srgbClr val="FFFFFF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0" name="Google Shape;1330;p52"/>
          <p:cNvSpPr/>
          <p:nvPr/>
        </p:nvSpPr>
        <p:spPr>
          <a:xfrm>
            <a:off x="971788" y="2235994"/>
            <a:ext cx="13692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Sensor</a:t>
            </a:r>
            <a:endParaRPr b="0" i="0" sz="1300" u="none" cap="none" strike="noStrike"/>
          </a:p>
        </p:txBody>
      </p:sp>
      <p:sp>
        <p:nvSpPr>
          <p:cNvPr id="1331" name="Google Shape;1331;p52"/>
          <p:cNvSpPr/>
          <p:nvPr/>
        </p:nvSpPr>
        <p:spPr>
          <a:xfrm>
            <a:off x="2688669" y="2235994"/>
            <a:ext cx="14085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Raw σ</a:t>
            </a:r>
            <a:endParaRPr b="0" i="0" sz="1300" u="none" cap="none" strike="noStrike"/>
          </a:p>
        </p:txBody>
      </p:sp>
      <p:sp>
        <p:nvSpPr>
          <p:cNvPr id="1332" name="Google Shape;1332;p52"/>
          <p:cNvSpPr/>
          <p:nvPr/>
        </p:nvSpPr>
        <p:spPr>
          <a:xfrm>
            <a:off x="4444722" y="2235994"/>
            <a:ext cx="13929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Filtered σ</a:t>
            </a:r>
            <a:endParaRPr b="0" i="0" sz="1300" u="none" cap="none" strike="noStrike"/>
          </a:p>
        </p:txBody>
      </p:sp>
      <p:sp>
        <p:nvSpPr>
          <p:cNvPr id="1333" name="Google Shape;1333;p52"/>
          <p:cNvSpPr/>
          <p:nvPr/>
        </p:nvSpPr>
        <p:spPr>
          <a:xfrm>
            <a:off x="6185178" y="2235994"/>
            <a:ext cx="1455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Reduction</a:t>
            </a:r>
            <a:endParaRPr b="0" i="0" sz="1300" u="none" cap="none" strike="noStrike"/>
          </a:p>
        </p:txBody>
      </p:sp>
      <p:sp>
        <p:nvSpPr>
          <p:cNvPr id="1334" name="Google Shape;1334;p52"/>
          <p:cNvSpPr/>
          <p:nvPr/>
        </p:nvSpPr>
        <p:spPr>
          <a:xfrm>
            <a:off x="7988141" y="2235994"/>
            <a:ext cx="14460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SNR Gain (dB)</a:t>
            </a:r>
            <a:endParaRPr b="0" i="0" sz="1300" u="none" cap="none" strike="noStrike"/>
          </a:p>
        </p:txBody>
      </p:sp>
      <p:sp>
        <p:nvSpPr>
          <p:cNvPr id="1335" name="Google Shape;1335;p52"/>
          <p:cNvSpPr/>
          <p:nvPr/>
        </p:nvSpPr>
        <p:spPr>
          <a:xfrm>
            <a:off x="9781937" y="2235994"/>
            <a:ext cx="38769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Notes</a:t>
            </a:r>
            <a:endParaRPr b="0" i="0" sz="1300" u="none" cap="none" strike="noStrike"/>
          </a:p>
        </p:txBody>
      </p:sp>
      <p:sp>
        <p:nvSpPr>
          <p:cNvPr id="1336" name="Google Shape;1336;p52"/>
          <p:cNvSpPr/>
          <p:nvPr/>
        </p:nvSpPr>
        <p:spPr>
          <a:xfrm>
            <a:off x="801410" y="2558177"/>
            <a:ext cx="13027500" cy="414000"/>
          </a:xfrm>
          <a:prstGeom prst="rect">
            <a:avLst/>
          </a:prstGeom>
          <a:solidFill>
            <a:srgbClr val="000000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7" name="Google Shape;1337;p52"/>
          <p:cNvSpPr/>
          <p:nvPr/>
        </p:nvSpPr>
        <p:spPr>
          <a:xfrm>
            <a:off x="971788" y="2642235"/>
            <a:ext cx="13692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IMU Accel X</a:t>
            </a:r>
            <a:endParaRPr b="0" i="0" sz="1300" u="none" cap="none" strike="noStrike"/>
          </a:p>
        </p:txBody>
      </p:sp>
      <p:sp>
        <p:nvSpPr>
          <p:cNvPr id="1338" name="Google Shape;1338;p52"/>
          <p:cNvSpPr/>
          <p:nvPr/>
        </p:nvSpPr>
        <p:spPr>
          <a:xfrm>
            <a:off x="2688669" y="2642235"/>
            <a:ext cx="14085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0.3644 m/s²</a:t>
            </a:r>
            <a:endParaRPr b="0" i="0" sz="1300" u="none" cap="none" strike="noStrike"/>
          </a:p>
        </p:txBody>
      </p:sp>
      <p:sp>
        <p:nvSpPr>
          <p:cNvPr id="1339" name="Google Shape;1339;p52"/>
          <p:cNvSpPr/>
          <p:nvPr/>
        </p:nvSpPr>
        <p:spPr>
          <a:xfrm>
            <a:off x="4444722" y="2642235"/>
            <a:ext cx="13929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0.0889 m/s²</a:t>
            </a:r>
            <a:endParaRPr b="0" i="0" sz="1300" u="none" cap="none" strike="noStrike"/>
          </a:p>
        </p:txBody>
      </p:sp>
      <p:sp>
        <p:nvSpPr>
          <p:cNvPr id="1340" name="Google Shape;1340;p52"/>
          <p:cNvSpPr/>
          <p:nvPr/>
        </p:nvSpPr>
        <p:spPr>
          <a:xfrm>
            <a:off x="6185178" y="2642235"/>
            <a:ext cx="14553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75.6% ↓ </a:t>
            </a:r>
            <a:r>
              <a:rPr b="0" i="0" lang="en-US" sz="13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🟢</a:t>
            </a:r>
            <a:endParaRPr b="0" i="0" sz="1300" u="none" cap="none" strike="noStrike"/>
          </a:p>
        </p:txBody>
      </p:sp>
      <p:sp>
        <p:nvSpPr>
          <p:cNvPr id="1341" name="Google Shape;1341;p52"/>
          <p:cNvSpPr/>
          <p:nvPr/>
        </p:nvSpPr>
        <p:spPr>
          <a:xfrm>
            <a:off x="7988141" y="2642235"/>
            <a:ext cx="14460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+12.25 dB</a:t>
            </a:r>
            <a:endParaRPr b="0" i="0" sz="1300" u="none" cap="none" strike="noStrike"/>
          </a:p>
        </p:txBody>
      </p:sp>
      <p:sp>
        <p:nvSpPr>
          <p:cNvPr id="1342" name="Google Shape;1342;p52"/>
          <p:cNvSpPr/>
          <p:nvPr/>
        </p:nvSpPr>
        <p:spPr>
          <a:xfrm>
            <a:off x="9781937" y="2642235"/>
            <a:ext cx="38769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Best channel — high vibration burst</a:t>
            </a:r>
            <a:endParaRPr b="0" i="0" sz="1300" u="none" cap="none" strike="noStrike"/>
          </a:p>
        </p:txBody>
      </p:sp>
      <p:sp>
        <p:nvSpPr>
          <p:cNvPr id="1343" name="Google Shape;1343;p52"/>
          <p:cNvSpPr/>
          <p:nvPr/>
        </p:nvSpPr>
        <p:spPr>
          <a:xfrm>
            <a:off x="801410" y="2972038"/>
            <a:ext cx="13027500" cy="414000"/>
          </a:xfrm>
          <a:prstGeom prst="rect">
            <a:avLst/>
          </a:prstGeom>
          <a:solidFill>
            <a:srgbClr val="FFFFFF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4" name="Google Shape;1344;p52"/>
          <p:cNvSpPr/>
          <p:nvPr/>
        </p:nvSpPr>
        <p:spPr>
          <a:xfrm>
            <a:off x="971788" y="3056096"/>
            <a:ext cx="13692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IMU Accel Y</a:t>
            </a:r>
            <a:endParaRPr b="0" i="0" sz="1300" u="none" cap="none" strike="noStrike"/>
          </a:p>
        </p:txBody>
      </p:sp>
      <p:sp>
        <p:nvSpPr>
          <p:cNvPr id="1345" name="Google Shape;1345;p52"/>
          <p:cNvSpPr/>
          <p:nvPr/>
        </p:nvSpPr>
        <p:spPr>
          <a:xfrm>
            <a:off x="2688669" y="3056096"/>
            <a:ext cx="14085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0.3101 m/s²</a:t>
            </a:r>
            <a:endParaRPr b="0" i="0" sz="1300" u="none" cap="none" strike="noStrike"/>
          </a:p>
        </p:txBody>
      </p:sp>
      <p:sp>
        <p:nvSpPr>
          <p:cNvPr id="1346" name="Google Shape;1346;p52"/>
          <p:cNvSpPr/>
          <p:nvPr/>
        </p:nvSpPr>
        <p:spPr>
          <a:xfrm>
            <a:off x="4444722" y="3056096"/>
            <a:ext cx="13929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0.1096 m/s²</a:t>
            </a:r>
            <a:endParaRPr b="0" i="0" sz="1300" u="none" cap="none" strike="noStrike"/>
          </a:p>
        </p:txBody>
      </p:sp>
      <p:sp>
        <p:nvSpPr>
          <p:cNvPr id="1347" name="Google Shape;1347;p52"/>
          <p:cNvSpPr/>
          <p:nvPr/>
        </p:nvSpPr>
        <p:spPr>
          <a:xfrm>
            <a:off x="6185178" y="3056096"/>
            <a:ext cx="14553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64.6% ↓ </a:t>
            </a:r>
            <a:r>
              <a:rPr b="0" i="0" lang="en-US" sz="13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🟢</a:t>
            </a:r>
            <a:endParaRPr b="0" i="0" sz="1300" u="none" cap="none" strike="noStrike"/>
          </a:p>
        </p:txBody>
      </p:sp>
      <p:sp>
        <p:nvSpPr>
          <p:cNvPr id="1348" name="Google Shape;1348;p52"/>
          <p:cNvSpPr/>
          <p:nvPr/>
        </p:nvSpPr>
        <p:spPr>
          <a:xfrm>
            <a:off x="7988141" y="3056096"/>
            <a:ext cx="14460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+9.03 dB</a:t>
            </a:r>
            <a:endParaRPr b="0" i="0" sz="1300" u="none" cap="none" strike="noStrike"/>
          </a:p>
        </p:txBody>
      </p:sp>
      <p:sp>
        <p:nvSpPr>
          <p:cNvPr id="1349" name="Google Shape;1349;p52"/>
          <p:cNvSpPr/>
          <p:nvPr/>
        </p:nvSpPr>
        <p:spPr>
          <a:xfrm>
            <a:off x="9781937" y="3056096"/>
            <a:ext cx="38769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Strong improvement</a:t>
            </a:r>
            <a:endParaRPr b="0" i="0" sz="1300" u="none" cap="none" strike="noStrike"/>
          </a:p>
        </p:txBody>
      </p:sp>
      <p:sp>
        <p:nvSpPr>
          <p:cNvPr id="1350" name="Google Shape;1350;p52"/>
          <p:cNvSpPr/>
          <p:nvPr/>
        </p:nvSpPr>
        <p:spPr>
          <a:xfrm>
            <a:off x="801410" y="3385899"/>
            <a:ext cx="13027500" cy="414000"/>
          </a:xfrm>
          <a:prstGeom prst="rect">
            <a:avLst/>
          </a:prstGeom>
          <a:solidFill>
            <a:srgbClr val="000000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1" name="Google Shape;1351;p52"/>
          <p:cNvSpPr/>
          <p:nvPr/>
        </p:nvSpPr>
        <p:spPr>
          <a:xfrm>
            <a:off x="971788" y="3469958"/>
            <a:ext cx="13692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IMU Gyro Z</a:t>
            </a:r>
            <a:endParaRPr b="0" i="0" sz="1300" u="none" cap="none" strike="noStrike"/>
          </a:p>
        </p:txBody>
      </p:sp>
      <p:sp>
        <p:nvSpPr>
          <p:cNvPr id="1352" name="Google Shape;1352;p52"/>
          <p:cNvSpPr/>
          <p:nvPr/>
        </p:nvSpPr>
        <p:spPr>
          <a:xfrm>
            <a:off x="2688669" y="3469958"/>
            <a:ext cx="14085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0.0119 rad/s</a:t>
            </a:r>
            <a:endParaRPr b="0" i="0" sz="1300" u="none" cap="none" strike="noStrike"/>
          </a:p>
        </p:txBody>
      </p:sp>
      <p:sp>
        <p:nvSpPr>
          <p:cNvPr id="1353" name="Google Shape;1353;p52"/>
          <p:cNvSpPr/>
          <p:nvPr/>
        </p:nvSpPr>
        <p:spPr>
          <a:xfrm>
            <a:off x="4444722" y="3469958"/>
            <a:ext cx="13929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0.0103 rad/s</a:t>
            </a:r>
            <a:endParaRPr b="0" i="0" sz="1300" u="none" cap="none" strike="noStrike"/>
          </a:p>
        </p:txBody>
      </p:sp>
      <p:sp>
        <p:nvSpPr>
          <p:cNvPr id="1354" name="Google Shape;1354;p52"/>
          <p:cNvSpPr/>
          <p:nvPr/>
        </p:nvSpPr>
        <p:spPr>
          <a:xfrm>
            <a:off x="6185178" y="3469958"/>
            <a:ext cx="14553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13.2% ↓ </a:t>
            </a:r>
            <a:r>
              <a:rPr b="0" i="0" lang="en-US" sz="13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🟡</a:t>
            </a:r>
            <a:endParaRPr b="0" i="0" sz="1300" u="none" cap="none" strike="noStrike"/>
          </a:p>
        </p:txBody>
      </p:sp>
      <p:sp>
        <p:nvSpPr>
          <p:cNvPr id="1355" name="Google Shape;1355;p52"/>
          <p:cNvSpPr/>
          <p:nvPr/>
        </p:nvSpPr>
        <p:spPr>
          <a:xfrm>
            <a:off x="7988141" y="3469958"/>
            <a:ext cx="14460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+1.23 dB</a:t>
            </a:r>
            <a:endParaRPr b="0" i="0" sz="1300" u="none" cap="none" strike="noStrike"/>
          </a:p>
        </p:txBody>
      </p:sp>
      <p:sp>
        <p:nvSpPr>
          <p:cNvPr id="1356" name="Google Shape;1356;p52"/>
          <p:cNvSpPr/>
          <p:nvPr/>
        </p:nvSpPr>
        <p:spPr>
          <a:xfrm>
            <a:off x="9781937" y="3469958"/>
            <a:ext cx="38769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Modest — gyro already better SNR</a:t>
            </a:r>
            <a:endParaRPr b="0" i="0" sz="1300" u="none" cap="none" strike="noStrike"/>
          </a:p>
        </p:txBody>
      </p:sp>
      <p:sp>
        <p:nvSpPr>
          <p:cNvPr id="1357" name="Google Shape;1357;p52"/>
          <p:cNvSpPr/>
          <p:nvPr/>
        </p:nvSpPr>
        <p:spPr>
          <a:xfrm>
            <a:off x="801410" y="3799761"/>
            <a:ext cx="13027500" cy="414000"/>
          </a:xfrm>
          <a:prstGeom prst="rect">
            <a:avLst/>
          </a:prstGeom>
          <a:solidFill>
            <a:srgbClr val="FFFFFF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8" name="Google Shape;1358;p52"/>
          <p:cNvSpPr/>
          <p:nvPr/>
        </p:nvSpPr>
        <p:spPr>
          <a:xfrm>
            <a:off x="971788" y="3883819"/>
            <a:ext cx="13692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Visual vx</a:t>
            </a:r>
            <a:endParaRPr b="0" i="0" sz="1300" u="none" cap="none" strike="noStrike"/>
          </a:p>
        </p:txBody>
      </p:sp>
      <p:sp>
        <p:nvSpPr>
          <p:cNvPr id="1359" name="Google Shape;1359;p52"/>
          <p:cNvSpPr/>
          <p:nvPr/>
        </p:nvSpPr>
        <p:spPr>
          <a:xfrm>
            <a:off x="2688669" y="3883819"/>
            <a:ext cx="14085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0.2656 m/s</a:t>
            </a:r>
            <a:endParaRPr b="0" i="0" sz="1300" u="none" cap="none" strike="noStrike"/>
          </a:p>
        </p:txBody>
      </p:sp>
      <p:sp>
        <p:nvSpPr>
          <p:cNvPr id="1360" name="Google Shape;1360;p52"/>
          <p:cNvSpPr/>
          <p:nvPr/>
        </p:nvSpPr>
        <p:spPr>
          <a:xfrm>
            <a:off x="4444722" y="3883819"/>
            <a:ext cx="13929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0.1202 m/s</a:t>
            </a:r>
            <a:endParaRPr b="0" i="0" sz="1300" u="none" cap="none" strike="noStrike"/>
          </a:p>
        </p:txBody>
      </p:sp>
      <p:sp>
        <p:nvSpPr>
          <p:cNvPr id="1361" name="Google Shape;1361;p52"/>
          <p:cNvSpPr/>
          <p:nvPr/>
        </p:nvSpPr>
        <p:spPr>
          <a:xfrm>
            <a:off x="6185178" y="3883819"/>
            <a:ext cx="14553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54.7% ↓ </a:t>
            </a:r>
            <a:r>
              <a:rPr b="0" i="0" lang="en-US" sz="13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🟢</a:t>
            </a:r>
            <a:endParaRPr b="0" i="0" sz="1300" u="none" cap="none" strike="noStrike"/>
          </a:p>
        </p:txBody>
      </p:sp>
      <p:sp>
        <p:nvSpPr>
          <p:cNvPr id="1362" name="Google Shape;1362;p52"/>
          <p:cNvSpPr/>
          <p:nvPr/>
        </p:nvSpPr>
        <p:spPr>
          <a:xfrm>
            <a:off x="7988141" y="3883819"/>
            <a:ext cx="14460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+6.88 dB</a:t>
            </a:r>
            <a:endParaRPr b="0" i="0" sz="1300" u="none" cap="none" strike="noStrike"/>
          </a:p>
        </p:txBody>
      </p:sp>
      <p:sp>
        <p:nvSpPr>
          <p:cNvPr id="1363" name="Google Shape;1363;p52"/>
          <p:cNvSpPr/>
          <p:nvPr/>
        </p:nvSpPr>
        <p:spPr>
          <a:xfrm>
            <a:off x="9781937" y="3883819"/>
            <a:ext cx="38769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Loop-closure bursts removed</a:t>
            </a:r>
            <a:endParaRPr b="0" i="0" sz="1300" u="none" cap="none" strike="noStrike"/>
          </a:p>
        </p:txBody>
      </p:sp>
      <p:sp>
        <p:nvSpPr>
          <p:cNvPr id="1364" name="Google Shape;1364;p52"/>
          <p:cNvSpPr/>
          <p:nvPr/>
        </p:nvSpPr>
        <p:spPr>
          <a:xfrm>
            <a:off x="801410" y="4213622"/>
            <a:ext cx="13027500" cy="414000"/>
          </a:xfrm>
          <a:prstGeom prst="rect">
            <a:avLst/>
          </a:prstGeom>
          <a:solidFill>
            <a:srgbClr val="000000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5" name="Google Shape;1365;p52"/>
          <p:cNvSpPr/>
          <p:nvPr/>
        </p:nvSpPr>
        <p:spPr>
          <a:xfrm>
            <a:off x="971788" y="4297680"/>
            <a:ext cx="13692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Visual wz</a:t>
            </a:r>
            <a:endParaRPr b="0" i="0" sz="1300" u="none" cap="none" strike="noStrike"/>
          </a:p>
        </p:txBody>
      </p:sp>
      <p:sp>
        <p:nvSpPr>
          <p:cNvPr id="1366" name="Google Shape;1366;p52"/>
          <p:cNvSpPr/>
          <p:nvPr/>
        </p:nvSpPr>
        <p:spPr>
          <a:xfrm>
            <a:off x="2688669" y="4297680"/>
            <a:ext cx="14085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0.0328 rad/s</a:t>
            </a:r>
            <a:endParaRPr b="0" i="0" sz="1300" u="none" cap="none" strike="noStrike"/>
          </a:p>
        </p:txBody>
      </p:sp>
      <p:sp>
        <p:nvSpPr>
          <p:cNvPr id="1367" name="Google Shape;1367;p52"/>
          <p:cNvSpPr/>
          <p:nvPr/>
        </p:nvSpPr>
        <p:spPr>
          <a:xfrm>
            <a:off x="4444722" y="4297680"/>
            <a:ext cx="13929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0.0179 rad/s</a:t>
            </a:r>
            <a:endParaRPr b="0" i="0" sz="1300" u="none" cap="none" strike="noStrike"/>
          </a:p>
        </p:txBody>
      </p:sp>
      <p:sp>
        <p:nvSpPr>
          <p:cNvPr id="1368" name="Google Shape;1368;p52"/>
          <p:cNvSpPr/>
          <p:nvPr/>
        </p:nvSpPr>
        <p:spPr>
          <a:xfrm>
            <a:off x="6185178" y="4297680"/>
            <a:ext cx="14553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45.5% ↓ </a:t>
            </a:r>
            <a:r>
              <a:rPr b="0" i="0" lang="en-US" sz="13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🟢</a:t>
            </a:r>
            <a:endParaRPr b="0" i="0" sz="1300" u="none" cap="none" strike="noStrike"/>
          </a:p>
        </p:txBody>
      </p:sp>
      <p:sp>
        <p:nvSpPr>
          <p:cNvPr id="1369" name="Google Shape;1369;p52"/>
          <p:cNvSpPr/>
          <p:nvPr/>
        </p:nvSpPr>
        <p:spPr>
          <a:xfrm>
            <a:off x="7988141" y="4297680"/>
            <a:ext cx="14460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+5.27 dB</a:t>
            </a:r>
            <a:endParaRPr b="0" i="0" sz="1300" u="none" cap="none" strike="noStrike"/>
          </a:p>
        </p:txBody>
      </p:sp>
      <p:sp>
        <p:nvSpPr>
          <p:cNvPr id="1370" name="Google Shape;1370;p52"/>
          <p:cNvSpPr/>
          <p:nvPr/>
        </p:nvSpPr>
        <p:spPr>
          <a:xfrm>
            <a:off x="9781937" y="4297680"/>
            <a:ext cx="38769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Angular noise reduced</a:t>
            </a:r>
            <a:endParaRPr b="0" i="0" sz="1300" u="none" cap="none" strike="noStrike"/>
          </a:p>
        </p:txBody>
      </p:sp>
      <p:sp>
        <p:nvSpPr>
          <p:cNvPr id="1371" name="Google Shape;1371;p52"/>
          <p:cNvSpPr/>
          <p:nvPr/>
        </p:nvSpPr>
        <p:spPr>
          <a:xfrm>
            <a:off x="801410" y="4627483"/>
            <a:ext cx="13027500" cy="414000"/>
          </a:xfrm>
          <a:prstGeom prst="rect">
            <a:avLst/>
          </a:prstGeom>
          <a:solidFill>
            <a:srgbClr val="FFFFFF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2" name="Google Shape;1372;p52"/>
          <p:cNvSpPr/>
          <p:nvPr/>
        </p:nvSpPr>
        <p:spPr>
          <a:xfrm>
            <a:off x="971788" y="4711541"/>
            <a:ext cx="13692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LiDAR vx</a:t>
            </a:r>
            <a:endParaRPr b="0" i="0" sz="1300" u="none" cap="none" strike="noStrike"/>
          </a:p>
        </p:txBody>
      </p:sp>
      <p:sp>
        <p:nvSpPr>
          <p:cNvPr id="1373" name="Google Shape;1373;p52"/>
          <p:cNvSpPr/>
          <p:nvPr/>
        </p:nvSpPr>
        <p:spPr>
          <a:xfrm>
            <a:off x="2688669" y="4711541"/>
            <a:ext cx="14085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0.2085 m/s</a:t>
            </a:r>
            <a:endParaRPr b="0" i="0" sz="1300" u="none" cap="none" strike="noStrike"/>
          </a:p>
        </p:txBody>
      </p:sp>
      <p:sp>
        <p:nvSpPr>
          <p:cNvPr id="1374" name="Google Shape;1374;p52"/>
          <p:cNvSpPr/>
          <p:nvPr/>
        </p:nvSpPr>
        <p:spPr>
          <a:xfrm>
            <a:off x="4444722" y="4711541"/>
            <a:ext cx="13929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0.2019 m/s</a:t>
            </a:r>
            <a:endParaRPr b="0" i="0" sz="1300" u="none" cap="none" strike="noStrike"/>
          </a:p>
        </p:txBody>
      </p:sp>
      <p:sp>
        <p:nvSpPr>
          <p:cNvPr id="1375" name="Google Shape;1375;p52"/>
          <p:cNvSpPr/>
          <p:nvPr/>
        </p:nvSpPr>
        <p:spPr>
          <a:xfrm>
            <a:off x="6185178" y="4711541"/>
            <a:ext cx="14553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3.1% ↓ </a:t>
            </a:r>
            <a:r>
              <a:rPr b="0" i="0" lang="en-US" sz="13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⚪</a:t>
            </a:r>
            <a:endParaRPr b="0" i="0" sz="1300" u="none" cap="none" strike="noStrike"/>
          </a:p>
        </p:txBody>
      </p:sp>
      <p:sp>
        <p:nvSpPr>
          <p:cNvPr id="1376" name="Google Shape;1376;p52"/>
          <p:cNvSpPr/>
          <p:nvPr/>
        </p:nvSpPr>
        <p:spPr>
          <a:xfrm>
            <a:off x="7988141" y="4711541"/>
            <a:ext cx="14460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+0.28 dB</a:t>
            </a:r>
            <a:endParaRPr b="0" i="0" sz="1300" u="none" cap="none" strike="noStrike"/>
          </a:p>
        </p:txBody>
      </p:sp>
      <p:sp>
        <p:nvSpPr>
          <p:cNvPr id="1377" name="Google Shape;1377;p52"/>
          <p:cNvSpPr/>
          <p:nvPr/>
        </p:nvSpPr>
        <p:spPr>
          <a:xfrm>
            <a:off x="9781937" y="4711541"/>
            <a:ext cx="38769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LiDAR already cleaner</a:t>
            </a:r>
            <a:endParaRPr b="0" i="0" sz="1300" u="none" cap="none" strike="noStrike"/>
          </a:p>
        </p:txBody>
      </p:sp>
      <p:sp>
        <p:nvSpPr>
          <p:cNvPr id="1378" name="Google Shape;1378;p52"/>
          <p:cNvSpPr/>
          <p:nvPr/>
        </p:nvSpPr>
        <p:spPr>
          <a:xfrm>
            <a:off x="801410" y="5041344"/>
            <a:ext cx="13027500" cy="414000"/>
          </a:xfrm>
          <a:prstGeom prst="rect">
            <a:avLst/>
          </a:prstGeom>
          <a:solidFill>
            <a:srgbClr val="000000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9" name="Google Shape;1379;p52"/>
          <p:cNvSpPr/>
          <p:nvPr/>
        </p:nvSpPr>
        <p:spPr>
          <a:xfrm>
            <a:off x="971788" y="5125403"/>
            <a:ext cx="13692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LiDAR wz</a:t>
            </a:r>
            <a:endParaRPr b="0" i="0" sz="1300" u="none" cap="none" strike="noStrike"/>
          </a:p>
        </p:txBody>
      </p:sp>
      <p:sp>
        <p:nvSpPr>
          <p:cNvPr id="1380" name="Google Shape;1380;p52"/>
          <p:cNvSpPr/>
          <p:nvPr/>
        </p:nvSpPr>
        <p:spPr>
          <a:xfrm>
            <a:off x="2688669" y="5125403"/>
            <a:ext cx="14085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0.1873 rad/s</a:t>
            </a:r>
            <a:endParaRPr b="0" i="0" sz="1300" u="none" cap="none" strike="noStrike"/>
          </a:p>
        </p:txBody>
      </p:sp>
      <p:sp>
        <p:nvSpPr>
          <p:cNvPr id="1381" name="Google Shape;1381;p52"/>
          <p:cNvSpPr/>
          <p:nvPr/>
        </p:nvSpPr>
        <p:spPr>
          <a:xfrm>
            <a:off x="4444722" y="5125403"/>
            <a:ext cx="13929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0.1860 rad/s</a:t>
            </a:r>
            <a:endParaRPr b="0" i="0" sz="1300" u="none" cap="none" strike="noStrike"/>
          </a:p>
        </p:txBody>
      </p:sp>
      <p:sp>
        <p:nvSpPr>
          <p:cNvPr id="1382" name="Google Shape;1382;p52"/>
          <p:cNvSpPr/>
          <p:nvPr/>
        </p:nvSpPr>
        <p:spPr>
          <a:xfrm>
            <a:off x="6185178" y="5125403"/>
            <a:ext cx="14553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0.7% ↓ </a:t>
            </a:r>
            <a:r>
              <a:rPr b="0" i="0" lang="en-US" sz="13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⚪</a:t>
            </a:r>
            <a:endParaRPr b="0" i="0" sz="1300" u="none" cap="none" strike="noStrike"/>
          </a:p>
        </p:txBody>
      </p:sp>
      <p:sp>
        <p:nvSpPr>
          <p:cNvPr id="1383" name="Google Shape;1383;p52"/>
          <p:cNvSpPr/>
          <p:nvPr/>
        </p:nvSpPr>
        <p:spPr>
          <a:xfrm>
            <a:off x="7988141" y="5125403"/>
            <a:ext cx="14460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+0.06 dB</a:t>
            </a:r>
            <a:endParaRPr b="0" i="0" sz="1300" u="none" cap="none" strike="noStrike"/>
          </a:p>
        </p:txBody>
      </p:sp>
      <p:sp>
        <p:nvSpPr>
          <p:cNvPr id="1384" name="Google Shape;1384;p52"/>
          <p:cNvSpPr/>
          <p:nvPr/>
        </p:nvSpPr>
        <p:spPr>
          <a:xfrm>
            <a:off x="9781937" y="5125403"/>
            <a:ext cx="38769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Minimal gain</a:t>
            </a:r>
            <a:endParaRPr b="0" i="0" sz="1300" u="none" cap="none" strike="noStrike"/>
          </a:p>
        </p:txBody>
      </p:sp>
      <p:sp>
        <p:nvSpPr>
          <p:cNvPr id="1385" name="Google Shape;1385;p52"/>
          <p:cNvSpPr/>
          <p:nvPr/>
        </p:nvSpPr>
        <p:spPr>
          <a:xfrm>
            <a:off x="801410" y="5455206"/>
            <a:ext cx="13027500" cy="414000"/>
          </a:xfrm>
          <a:prstGeom prst="rect">
            <a:avLst/>
          </a:prstGeom>
          <a:solidFill>
            <a:srgbClr val="FFFFFF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6" name="Google Shape;1386;p52"/>
          <p:cNvSpPr/>
          <p:nvPr/>
        </p:nvSpPr>
        <p:spPr>
          <a:xfrm>
            <a:off x="971788" y="5539264"/>
            <a:ext cx="13692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Wheel vx</a:t>
            </a:r>
            <a:endParaRPr b="0" i="0" sz="1300" u="none" cap="none" strike="noStrike"/>
          </a:p>
        </p:txBody>
      </p:sp>
      <p:sp>
        <p:nvSpPr>
          <p:cNvPr id="1387" name="Google Shape;1387;p52"/>
          <p:cNvSpPr/>
          <p:nvPr/>
        </p:nvSpPr>
        <p:spPr>
          <a:xfrm>
            <a:off x="2688669" y="5539264"/>
            <a:ext cx="14085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0.0205 m/s</a:t>
            </a:r>
            <a:endParaRPr b="0" i="0" sz="1300" u="none" cap="none" strike="noStrike"/>
          </a:p>
        </p:txBody>
      </p:sp>
      <p:sp>
        <p:nvSpPr>
          <p:cNvPr id="1388" name="Google Shape;1388;p52"/>
          <p:cNvSpPr/>
          <p:nvPr/>
        </p:nvSpPr>
        <p:spPr>
          <a:xfrm>
            <a:off x="4444722" y="5539264"/>
            <a:ext cx="13929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0.0219 m/s</a:t>
            </a:r>
            <a:endParaRPr b="0" i="0" sz="1300" u="none" cap="none" strike="noStrike"/>
          </a:p>
        </p:txBody>
      </p:sp>
      <p:sp>
        <p:nvSpPr>
          <p:cNvPr id="1389" name="Google Shape;1389;p52"/>
          <p:cNvSpPr/>
          <p:nvPr/>
        </p:nvSpPr>
        <p:spPr>
          <a:xfrm>
            <a:off x="6185178" y="5539264"/>
            <a:ext cx="14553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−6.9% ↑ </a:t>
            </a:r>
            <a:r>
              <a:rPr b="0" i="0" lang="en-US" sz="13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🔴</a:t>
            </a:r>
            <a:endParaRPr b="0" i="0" sz="1300" u="none" cap="none" strike="noStrike"/>
          </a:p>
        </p:txBody>
      </p:sp>
      <p:sp>
        <p:nvSpPr>
          <p:cNvPr id="1390" name="Google Shape;1390;p52"/>
          <p:cNvSpPr/>
          <p:nvPr/>
        </p:nvSpPr>
        <p:spPr>
          <a:xfrm>
            <a:off x="7988141" y="5539264"/>
            <a:ext cx="14460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−0.58 dB</a:t>
            </a:r>
            <a:endParaRPr b="0" i="0" sz="1300" u="none" cap="none" strike="noStrike"/>
          </a:p>
        </p:txBody>
      </p:sp>
      <p:sp>
        <p:nvSpPr>
          <p:cNvPr id="1391" name="Google Shape;1391;p52"/>
          <p:cNvSpPr/>
          <p:nvPr/>
        </p:nvSpPr>
        <p:spPr>
          <a:xfrm>
            <a:off x="9781937" y="5539264"/>
            <a:ext cx="38769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⚠️</a:t>
            </a: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DEGRADES — use raw!</a:t>
            </a:r>
            <a:endParaRPr b="0" i="0" sz="1300" u="none" cap="none" strike="noStrike"/>
          </a:p>
        </p:txBody>
      </p:sp>
      <p:sp>
        <p:nvSpPr>
          <p:cNvPr id="1392" name="Google Shape;1392;p52"/>
          <p:cNvSpPr/>
          <p:nvPr/>
        </p:nvSpPr>
        <p:spPr>
          <a:xfrm>
            <a:off x="801410" y="5869067"/>
            <a:ext cx="13027500" cy="414000"/>
          </a:xfrm>
          <a:prstGeom prst="rect">
            <a:avLst/>
          </a:prstGeom>
          <a:solidFill>
            <a:srgbClr val="000000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3" name="Google Shape;1393;p52"/>
          <p:cNvSpPr/>
          <p:nvPr/>
        </p:nvSpPr>
        <p:spPr>
          <a:xfrm>
            <a:off x="971788" y="5953125"/>
            <a:ext cx="13692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Wheel wz</a:t>
            </a:r>
            <a:endParaRPr b="0" i="0" sz="1300" u="none" cap="none" strike="noStrike"/>
          </a:p>
        </p:txBody>
      </p:sp>
      <p:sp>
        <p:nvSpPr>
          <p:cNvPr id="1394" name="Google Shape;1394;p52"/>
          <p:cNvSpPr/>
          <p:nvPr/>
        </p:nvSpPr>
        <p:spPr>
          <a:xfrm>
            <a:off x="2688669" y="5953125"/>
            <a:ext cx="14085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0.0253 rad/s</a:t>
            </a:r>
            <a:endParaRPr b="0" i="0" sz="1300" u="none" cap="none" strike="noStrike"/>
          </a:p>
        </p:txBody>
      </p:sp>
      <p:sp>
        <p:nvSpPr>
          <p:cNvPr id="1395" name="Google Shape;1395;p52"/>
          <p:cNvSpPr/>
          <p:nvPr/>
        </p:nvSpPr>
        <p:spPr>
          <a:xfrm>
            <a:off x="4444722" y="5953125"/>
            <a:ext cx="13929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0.0251 rad/s</a:t>
            </a:r>
            <a:endParaRPr b="0" i="0" sz="1300" u="none" cap="none" strike="noStrike"/>
          </a:p>
        </p:txBody>
      </p:sp>
      <p:sp>
        <p:nvSpPr>
          <p:cNvPr id="1396" name="Google Shape;1396;p52"/>
          <p:cNvSpPr/>
          <p:nvPr/>
        </p:nvSpPr>
        <p:spPr>
          <a:xfrm>
            <a:off x="6185178" y="5953125"/>
            <a:ext cx="14553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0.8% ↓ </a:t>
            </a:r>
            <a:r>
              <a:rPr b="0" i="0" lang="en-US" sz="13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⚪</a:t>
            </a:r>
            <a:endParaRPr b="0" i="0" sz="1300" u="none" cap="none" strike="noStrike"/>
          </a:p>
        </p:txBody>
      </p:sp>
      <p:sp>
        <p:nvSpPr>
          <p:cNvPr id="1397" name="Google Shape;1397;p52"/>
          <p:cNvSpPr/>
          <p:nvPr/>
        </p:nvSpPr>
        <p:spPr>
          <a:xfrm>
            <a:off x="7988141" y="5953125"/>
            <a:ext cx="14460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+0.07 dB</a:t>
            </a:r>
            <a:endParaRPr b="0" i="0" sz="1300" u="none" cap="none" strike="noStrike"/>
          </a:p>
        </p:txBody>
      </p:sp>
      <p:sp>
        <p:nvSpPr>
          <p:cNvPr id="1398" name="Google Shape;1398;p52"/>
          <p:cNvSpPr/>
          <p:nvPr/>
        </p:nvSpPr>
        <p:spPr>
          <a:xfrm>
            <a:off x="9781937" y="5953125"/>
            <a:ext cx="38769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Negligible</a:t>
            </a:r>
            <a:endParaRPr b="0" i="0" sz="1300" u="none" cap="none" strike="noStrike"/>
          </a:p>
        </p:txBody>
      </p:sp>
      <p:sp>
        <p:nvSpPr>
          <p:cNvPr id="1399" name="Google Shape;1399;p52"/>
          <p:cNvSpPr/>
          <p:nvPr/>
        </p:nvSpPr>
        <p:spPr>
          <a:xfrm>
            <a:off x="793790" y="6434018"/>
            <a:ext cx="13042800" cy="846000"/>
          </a:xfrm>
          <a:prstGeom prst="roundRect">
            <a:avLst>
              <a:gd fmla="val 8445" name="adj"/>
            </a:avLst>
          </a:prstGeom>
          <a:solidFill>
            <a:srgbClr val="B3E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00" name="Google Shape;1400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3811" y="6680597"/>
            <a:ext cx="212646" cy="170021"/>
          </a:xfrm>
          <a:prstGeom prst="rect">
            <a:avLst/>
          </a:prstGeom>
          <a:noFill/>
          <a:ln>
            <a:noFill/>
          </a:ln>
        </p:spPr>
      </p:pic>
      <p:sp>
        <p:nvSpPr>
          <p:cNvPr id="1401" name="Google Shape;1401;p52"/>
          <p:cNvSpPr/>
          <p:nvPr/>
        </p:nvSpPr>
        <p:spPr>
          <a:xfrm>
            <a:off x="1346478" y="6604040"/>
            <a:ext cx="123201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Phase Lag Confirmed:</a:t>
            </a:r>
            <a:r>
              <a:rPr b="0" i="0" lang="en-US" sz="13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Cross-correlation between raw and filtered signals showed peak lag = 0–2 samples across ALL channels. RQNN zero-lag property holds in practice. Classical Butterworth (order 4, 45% Nyquist) introduces </a:t>
            </a:r>
            <a:r>
              <a:rPr b="1" i="0" lang="en-US" sz="13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8–12 sample lag</a:t>
            </a:r>
            <a:r>
              <a:rPr b="0" i="0" lang="en-US" sz="13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by comparison.</a:t>
            </a:r>
            <a:endParaRPr b="0" i="0" sz="1300" u="none" cap="none" strike="noStrike"/>
          </a:p>
        </p:txBody>
      </p:sp>
      <p:sp>
        <p:nvSpPr>
          <p:cNvPr id="1402" name="Google Shape;1402;p52"/>
          <p:cNvSpPr/>
          <p:nvPr/>
        </p:nvSpPr>
        <p:spPr>
          <a:xfrm>
            <a:off x="12845075" y="7780725"/>
            <a:ext cx="1680600" cy="356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40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7" name="Shape 1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8" name="Google Shape;1408;p53"/>
          <p:cNvSpPr/>
          <p:nvPr/>
        </p:nvSpPr>
        <p:spPr>
          <a:xfrm>
            <a:off x="793790" y="1102876"/>
            <a:ext cx="77250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5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50"/>
              <a:buFont typeface="Petrona"/>
              <a:buNone/>
            </a:pPr>
            <a:r>
              <a:rPr b="1" i="0" lang="en-US" sz="325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RQNN vs Classical Filters — Comparison</a:t>
            </a:r>
            <a:endParaRPr b="0" i="0" sz="3250" u="none" cap="none" strike="noStrike"/>
          </a:p>
        </p:txBody>
      </p:sp>
      <p:sp>
        <p:nvSpPr>
          <p:cNvPr id="1409" name="Google Shape;1409;p53"/>
          <p:cNvSpPr/>
          <p:nvPr/>
        </p:nvSpPr>
        <p:spPr>
          <a:xfrm>
            <a:off x="793790" y="1846183"/>
            <a:ext cx="130428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6 filters evaluated: Butterworth, Moving Average, Savitzky-Golay, Median, RQNN-default, RQNN-PSO</a:t>
            </a:r>
            <a:endParaRPr b="0" i="0" sz="1250" u="none" cap="none" strike="noStrike"/>
          </a:p>
        </p:txBody>
      </p:sp>
      <p:sp>
        <p:nvSpPr>
          <p:cNvPr id="1410" name="Google Shape;1410;p53"/>
          <p:cNvSpPr/>
          <p:nvPr/>
        </p:nvSpPr>
        <p:spPr>
          <a:xfrm>
            <a:off x="793790" y="2187178"/>
            <a:ext cx="13042800" cy="2567100"/>
          </a:xfrm>
          <a:prstGeom prst="roundRect">
            <a:avLst>
              <a:gd fmla="val 2598" name="adj"/>
            </a:avLst>
          </a:prstGeom>
          <a:noFill/>
          <a:ln cap="flat" cmpd="sng" w="9525">
            <a:solidFill>
              <a:srgbClr val="000000">
                <a:alpha val="784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1" name="Google Shape;1411;p53"/>
          <p:cNvSpPr/>
          <p:nvPr/>
        </p:nvSpPr>
        <p:spPr>
          <a:xfrm>
            <a:off x="801410" y="2194798"/>
            <a:ext cx="13027500" cy="364500"/>
          </a:xfrm>
          <a:prstGeom prst="rect">
            <a:avLst/>
          </a:prstGeom>
          <a:solidFill>
            <a:srgbClr val="FFFFFF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2" name="Google Shape;1412;p53"/>
          <p:cNvSpPr/>
          <p:nvPr/>
        </p:nvSpPr>
        <p:spPr>
          <a:xfrm>
            <a:off x="960239" y="2269093"/>
            <a:ext cx="17526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1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Filter</a:t>
            </a:r>
            <a:endParaRPr b="0" i="0" sz="1250" u="none" cap="none" strike="noStrike"/>
          </a:p>
        </p:txBody>
      </p:sp>
      <p:sp>
        <p:nvSpPr>
          <p:cNvPr id="1413" name="Google Shape;1413;p53"/>
          <p:cNvSpPr/>
          <p:nvPr/>
        </p:nvSpPr>
        <p:spPr>
          <a:xfrm>
            <a:off x="3037999" y="2269093"/>
            <a:ext cx="12408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1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Type</a:t>
            </a:r>
            <a:endParaRPr b="0" i="0" sz="1250" u="none" cap="none" strike="noStrike"/>
          </a:p>
        </p:txBody>
      </p:sp>
      <p:sp>
        <p:nvSpPr>
          <p:cNvPr id="1414" name="Google Shape;1414;p53"/>
          <p:cNvSpPr/>
          <p:nvPr/>
        </p:nvSpPr>
        <p:spPr>
          <a:xfrm>
            <a:off x="4603909" y="2269093"/>
            <a:ext cx="15534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1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Phase Lag</a:t>
            </a:r>
            <a:endParaRPr b="0" i="0" sz="1250" u="none" cap="none" strike="noStrike"/>
          </a:p>
        </p:txBody>
      </p:sp>
      <p:sp>
        <p:nvSpPr>
          <p:cNvPr id="1415" name="Google Shape;1415;p53"/>
          <p:cNvSpPr/>
          <p:nvPr/>
        </p:nvSpPr>
        <p:spPr>
          <a:xfrm>
            <a:off x="6482477" y="2269093"/>
            <a:ext cx="16863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1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IMU Accel X RMSE</a:t>
            </a:r>
            <a:endParaRPr b="0" i="0" sz="1250" u="none" cap="none" strike="noStrike"/>
          </a:p>
        </p:txBody>
      </p:sp>
      <p:sp>
        <p:nvSpPr>
          <p:cNvPr id="1416" name="Google Shape;1416;p53"/>
          <p:cNvSpPr/>
          <p:nvPr/>
        </p:nvSpPr>
        <p:spPr>
          <a:xfrm>
            <a:off x="8493919" y="2269093"/>
            <a:ext cx="16863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1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Visual vx RMSE</a:t>
            </a:r>
            <a:endParaRPr b="0" i="0" sz="1250" u="none" cap="none" strike="noStrike"/>
          </a:p>
        </p:txBody>
      </p:sp>
      <p:sp>
        <p:nvSpPr>
          <p:cNvPr id="1417" name="Google Shape;1417;p53"/>
          <p:cNvSpPr/>
          <p:nvPr/>
        </p:nvSpPr>
        <p:spPr>
          <a:xfrm>
            <a:off x="10505361" y="2269093"/>
            <a:ext cx="14181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1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Real-time?</a:t>
            </a:r>
            <a:endParaRPr b="0" i="0" sz="1250" u="none" cap="none" strike="noStrike"/>
          </a:p>
        </p:txBody>
      </p:sp>
      <p:sp>
        <p:nvSpPr>
          <p:cNvPr id="1418" name="Google Shape;1418;p53"/>
          <p:cNvSpPr/>
          <p:nvPr/>
        </p:nvSpPr>
        <p:spPr>
          <a:xfrm>
            <a:off x="12248436" y="2269093"/>
            <a:ext cx="14217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1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Adaptive?</a:t>
            </a:r>
            <a:endParaRPr b="0" i="0" sz="1250" u="none" cap="none" strike="noStrike"/>
          </a:p>
        </p:txBody>
      </p:sp>
      <p:sp>
        <p:nvSpPr>
          <p:cNvPr id="1419" name="Google Shape;1419;p53"/>
          <p:cNvSpPr/>
          <p:nvPr/>
        </p:nvSpPr>
        <p:spPr>
          <a:xfrm>
            <a:off x="801410" y="2559368"/>
            <a:ext cx="13027500" cy="364500"/>
          </a:xfrm>
          <a:prstGeom prst="rect">
            <a:avLst/>
          </a:prstGeom>
          <a:solidFill>
            <a:srgbClr val="000000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0" name="Google Shape;1420;p53"/>
          <p:cNvSpPr/>
          <p:nvPr/>
        </p:nvSpPr>
        <p:spPr>
          <a:xfrm>
            <a:off x="960239" y="2633663"/>
            <a:ext cx="17526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Butterworth LP</a:t>
            </a:r>
            <a:endParaRPr b="0" i="0" sz="1250" u="none" cap="none" strike="noStrike"/>
          </a:p>
        </p:txBody>
      </p:sp>
      <p:sp>
        <p:nvSpPr>
          <p:cNvPr id="1421" name="Google Shape;1421;p53"/>
          <p:cNvSpPr/>
          <p:nvPr/>
        </p:nvSpPr>
        <p:spPr>
          <a:xfrm>
            <a:off x="3037999" y="2633663"/>
            <a:ext cx="12408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Classical</a:t>
            </a:r>
            <a:endParaRPr b="0" i="0" sz="1250" u="none" cap="none" strike="noStrike"/>
          </a:p>
        </p:txBody>
      </p:sp>
      <p:sp>
        <p:nvSpPr>
          <p:cNvPr id="1422" name="Google Shape;1422;p53"/>
          <p:cNvSpPr/>
          <p:nvPr/>
        </p:nvSpPr>
        <p:spPr>
          <a:xfrm>
            <a:off x="4603909" y="2633663"/>
            <a:ext cx="15534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8–12 samples </a:t>
            </a:r>
            <a:r>
              <a:rPr b="0" i="0" lang="en-US" sz="12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❌</a:t>
            </a:r>
            <a:endParaRPr b="0" i="0" sz="1250" u="none" cap="none" strike="noStrike"/>
          </a:p>
        </p:txBody>
      </p:sp>
      <p:sp>
        <p:nvSpPr>
          <p:cNvPr id="1423" name="Google Shape;1423;p53"/>
          <p:cNvSpPr/>
          <p:nvPr/>
        </p:nvSpPr>
        <p:spPr>
          <a:xfrm>
            <a:off x="6482477" y="2633663"/>
            <a:ext cx="16863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Moderate</a:t>
            </a:r>
            <a:endParaRPr b="0" i="0" sz="1250" u="none" cap="none" strike="noStrike"/>
          </a:p>
        </p:txBody>
      </p:sp>
      <p:sp>
        <p:nvSpPr>
          <p:cNvPr id="1424" name="Google Shape;1424;p53"/>
          <p:cNvSpPr/>
          <p:nvPr/>
        </p:nvSpPr>
        <p:spPr>
          <a:xfrm>
            <a:off x="8493919" y="2633663"/>
            <a:ext cx="16863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Moderate</a:t>
            </a:r>
            <a:endParaRPr b="0" i="0" sz="1250" u="none" cap="none" strike="noStrike"/>
          </a:p>
        </p:txBody>
      </p:sp>
      <p:sp>
        <p:nvSpPr>
          <p:cNvPr id="1425" name="Google Shape;1425;p53"/>
          <p:cNvSpPr/>
          <p:nvPr/>
        </p:nvSpPr>
        <p:spPr>
          <a:xfrm>
            <a:off x="10505361" y="2633663"/>
            <a:ext cx="14181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✅</a:t>
            </a: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Yes</a:t>
            </a:r>
            <a:endParaRPr b="0" i="0" sz="1250" u="none" cap="none" strike="noStrike"/>
          </a:p>
        </p:txBody>
      </p:sp>
      <p:sp>
        <p:nvSpPr>
          <p:cNvPr id="1426" name="Google Shape;1426;p53"/>
          <p:cNvSpPr/>
          <p:nvPr/>
        </p:nvSpPr>
        <p:spPr>
          <a:xfrm>
            <a:off x="12248436" y="2633663"/>
            <a:ext cx="14217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❌</a:t>
            </a: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Fixed cutoff</a:t>
            </a:r>
            <a:endParaRPr b="0" i="0" sz="1250" u="none" cap="none" strike="noStrike"/>
          </a:p>
        </p:txBody>
      </p:sp>
      <p:sp>
        <p:nvSpPr>
          <p:cNvPr id="1427" name="Google Shape;1427;p53"/>
          <p:cNvSpPr/>
          <p:nvPr/>
        </p:nvSpPr>
        <p:spPr>
          <a:xfrm>
            <a:off x="801410" y="2923937"/>
            <a:ext cx="13027500" cy="364500"/>
          </a:xfrm>
          <a:prstGeom prst="rect">
            <a:avLst/>
          </a:prstGeom>
          <a:solidFill>
            <a:srgbClr val="FFFFFF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8" name="Google Shape;1428;p53"/>
          <p:cNvSpPr/>
          <p:nvPr/>
        </p:nvSpPr>
        <p:spPr>
          <a:xfrm>
            <a:off x="960239" y="2998232"/>
            <a:ext cx="17526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Moving Average</a:t>
            </a:r>
            <a:endParaRPr b="0" i="0" sz="1250" u="none" cap="none" strike="noStrike"/>
          </a:p>
        </p:txBody>
      </p:sp>
      <p:sp>
        <p:nvSpPr>
          <p:cNvPr id="1429" name="Google Shape;1429;p53"/>
          <p:cNvSpPr/>
          <p:nvPr/>
        </p:nvSpPr>
        <p:spPr>
          <a:xfrm>
            <a:off x="3037999" y="2998232"/>
            <a:ext cx="12408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Classical</a:t>
            </a:r>
            <a:endParaRPr b="0" i="0" sz="1250" u="none" cap="none" strike="noStrike"/>
          </a:p>
        </p:txBody>
      </p:sp>
      <p:sp>
        <p:nvSpPr>
          <p:cNvPr id="1430" name="Google Shape;1430;p53"/>
          <p:cNvSpPr/>
          <p:nvPr/>
        </p:nvSpPr>
        <p:spPr>
          <a:xfrm>
            <a:off x="4603909" y="2998232"/>
            <a:ext cx="15534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N/2 samples </a:t>
            </a:r>
            <a:r>
              <a:rPr b="0" i="0" lang="en-US" sz="12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❌</a:t>
            </a:r>
            <a:endParaRPr b="0" i="0" sz="1250" u="none" cap="none" strike="noStrike"/>
          </a:p>
        </p:txBody>
      </p:sp>
      <p:sp>
        <p:nvSpPr>
          <p:cNvPr id="1431" name="Google Shape;1431;p53"/>
          <p:cNvSpPr/>
          <p:nvPr/>
        </p:nvSpPr>
        <p:spPr>
          <a:xfrm>
            <a:off x="6482477" y="2998232"/>
            <a:ext cx="16863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High</a:t>
            </a:r>
            <a:endParaRPr b="0" i="0" sz="1250" u="none" cap="none" strike="noStrike"/>
          </a:p>
        </p:txBody>
      </p:sp>
      <p:sp>
        <p:nvSpPr>
          <p:cNvPr id="1432" name="Google Shape;1432;p53"/>
          <p:cNvSpPr/>
          <p:nvPr/>
        </p:nvSpPr>
        <p:spPr>
          <a:xfrm>
            <a:off x="8493919" y="2998232"/>
            <a:ext cx="16863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High</a:t>
            </a:r>
            <a:endParaRPr b="0" i="0" sz="1250" u="none" cap="none" strike="noStrike"/>
          </a:p>
        </p:txBody>
      </p:sp>
      <p:sp>
        <p:nvSpPr>
          <p:cNvPr id="1433" name="Google Shape;1433;p53"/>
          <p:cNvSpPr/>
          <p:nvPr/>
        </p:nvSpPr>
        <p:spPr>
          <a:xfrm>
            <a:off x="10505361" y="2998232"/>
            <a:ext cx="14181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✅</a:t>
            </a: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Yes</a:t>
            </a:r>
            <a:endParaRPr b="0" i="0" sz="1250" u="none" cap="none" strike="noStrike"/>
          </a:p>
        </p:txBody>
      </p:sp>
      <p:sp>
        <p:nvSpPr>
          <p:cNvPr id="1434" name="Google Shape;1434;p53"/>
          <p:cNvSpPr/>
          <p:nvPr/>
        </p:nvSpPr>
        <p:spPr>
          <a:xfrm>
            <a:off x="12248436" y="2998232"/>
            <a:ext cx="14217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❌</a:t>
            </a: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Window fixed</a:t>
            </a:r>
            <a:endParaRPr b="0" i="0" sz="1250" u="none" cap="none" strike="noStrike"/>
          </a:p>
        </p:txBody>
      </p:sp>
      <p:sp>
        <p:nvSpPr>
          <p:cNvPr id="1435" name="Google Shape;1435;p53"/>
          <p:cNvSpPr/>
          <p:nvPr/>
        </p:nvSpPr>
        <p:spPr>
          <a:xfrm>
            <a:off x="801410" y="3288506"/>
            <a:ext cx="13027500" cy="364500"/>
          </a:xfrm>
          <a:prstGeom prst="rect">
            <a:avLst/>
          </a:prstGeom>
          <a:solidFill>
            <a:srgbClr val="000000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6" name="Google Shape;1436;p53"/>
          <p:cNvSpPr/>
          <p:nvPr/>
        </p:nvSpPr>
        <p:spPr>
          <a:xfrm>
            <a:off x="960239" y="3362801"/>
            <a:ext cx="17526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Savitzky-Golay</a:t>
            </a:r>
            <a:endParaRPr b="0" i="0" sz="1250" u="none" cap="none" strike="noStrike"/>
          </a:p>
        </p:txBody>
      </p:sp>
      <p:sp>
        <p:nvSpPr>
          <p:cNvPr id="1437" name="Google Shape;1437;p53"/>
          <p:cNvSpPr/>
          <p:nvPr/>
        </p:nvSpPr>
        <p:spPr>
          <a:xfrm>
            <a:off x="3037999" y="3362801"/>
            <a:ext cx="12408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Classical</a:t>
            </a:r>
            <a:endParaRPr b="0" i="0" sz="1250" u="none" cap="none" strike="noStrike"/>
          </a:p>
        </p:txBody>
      </p:sp>
      <p:sp>
        <p:nvSpPr>
          <p:cNvPr id="1438" name="Google Shape;1438;p53"/>
          <p:cNvSpPr/>
          <p:nvPr/>
        </p:nvSpPr>
        <p:spPr>
          <a:xfrm>
            <a:off x="4603909" y="3362801"/>
            <a:ext cx="15534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W/2 samples </a:t>
            </a:r>
            <a:r>
              <a:rPr b="0" i="0" lang="en-US" sz="12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❌</a:t>
            </a:r>
            <a:endParaRPr b="0" i="0" sz="1250" u="none" cap="none" strike="noStrike"/>
          </a:p>
        </p:txBody>
      </p:sp>
      <p:sp>
        <p:nvSpPr>
          <p:cNvPr id="1439" name="Google Shape;1439;p53"/>
          <p:cNvSpPr/>
          <p:nvPr/>
        </p:nvSpPr>
        <p:spPr>
          <a:xfrm>
            <a:off x="6482477" y="3362801"/>
            <a:ext cx="16863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Low-Med</a:t>
            </a:r>
            <a:endParaRPr b="0" i="0" sz="1250" u="none" cap="none" strike="noStrike"/>
          </a:p>
        </p:txBody>
      </p:sp>
      <p:sp>
        <p:nvSpPr>
          <p:cNvPr id="1440" name="Google Shape;1440;p53"/>
          <p:cNvSpPr/>
          <p:nvPr/>
        </p:nvSpPr>
        <p:spPr>
          <a:xfrm>
            <a:off x="8493919" y="3362801"/>
            <a:ext cx="16863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Low-Med</a:t>
            </a:r>
            <a:endParaRPr b="0" i="0" sz="1250" u="none" cap="none" strike="noStrike"/>
          </a:p>
        </p:txBody>
      </p:sp>
      <p:sp>
        <p:nvSpPr>
          <p:cNvPr id="1441" name="Google Shape;1441;p53"/>
          <p:cNvSpPr/>
          <p:nvPr/>
        </p:nvSpPr>
        <p:spPr>
          <a:xfrm>
            <a:off x="10505361" y="3362801"/>
            <a:ext cx="14181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✅</a:t>
            </a: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Yes</a:t>
            </a:r>
            <a:endParaRPr b="0" i="0" sz="1250" u="none" cap="none" strike="noStrike"/>
          </a:p>
        </p:txBody>
      </p:sp>
      <p:sp>
        <p:nvSpPr>
          <p:cNvPr id="1442" name="Google Shape;1442;p53"/>
          <p:cNvSpPr/>
          <p:nvPr/>
        </p:nvSpPr>
        <p:spPr>
          <a:xfrm>
            <a:off x="12248436" y="3362801"/>
            <a:ext cx="14217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❌</a:t>
            </a: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Global tuned</a:t>
            </a:r>
            <a:endParaRPr b="0" i="0" sz="1250" u="none" cap="none" strike="noStrike"/>
          </a:p>
        </p:txBody>
      </p:sp>
      <p:sp>
        <p:nvSpPr>
          <p:cNvPr id="1443" name="Google Shape;1443;p53"/>
          <p:cNvSpPr/>
          <p:nvPr/>
        </p:nvSpPr>
        <p:spPr>
          <a:xfrm>
            <a:off x="801410" y="3653076"/>
            <a:ext cx="13027500" cy="364500"/>
          </a:xfrm>
          <a:prstGeom prst="rect">
            <a:avLst/>
          </a:prstGeom>
          <a:solidFill>
            <a:srgbClr val="FFFFFF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4" name="Google Shape;1444;p53"/>
          <p:cNvSpPr/>
          <p:nvPr/>
        </p:nvSpPr>
        <p:spPr>
          <a:xfrm>
            <a:off x="960239" y="3727371"/>
            <a:ext cx="17526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Median Filter</a:t>
            </a:r>
            <a:endParaRPr b="0" i="0" sz="1250" u="none" cap="none" strike="noStrike"/>
          </a:p>
        </p:txBody>
      </p:sp>
      <p:sp>
        <p:nvSpPr>
          <p:cNvPr id="1445" name="Google Shape;1445;p53"/>
          <p:cNvSpPr/>
          <p:nvPr/>
        </p:nvSpPr>
        <p:spPr>
          <a:xfrm>
            <a:off x="3037999" y="3727371"/>
            <a:ext cx="12408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Classical</a:t>
            </a:r>
            <a:endParaRPr b="0" i="0" sz="1250" u="none" cap="none" strike="noStrike"/>
          </a:p>
        </p:txBody>
      </p:sp>
      <p:sp>
        <p:nvSpPr>
          <p:cNvPr id="1446" name="Google Shape;1446;p53"/>
          <p:cNvSpPr/>
          <p:nvPr/>
        </p:nvSpPr>
        <p:spPr>
          <a:xfrm>
            <a:off x="4603909" y="3727371"/>
            <a:ext cx="15534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W/2 samples </a:t>
            </a:r>
            <a:r>
              <a:rPr b="0" i="0" lang="en-US" sz="12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❌</a:t>
            </a:r>
            <a:endParaRPr b="0" i="0" sz="1250" u="none" cap="none" strike="noStrike"/>
          </a:p>
        </p:txBody>
      </p:sp>
      <p:sp>
        <p:nvSpPr>
          <p:cNvPr id="1447" name="Google Shape;1447;p53"/>
          <p:cNvSpPr/>
          <p:nvPr/>
        </p:nvSpPr>
        <p:spPr>
          <a:xfrm>
            <a:off x="6482477" y="3727371"/>
            <a:ext cx="16863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Low</a:t>
            </a:r>
            <a:endParaRPr b="0" i="0" sz="1250" u="none" cap="none" strike="noStrike"/>
          </a:p>
        </p:txBody>
      </p:sp>
      <p:sp>
        <p:nvSpPr>
          <p:cNvPr id="1448" name="Google Shape;1448;p53"/>
          <p:cNvSpPr/>
          <p:nvPr/>
        </p:nvSpPr>
        <p:spPr>
          <a:xfrm>
            <a:off x="8493919" y="3727371"/>
            <a:ext cx="16863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Low-Med</a:t>
            </a:r>
            <a:endParaRPr b="0" i="0" sz="1250" u="none" cap="none" strike="noStrike"/>
          </a:p>
        </p:txBody>
      </p:sp>
      <p:sp>
        <p:nvSpPr>
          <p:cNvPr id="1449" name="Google Shape;1449;p53"/>
          <p:cNvSpPr/>
          <p:nvPr/>
        </p:nvSpPr>
        <p:spPr>
          <a:xfrm>
            <a:off x="10505361" y="3727371"/>
            <a:ext cx="14181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✅</a:t>
            </a: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Yes</a:t>
            </a:r>
            <a:endParaRPr b="0" i="0" sz="1250" u="none" cap="none" strike="noStrike"/>
          </a:p>
        </p:txBody>
      </p:sp>
      <p:sp>
        <p:nvSpPr>
          <p:cNvPr id="1450" name="Google Shape;1450;p53"/>
          <p:cNvSpPr/>
          <p:nvPr/>
        </p:nvSpPr>
        <p:spPr>
          <a:xfrm>
            <a:off x="12248436" y="3727371"/>
            <a:ext cx="14217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❌</a:t>
            </a: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No learn</a:t>
            </a:r>
            <a:endParaRPr b="0" i="0" sz="1250" u="none" cap="none" strike="noStrike"/>
          </a:p>
        </p:txBody>
      </p:sp>
      <p:sp>
        <p:nvSpPr>
          <p:cNvPr id="1451" name="Google Shape;1451;p53"/>
          <p:cNvSpPr/>
          <p:nvPr/>
        </p:nvSpPr>
        <p:spPr>
          <a:xfrm>
            <a:off x="801410" y="4017645"/>
            <a:ext cx="13027500" cy="364500"/>
          </a:xfrm>
          <a:prstGeom prst="rect">
            <a:avLst/>
          </a:prstGeom>
          <a:solidFill>
            <a:srgbClr val="000000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2" name="Google Shape;1452;p53"/>
          <p:cNvSpPr/>
          <p:nvPr/>
        </p:nvSpPr>
        <p:spPr>
          <a:xfrm>
            <a:off x="960239" y="4091940"/>
            <a:ext cx="17526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RQNN (default)</a:t>
            </a:r>
            <a:endParaRPr b="0" i="0" sz="1250" u="none" cap="none" strike="noStrike"/>
          </a:p>
        </p:txBody>
      </p:sp>
      <p:sp>
        <p:nvSpPr>
          <p:cNvPr id="1453" name="Google Shape;1453;p53"/>
          <p:cNvSpPr/>
          <p:nvPr/>
        </p:nvSpPr>
        <p:spPr>
          <a:xfrm>
            <a:off x="3037999" y="4091940"/>
            <a:ext cx="12408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Quantum</a:t>
            </a:r>
            <a:endParaRPr b="0" i="0" sz="1250" u="none" cap="none" strike="noStrike"/>
          </a:p>
        </p:txBody>
      </p:sp>
      <p:sp>
        <p:nvSpPr>
          <p:cNvPr id="1454" name="Google Shape;1454;p53"/>
          <p:cNvSpPr/>
          <p:nvPr/>
        </p:nvSpPr>
        <p:spPr>
          <a:xfrm>
            <a:off x="4603909" y="4091940"/>
            <a:ext cx="15534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0–1 sample </a:t>
            </a:r>
            <a:r>
              <a:rPr b="0" i="0" lang="en-US" sz="12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✅</a:t>
            </a:r>
            <a:endParaRPr b="0" i="0" sz="1250" u="none" cap="none" strike="noStrike"/>
          </a:p>
        </p:txBody>
      </p:sp>
      <p:sp>
        <p:nvSpPr>
          <p:cNvPr id="1455" name="Google Shape;1455;p53"/>
          <p:cNvSpPr/>
          <p:nvPr/>
        </p:nvSpPr>
        <p:spPr>
          <a:xfrm>
            <a:off x="6482477" y="4091940"/>
            <a:ext cx="16863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Low</a:t>
            </a:r>
            <a:endParaRPr b="0" i="0" sz="1250" u="none" cap="none" strike="noStrike"/>
          </a:p>
        </p:txBody>
      </p:sp>
      <p:sp>
        <p:nvSpPr>
          <p:cNvPr id="1456" name="Google Shape;1456;p53"/>
          <p:cNvSpPr/>
          <p:nvPr/>
        </p:nvSpPr>
        <p:spPr>
          <a:xfrm>
            <a:off x="8493919" y="4091940"/>
            <a:ext cx="16863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Low</a:t>
            </a:r>
            <a:endParaRPr b="0" i="0" sz="1250" u="none" cap="none" strike="noStrike"/>
          </a:p>
        </p:txBody>
      </p:sp>
      <p:sp>
        <p:nvSpPr>
          <p:cNvPr id="1457" name="Google Shape;1457;p53"/>
          <p:cNvSpPr/>
          <p:nvPr/>
        </p:nvSpPr>
        <p:spPr>
          <a:xfrm>
            <a:off x="10505361" y="4091940"/>
            <a:ext cx="14181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✅</a:t>
            </a: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Yes</a:t>
            </a:r>
            <a:endParaRPr b="0" i="0" sz="1250" u="none" cap="none" strike="noStrike"/>
          </a:p>
        </p:txBody>
      </p:sp>
      <p:sp>
        <p:nvSpPr>
          <p:cNvPr id="1458" name="Google Shape;1458;p53"/>
          <p:cNvSpPr/>
          <p:nvPr/>
        </p:nvSpPr>
        <p:spPr>
          <a:xfrm>
            <a:off x="12248436" y="4091940"/>
            <a:ext cx="14217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✅</a:t>
            </a: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Hebbian</a:t>
            </a:r>
            <a:endParaRPr b="0" i="0" sz="1250" u="none" cap="none" strike="noStrike"/>
          </a:p>
        </p:txBody>
      </p:sp>
      <p:sp>
        <p:nvSpPr>
          <p:cNvPr id="1459" name="Google Shape;1459;p53"/>
          <p:cNvSpPr/>
          <p:nvPr/>
        </p:nvSpPr>
        <p:spPr>
          <a:xfrm>
            <a:off x="801410" y="4382214"/>
            <a:ext cx="13027500" cy="364500"/>
          </a:xfrm>
          <a:prstGeom prst="rect">
            <a:avLst/>
          </a:prstGeom>
          <a:solidFill>
            <a:srgbClr val="FFFFFF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0" name="Google Shape;1460;p53"/>
          <p:cNvSpPr/>
          <p:nvPr/>
        </p:nvSpPr>
        <p:spPr>
          <a:xfrm>
            <a:off x="960239" y="4456509"/>
            <a:ext cx="17526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1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RQNN (PSO-tuned)</a:t>
            </a:r>
            <a:endParaRPr b="0" i="0" sz="1250" u="none" cap="none" strike="noStrike"/>
          </a:p>
        </p:txBody>
      </p:sp>
      <p:sp>
        <p:nvSpPr>
          <p:cNvPr id="1461" name="Google Shape;1461;p53"/>
          <p:cNvSpPr/>
          <p:nvPr/>
        </p:nvSpPr>
        <p:spPr>
          <a:xfrm>
            <a:off x="3037999" y="4456509"/>
            <a:ext cx="12408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1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Quantum</a:t>
            </a:r>
            <a:endParaRPr b="0" i="0" sz="1250" u="none" cap="none" strike="noStrike"/>
          </a:p>
        </p:txBody>
      </p:sp>
      <p:sp>
        <p:nvSpPr>
          <p:cNvPr id="1462" name="Google Shape;1462;p53"/>
          <p:cNvSpPr/>
          <p:nvPr/>
        </p:nvSpPr>
        <p:spPr>
          <a:xfrm>
            <a:off x="4603909" y="4456509"/>
            <a:ext cx="15534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1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0–1 sample </a:t>
            </a:r>
            <a:r>
              <a:rPr b="0" i="0" lang="en-US" sz="12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✅</a:t>
            </a:r>
            <a:endParaRPr b="0" i="0" sz="1250" u="none" cap="none" strike="noStrike"/>
          </a:p>
        </p:txBody>
      </p:sp>
      <p:sp>
        <p:nvSpPr>
          <p:cNvPr id="1463" name="Google Shape;1463;p53"/>
          <p:cNvSpPr/>
          <p:nvPr/>
        </p:nvSpPr>
        <p:spPr>
          <a:xfrm>
            <a:off x="6482477" y="4456509"/>
            <a:ext cx="16863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1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Lowest</a:t>
            </a:r>
            <a:endParaRPr b="0" i="0" sz="1250" u="none" cap="none" strike="noStrike"/>
          </a:p>
        </p:txBody>
      </p:sp>
      <p:sp>
        <p:nvSpPr>
          <p:cNvPr id="1464" name="Google Shape;1464;p53"/>
          <p:cNvSpPr/>
          <p:nvPr/>
        </p:nvSpPr>
        <p:spPr>
          <a:xfrm>
            <a:off x="8493919" y="4456509"/>
            <a:ext cx="16863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1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Lowest</a:t>
            </a:r>
            <a:endParaRPr b="0" i="0" sz="1250" u="none" cap="none" strike="noStrike"/>
          </a:p>
        </p:txBody>
      </p:sp>
      <p:sp>
        <p:nvSpPr>
          <p:cNvPr id="1465" name="Google Shape;1465;p53"/>
          <p:cNvSpPr/>
          <p:nvPr/>
        </p:nvSpPr>
        <p:spPr>
          <a:xfrm>
            <a:off x="10505361" y="4456509"/>
            <a:ext cx="14181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✅</a:t>
            </a:r>
            <a:r>
              <a:rPr b="1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Yes</a:t>
            </a:r>
            <a:endParaRPr b="0" i="0" sz="1250" u="none" cap="none" strike="noStrike"/>
          </a:p>
        </p:txBody>
      </p:sp>
      <p:sp>
        <p:nvSpPr>
          <p:cNvPr id="1466" name="Google Shape;1466;p53"/>
          <p:cNvSpPr/>
          <p:nvPr/>
        </p:nvSpPr>
        <p:spPr>
          <a:xfrm>
            <a:off x="12248436" y="4456509"/>
            <a:ext cx="14217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✅</a:t>
            </a:r>
            <a:r>
              <a:rPr b="1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PSO+Hebbian</a:t>
            </a:r>
            <a:endParaRPr b="0" i="0" sz="1250" u="none" cap="none" strike="noStrike"/>
          </a:p>
        </p:txBody>
      </p:sp>
      <p:sp>
        <p:nvSpPr>
          <p:cNvPr id="1467" name="Google Shape;1467;p53"/>
          <p:cNvSpPr/>
          <p:nvPr/>
        </p:nvSpPr>
        <p:spPr>
          <a:xfrm>
            <a:off x="793800" y="5004422"/>
            <a:ext cx="6327900" cy="1997100"/>
          </a:xfrm>
          <a:prstGeom prst="roundRect">
            <a:avLst>
              <a:gd fmla="val 4142" name="adj"/>
            </a:avLst>
          </a:prstGeom>
          <a:solidFill>
            <a:srgbClr val="FFB3B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68" name="Google Shape;1468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00" y="5223867"/>
            <a:ext cx="198358" cy="158710"/>
          </a:xfrm>
          <a:prstGeom prst="rect">
            <a:avLst/>
          </a:prstGeom>
          <a:noFill/>
          <a:ln>
            <a:noFill/>
          </a:ln>
        </p:spPr>
      </p:pic>
      <p:sp>
        <p:nvSpPr>
          <p:cNvPr id="1469" name="Google Shape;1469;p53"/>
          <p:cNvSpPr/>
          <p:nvPr/>
        </p:nvSpPr>
        <p:spPr>
          <a:xfrm>
            <a:off x="1309568" y="5155168"/>
            <a:ext cx="56532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Inter"/>
              <a:buNone/>
            </a:pPr>
            <a:r>
              <a:rPr b="1" i="0" lang="en-US" sz="12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Why Classical Filters Fail for EKF:</a:t>
            </a:r>
            <a:r>
              <a:rPr b="0" i="0" lang="en-US" sz="12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Phase lag in filtered velocity → EKF integrates lagged velocity → position error grows. </a:t>
            </a:r>
            <a:endParaRPr b="0" i="0" sz="1250" u="none" cap="none" strike="noStrike"/>
          </a:p>
        </p:txBody>
      </p:sp>
      <p:sp>
        <p:nvSpPr>
          <p:cNvPr id="1470" name="Google Shape;1470;p53"/>
          <p:cNvSpPr/>
          <p:nvPr/>
        </p:nvSpPr>
        <p:spPr>
          <a:xfrm>
            <a:off x="1309568" y="5687139"/>
            <a:ext cx="56532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Example: Butterworth 12-sample lag at 150 Hz = 80 ms delay. </a:t>
            </a:r>
            <a:endParaRPr b="0" i="0" sz="1250" u="none" cap="none" strike="noStrike"/>
          </a:p>
        </p:txBody>
      </p:sp>
      <p:sp>
        <p:nvSpPr>
          <p:cNvPr id="1471" name="Google Shape;1471;p53"/>
          <p:cNvSpPr/>
          <p:nvPr/>
        </p:nvSpPr>
        <p:spPr>
          <a:xfrm>
            <a:off x="1309568" y="6003131"/>
            <a:ext cx="56532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Robot moves 0.5 m/s → </a:t>
            </a:r>
            <a:r>
              <a:rPr b="1" i="0" lang="en-US" sz="12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40 mm position offset per filter pass</a:t>
            </a:r>
            <a:r>
              <a:rPr b="0" i="0" lang="en-US" sz="12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 Accumulated over 144 s: metres of drift.</a:t>
            </a:r>
            <a:endParaRPr b="0" i="0" sz="1250" u="none" cap="none" strike="noStrike"/>
          </a:p>
        </p:txBody>
      </p:sp>
      <p:sp>
        <p:nvSpPr>
          <p:cNvPr id="1472" name="Google Shape;1472;p53"/>
          <p:cNvSpPr/>
          <p:nvPr/>
        </p:nvSpPr>
        <p:spPr>
          <a:xfrm>
            <a:off x="7516416" y="5004435"/>
            <a:ext cx="6327900" cy="1997100"/>
          </a:xfrm>
          <a:prstGeom prst="roundRect">
            <a:avLst>
              <a:gd fmla="val 3339" name="adj"/>
            </a:avLst>
          </a:prstGeom>
          <a:solidFill>
            <a:srgbClr val="B3E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73" name="Google Shape;1473;p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75126" y="5223867"/>
            <a:ext cx="198358" cy="158710"/>
          </a:xfrm>
          <a:prstGeom prst="rect">
            <a:avLst/>
          </a:prstGeom>
          <a:noFill/>
          <a:ln>
            <a:noFill/>
          </a:ln>
        </p:spPr>
      </p:pic>
      <p:sp>
        <p:nvSpPr>
          <p:cNvPr id="1474" name="Google Shape;1474;p53"/>
          <p:cNvSpPr/>
          <p:nvPr/>
        </p:nvSpPr>
        <p:spPr>
          <a:xfrm>
            <a:off x="8032194" y="5155168"/>
            <a:ext cx="56532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Inter"/>
              <a:buNone/>
            </a:pPr>
            <a:r>
              <a:rPr b="1" i="0" lang="en-US" sz="12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Why RQNN Succeeds:</a:t>
            </a:r>
            <a:r>
              <a:rPr b="0" i="0" lang="en-US" sz="12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   </a:t>
            </a:r>
            <a:endParaRPr b="0" i="0" sz="1250" u="none" cap="none" strike="noStrike"/>
          </a:p>
        </p:txBody>
      </p:sp>
      <p:sp>
        <p:nvSpPr>
          <p:cNvPr id="1475" name="Google Shape;1475;p53"/>
          <p:cNvSpPr/>
          <p:nvPr/>
        </p:nvSpPr>
        <p:spPr>
          <a:xfrm>
            <a:off x="8032194" y="5471160"/>
            <a:ext cx="5653200" cy="14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Inter"/>
              <a:buNone/>
            </a:pPr>
            <a:r>
              <a:rPr b="1" i="0" lang="en-US" sz="12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Zero-lag:</a:t>
            </a:r>
            <a:r>
              <a:rPr b="0" i="0" lang="en-US" sz="12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expectation value computed from current wave function state</a:t>
            </a:r>
            <a:endParaRPr b="0" i="0" sz="1250" u="none" cap="none" strike="noStrike"/>
          </a:p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Inter"/>
              <a:buNone/>
            </a:pPr>
            <a:r>
              <a:rPr b="1" i="0" lang="en-US" sz="12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Adaptive:</a:t>
            </a:r>
            <a:r>
              <a:rPr b="0" i="0" lang="en-US" sz="12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Hebbian update adjusts to non-stationary noise in real-time</a:t>
            </a:r>
            <a:endParaRPr b="0" i="0" sz="1250" u="none" cap="none" strike="noStrike"/>
          </a:p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Inter"/>
              <a:buNone/>
            </a:pPr>
            <a:r>
              <a:rPr b="1" i="0" lang="en-US" sz="12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PSO-tuned:</a:t>
            </a:r>
            <a:r>
              <a:rPr b="0" i="0" lang="en-US" sz="12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parameters optimized jointly for RMSE + smoothness + zero-lag</a:t>
            </a:r>
            <a:endParaRPr b="0" i="0" sz="1250" u="none" cap="none" strike="noStrike"/>
          </a:p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Inter"/>
              <a:buNone/>
            </a:pPr>
            <a:r>
              <a:rPr b="1" i="0" lang="en-US" sz="12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Composable:</a:t>
            </a:r>
            <a:r>
              <a:rPr b="0" i="0" lang="en-US" sz="12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each sensor channel gets its own filter instance with tuned θ</a:t>
            </a:r>
            <a:endParaRPr b="0" i="0" sz="1250" u="none" cap="none" strike="noStrike"/>
          </a:p>
        </p:txBody>
      </p:sp>
      <p:sp>
        <p:nvSpPr>
          <p:cNvPr id="1476" name="Google Shape;1476;p53"/>
          <p:cNvSpPr/>
          <p:nvPr/>
        </p:nvSpPr>
        <p:spPr>
          <a:xfrm>
            <a:off x="12845075" y="7780725"/>
            <a:ext cx="1680600" cy="356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41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1" name="Shape 1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2" name="Google Shape;1482;p54"/>
          <p:cNvSpPr/>
          <p:nvPr/>
        </p:nvSpPr>
        <p:spPr>
          <a:xfrm>
            <a:off x="793790" y="787598"/>
            <a:ext cx="86502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5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50"/>
              <a:buFont typeface="Petrona"/>
              <a:buNone/>
            </a:pPr>
            <a:r>
              <a:rPr b="1" i="0" lang="en-US" sz="325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QF-EKF Drift Results vs Gazebo Ground Truth</a:t>
            </a:r>
            <a:endParaRPr b="0" i="0" sz="3250" u="none" cap="none" strike="noStrike"/>
          </a:p>
        </p:txBody>
      </p:sp>
      <p:sp>
        <p:nvSpPr>
          <p:cNvPr id="1483" name="Google Shape;1483;p54"/>
          <p:cNvSpPr/>
          <p:nvPr/>
        </p:nvSpPr>
        <p:spPr>
          <a:xfrm>
            <a:off x="793790" y="1530906"/>
            <a:ext cx="130428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144-second run; Euclidean distance </a:t>
            </a:r>
            <a:r>
              <a:rPr b="0" i="1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| \text{EKF pose} - \text{GT pose} |</a:t>
            </a: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at each timestep. </a:t>
            </a:r>
            <a:r>
              <a:rPr b="0" i="1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Gazebo OdometryPublisher plugin — zero-noise exact model pose at 18.4 Hz.</a:t>
            </a:r>
            <a:endParaRPr b="0" i="0" sz="1250" u="none" cap="none" strike="noStrike"/>
          </a:p>
        </p:txBody>
      </p:sp>
      <p:sp>
        <p:nvSpPr>
          <p:cNvPr id="1484" name="Google Shape;1484;p54"/>
          <p:cNvSpPr/>
          <p:nvPr/>
        </p:nvSpPr>
        <p:spPr>
          <a:xfrm>
            <a:off x="793790" y="1913572"/>
            <a:ext cx="20841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1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Petrona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Drift Metrics</a:t>
            </a:r>
            <a:endParaRPr b="0" i="0" sz="1600" u="none" cap="none" strike="noStrike"/>
          </a:p>
        </p:txBody>
      </p:sp>
      <p:sp>
        <p:nvSpPr>
          <p:cNvPr id="1485" name="Google Shape;1485;p54"/>
          <p:cNvSpPr/>
          <p:nvPr/>
        </p:nvSpPr>
        <p:spPr>
          <a:xfrm>
            <a:off x="793790" y="2340650"/>
            <a:ext cx="13042800" cy="3660900"/>
          </a:xfrm>
          <a:prstGeom prst="roundRect">
            <a:avLst>
              <a:gd fmla="val 1822" name="adj"/>
            </a:avLst>
          </a:prstGeom>
          <a:noFill/>
          <a:ln cap="flat" cmpd="sng" w="9525">
            <a:solidFill>
              <a:srgbClr val="000000">
                <a:alpha val="784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6" name="Google Shape;1486;p54"/>
          <p:cNvSpPr/>
          <p:nvPr/>
        </p:nvSpPr>
        <p:spPr>
          <a:xfrm>
            <a:off x="801410" y="2348270"/>
            <a:ext cx="13027500" cy="364500"/>
          </a:xfrm>
          <a:prstGeom prst="rect">
            <a:avLst/>
          </a:prstGeom>
          <a:solidFill>
            <a:srgbClr val="FFFFFF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7" name="Google Shape;1487;p54"/>
          <p:cNvSpPr/>
          <p:nvPr/>
        </p:nvSpPr>
        <p:spPr>
          <a:xfrm>
            <a:off x="960358" y="2422565"/>
            <a:ext cx="40560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1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Metric</a:t>
            </a:r>
            <a:endParaRPr b="0" i="0" sz="1250" u="none" cap="none" strike="noStrike"/>
          </a:p>
        </p:txBody>
      </p:sp>
      <p:sp>
        <p:nvSpPr>
          <p:cNvPr id="1488" name="Google Shape;1488;p54"/>
          <p:cNvSpPr/>
          <p:nvPr/>
        </p:nvSpPr>
        <p:spPr>
          <a:xfrm>
            <a:off x="5341382" y="2422565"/>
            <a:ext cx="25932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1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QF-EKF Result</a:t>
            </a:r>
            <a:endParaRPr b="0" i="0" sz="1250" u="none" cap="none" strike="noStrike"/>
          </a:p>
        </p:txBody>
      </p:sp>
      <p:sp>
        <p:nvSpPr>
          <p:cNvPr id="1489" name="Google Shape;1489;p54"/>
          <p:cNvSpPr/>
          <p:nvPr/>
        </p:nvSpPr>
        <p:spPr>
          <a:xfrm>
            <a:off x="8259485" y="2422565"/>
            <a:ext cx="22803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1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QF-EKF Local</a:t>
            </a:r>
            <a:endParaRPr b="0" i="0" sz="1250" u="none" cap="none" strike="noStrike"/>
          </a:p>
        </p:txBody>
      </p:sp>
      <p:sp>
        <p:nvSpPr>
          <p:cNvPr id="1490" name="Google Shape;1490;p54"/>
          <p:cNvSpPr/>
          <p:nvPr/>
        </p:nvSpPr>
        <p:spPr>
          <a:xfrm>
            <a:off x="10864929" y="2422565"/>
            <a:ext cx="28053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1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Target</a:t>
            </a:r>
            <a:endParaRPr b="0" i="0" sz="1250" u="none" cap="none" strike="noStrike"/>
          </a:p>
        </p:txBody>
      </p:sp>
      <p:sp>
        <p:nvSpPr>
          <p:cNvPr id="1491" name="Google Shape;1491;p54"/>
          <p:cNvSpPr/>
          <p:nvPr/>
        </p:nvSpPr>
        <p:spPr>
          <a:xfrm>
            <a:off x="801410" y="2712839"/>
            <a:ext cx="13027500" cy="364500"/>
          </a:xfrm>
          <a:prstGeom prst="rect">
            <a:avLst/>
          </a:prstGeom>
          <a:solidFill>
            <a:srgbClr val="000000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2" name="Google Shape;1492;p54"/>
          <p:cNvSpPr/>
          <p:nvPr/>
        </p:nvSpPr>
        <p:spPr>
          <a:xfrm>
            <a:off x="960358" y="2787134"/>
            <a:ext cx="40560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Final drift (end of run)</a:t>
            </a:r>
            <a:endParaRPr b="0" i="0" sz="1250" u="none" cap="none" strike="noStrike"/>
          </a:p>
        </p:txBody>
      </p:sp>
      <p:sp>
        <p:nvSpPr>
          <p:cNvPr id="1493" name="Google Shape;1493;p54"/>
          <p:cNvSpPr/>
          <p:nvPr/>
        </p:nvSpPr>
        <p:spPr>
          <a:xfrm>
            <a:off x="5341382" y="2787134"/>
            <a:ext cx="25932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1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0.4662 m </a:t>
            </a:r>
            <a:r>
              <a:rPr b="0" i="0" lang="en-US" sz="12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✅</a:t>
            </a:r>
            <a:endParaRPr b="0" i="0" sz="1250" u="none" cap="none" strike="noStrike"/>
          </a:p>
        </p:txBody>
      </p:sp>
      <p:sp>
        <p:nvSpPr>
          <p:cNvPr id="1494" name="Google Shape;1494;p54"/>
          <p:cNvSpPr/>
          <p:nvPr/>
        </p:nvSpPr>
        <p:spPr>
          <a:xfrm>
            <a:off x="8259485" y="2787134"/>
            <a:ext cx="22803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Grows unbounded</a:t>
            </a:r>
            <a:endParaRPr b="0" i="0" sz="1250" u="none" cap="none" strike="noStrike"/>
          </a:p>
        </p:txBody>
      </p:sp>
      <p:sp>
        <p:nvSpPr>
          <p:cNvPr id="1495" name="Google Shape;1495;p54"/>
          <p:cNvSpPr/>
          <p:nvPr/>
        </p:nvSpPr>
        <p:spPr>
          <a:xfrm>
            <a:off x="10864929" y="2787134"/>
            <a:ext cx="28053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≤ 5 m</a:t>
            </a:r>
            <a:endParaRPr b="0" i="0" sz="1250" u="none" cap="none" strike="noStrike"/>
          </a:p>
        </p:txBody>
      </p:sp>
      <p:sp>
        <p:nvSpPr>
          <p:cNvPr id="1496" name="Google Shape;1496;p54"/>
          <p:cNvSpPr/>
          <p:nvPr/>
        </p:nvSpPr>
        <p:spPr>
          <a:xfrm>
            <a:off x="801410" y="3077408"/>
            <a:ext cx="13027500" cy="364500"/>
          </a:xfrm>
          <a:prstGeom prst="rect">
            <a:avLst/>
          </a:prstGeom>
          <a:solidFill>
            <a:srgbClr val="FFFFFF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7" name="Google Shape;1497;p54"/>
          <p:cNvSpPr/>
          <p:nvPr/>
        </p:nvSpPr>
        <p:spPr>
          <a:xfrm>
            <a:off x="960358" y="3151703"/>
            <a:ext cx="40560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Maximum drift (any point)</a:t>
            </a:r>
            <a:endParaRPr b="0" i="0" sz="1250" u="none" cap="none" strike="noStrike"/>
          </a:p>
        </p:txBody>
      </p:sp>
      <p:sp>
        <p:nvSpPr>
          <p:cNvPr id="1498" name="Google Shape;1498;p54"/>
          <p:cNvSpPr/>
          <p:nvPr/>
        </p:nvSpPr>
        <p:spPr>
          <a:xfrm>
            <a:off x="5341382" y="3151703"/>
            <a:ext cx="25932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1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2.9556 m </a:t>
            </a:r>
            <a:r>
              <a:rPr b="0" i="0" lang="en-US" sz="12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✅</a:t>
            </a:r>
            <a:endParaRPr b="0" i="0" sz="1250" u="none" cap="none" strike="noStrike"/>
          </a:p>
        </p:txBody>
      </p:sp>
      <p:sp>
        <p:nvSpPr>
          <p:cNvPr id="1499" name="Google Shape;1499;p54"/>
          <p:cNvSpPr/>
          <p:nvPr/>
        </p:nvSpPr>
        <p:spPr>
          <a:xfrm>
            <a:off x="8259485" y="3151703"/>
            <a:ext cx="22803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Grows unbounded</a:t>
            </a:r>
            <a:endParaRPr b="0" i="0" sz="1250" u="none" cap="none" strike="noStrike"/>
          </a:p>
        </p:txBody>
      </p:sp>
      <p:sp>
        <p:nvSpPr>
          <p:cNvPr id="1500" name="Google Shape;1500;p54"/>
          <p:cNvSpPr/>
          <p:nvPr/>
        </p:nvSpPr>
        <p:spPr>
          <a:xfrm>
            <a:off x="10864929" y="3151703"/>
            <a:ext cx="28053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≤ 10 m</a:t>
            </a:r>
            <a:endParaRPr b="0" i="0" sz="1250" u="none" cap="none" strike="noStrike"/>
          </a:p>
        </p:txBody>
      </p:sp>
      <p:sp>
        <p:nvSpPr>
          <p:cNvPr id="1501" name="Google Shape;1501;p54"/>
          <p:cNvSpPr/>
          <p:nvPr/>
        </p:nvSpPr>
        <p:spPr>
          <a:xfrm>
            <a:off x="801410" y="3441978"/>
            <a:ext cx="13027500" cy="364500"/>
          </a:xfrm>
          <a:prstGeom prst="rect">
            <a:avLst/>
          </a:prstGeom>
          <a:solidFill>
            <a:srgbClr val="000000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2" name="Google Shape;1502;p54"/>
          <p:cNvSpPr/>
          <p:nvPr/>
        </p:nvSpPr>
        <p:spPr>
          <a:xfrm>
            <a:off x="960358" y="3516273"/>
            <a:ext cx="40560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Drift rate</a:t>
            </a:r>
            <a:endParaRPr b="0" i="0" sz="1250" u="none" cap="none" strike="noStrike"/>
          </a:p>
        </p:txBody>
      </p:sp>
      <p:sp>
        <p:nvSpPr>
          <p:cNvPr id="1503" name="Google Shape;1503;p54"/>
          <p:cNvSpPr/>
          <p:nvPr/>
        </p:nvSpPr>
        <p:spPr>
          <a:xfrm>
            <a:off x="5341382" y="3516273"/>
            <a:ext cx="25932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1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0.1942 m/min </a:t>
            </a:r>
            <a:r>
              <a:rPr b="0" i="0" lang="en-US" sz="12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✅</a:t>
            </a:r>
            <a:endParaRPr b="0" i="0" sz="1250" u="none" cap="none" strike="noStrike"/>
          </a:p>
        </p:txBody>
      </p:sp>
      <p:sp>
        <p:nvSpPr>
          <p:cNvPr id="1504" name="Google Shape;1504;p54"/>
          <p:cNvSpPr/>
          <p:nvPr/>
        </p:nvSpPr>
        <p:spPr>
          <a:xfrm>
            <a:off x="8259485" y="3516273"/>
            <a:ext cx="22803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-</a:t>
            </a:r>
            <a:endParaRPr b="0" i="0" sz="1250" u="none" cap="none" strike="noStrike"/>
          </a:p>
        </p:txBody>
      </p:sp>
      <p:sp>
        <p:nvSpPr>
          <p:cNvPr id="1505" name="Google Shape;1505;p54"/>
          <p:cNvSpPr/>
          <p:nvPr/>
        </p:nvSpPr>
        <p:spPr>
          <a:xfrm>
            <a:off x="10864929" y="3516273"/>
            <a:ext cx="28053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&lt; 1 m/min</a:t>
            </a:r>
            <a:endParaRPr b="0" i="0" sz="1250" u="none" cap="none" strike="noStrike"/>
          </a:p>
        </p:txBody>
      </p:sp>
      <p:sp>
        <p:nvSpPr>
          <p:cNvPr id="1506" name="Google Shape;1506;p54"/>
          <p:cNvSpPr/>
          <p:nvPr/>
        </p:nvSpPr>
        <p:spPr>
          <a:xfrm>
            <a:off x="801410" y="3806547"/>
            <a:ext cx="13027500" cy="364500"/>
          </a:xfrm>
          <a:prstGeom prst="rect">
            <a:avLst/>
          </a:prstGeom>
          <a:solidFill>
            <a:srgbClr val="FFFFFF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7" name="Google Shape;1507;p54"/>
          <p:cNvSpPr/>
          <p:nvPr/>
        </p:nvSpPr>
        <p:spPr>
          <a:xfrm>
            <a:off x="960358" y="3880842"/>
            <a:ext cx="40560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GPS Innovation X: mean</a:t>
            </a:r>
            <a:endParaRPr b="0" i="0" sz="1250" u="none" cap="none" strike="noStrike"/>
          </a:p>
        </p:txBody>
      </p:sp>
      <p:sp>
        <p:nvSpPr>
          <p:cNvPr id="1508" name="Google Shape;1508;p54"/>
          <p:cNvSpPr/>
          <p:nvPr/>
        </p:nvSpPr>
        <p:spPr>
          <a:xfrm>
            <a:off x="5341382" y="3880842"/>
            <a:ext cx="25932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−0.0023 m </a:t>
            </a:r>
            <a:r>
              <a:rPr b="0" i="0" lang="en-US" sz="12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✅</a:t>
            </a:r>
            <a:endParaRPr b="0" i="0" sz="1250" u="none" cap="none" strike="noStrike"/>
          </a:p>
        </p:txBody>
      </p:sp>
      <p:sp>
        <p:nvSpPr>
          <p:cNvPr id="1509" name="Google Shape;1509;p54"/>
          <p:cNvSpPr/>
          <p:nvPr/>
        </p:nvSpPr>
        <p:spPr>
          <a:xfrm>
            <a:off x="8259485" y="3880842"/>
            <a:ext cx="22803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-</a:t>
            </a:r>
            <a:endParaRPr b="0" i="0" sz="1250" u="none" cap="none" strike="noStrike"/>
          </a:p>
        </p:txBody>
      </p:sp>
      <p:sp>
        <p:nvSpPr>
          <p:cNvPr id="1510" name="Google Shape;1510;p54"/>
          <p:cNvSpPr/>
          <p:nvPr/>
        </p:nvSpPr>
        <p:spPr>
          <a:xfrm>
            <a:off x="10864929" y="3880842"/>
            <a:ext cx="28053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≈ 0 (unbiased)</a:t>
            </a:r>
            <a:endParaRPr b="0" i="0" sz="1250" u="none" cap="none" strike="noStrike"/>
          </a:p>
        </p:txBody>
      </p:sp>
      <p:sp>
        <p:nvSpPr>
          <p:cNvPr id="1511" name="Google Shape;1511;p54"/>
          <p:cNvSpPr/>
          <p:nvPr/>
        </p:nvSpPr>
        <p:spPr>
          <a:xfrm>
            <a:off x="801410" y="4171117"/>
            <a:ext cx="13027500" cy="364500"/>
          </a:xfrm>
          <a:prstGeom prst="rect">
            <a:avLst/>
          </a:prstGeom>
          <a:solidFill>
            <a:srgbClr val="000000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2" name="Google Shape;1512;p54"/>
          <p:cNvSpPr/>
          <p:nvPr/>
        </p:nvSpPr>
        <p:spPr>
          <a:xfrm>
            <a:off x="960358" y="4245412"/>
            <a:ext cx="40560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GPS Innovation X: std</a:t>
            </a:r>
            <a:endParaRPr b="0" i="0" sz="1250" u="none" cap="none" strike="noStrike"/>
          </a:p>
        </p:txBody>
      </p:sp>
      <p:sp>
        <p:nvSpPr>
          <p:cNvPr id="1513" name="Google Shape;1513;p54"/>
          <p:cNvSpPr/>
          <p:nvPr/>
        </p:nvSpPr>
        <p:spPr>
          <a:xfrm>
            <a:off x="5341382" y="4245412"/>
            <a:ext cx="25932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0.0894 m </a:t>
            </a:r>
            <a:r>
              <a:rPr b="0" i="0" lang="en-US" sz="12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✅</a:t>
            </a:r>
            <a:endParaRPr b="0" i="0" sz="1250" u="none" cap="none" strike="noStrike"/>
          </a:p>
        </p:txBody>
      </p:sp>
      <p:sp>
        <p:nvSpPr>
          <p:cNvPr id="1514" name="Google Shape;1514;p54"/>
          <p:cNvSpPr/>
          <p:nvPr/>
        </p:nvSpPr>
        <p:spPr>
          <a:xfrm>
            <a:off x="8259485" y="4245412"/>
            <a:ext cx="22803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-</a:t>
            </a:r>
            <a:endParaRPr b="0" i="0" sz="1250" u="none" cap="none" strike="noStrike"/>
          </a:p>
        </p:txBody>
      </p:sp>
      <p:sp>
        <p:nvSpPr>
          <p:cNvPr id="1515" name="Google Shape;1515;p54"/>
          <p:cNvSpPr/>
          <p:nvPr/>
        </p:nvSpPr>
        <p:spPr>
          <a:xfrm>
            <a:off x="10864929" y="4245412"/>
            <a:ext cx="28053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&lt; GPS σ=0.5 m</a:t>
            </a:r>
            <a:endParaRPr b="0" i="0" sz="1250" u="none" cap="none" strike="noStrike"/>
          </a:p>
        </p:txBody>
      </p:sp>
      <p:sp>
        <p:nvSpPr>
          <p:cNvPr id="1516" name="Google Shape;1516;p54"/>
          <p:cNvSpPr/>
          <p:nvPr/>
        </p:nvSpPr>
        <p:spPr>
          <a:xfrm>
            <a:off x="801410" y="4535686"/>
            <a:ext cx="13027500" cy="364500"/>
          </a:xfrm>
          <a:prstGeom prst="rect">
            <a:avLst/>
          </a:prstGeom>
          <a:solidFill>
            <a:srgbClr val="FFFFFF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7" name="Google Shape;1517;p54"/>
          <p:cNvSpPr/>
          <p:nvPr/>
        </p:nvSpPr>
        <p:spPr>
          <a:xfrm>
            <a:off x="960358" y="4609981"/>
            <a:ext cx="40560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GPS Innovation Y: mean</a:t>
            </a:r>
            <a:endParaRPr b="0" i="0" sz="1250" u="none" cap="none" strike="noStrike"/>
          </a:p>
        </p:txBody>
      </p:sp>
      <p:sp>
        <p:nvSpPr>
          <p:cNvPr id="1518" name="Google Shape;1518;p54"/>
          <p:cNvSpPr/>
          <p:nvPr/>
        </p:nvSpPr>
        <p:spPr>
          <a:xfrm>
            <a:off x="5341382" y="4609981"/>
            <a:ext cx="25932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+0.0041 m </a:t>
            </a:r>
            <a:r>
              <a:rPr b="0" i="0" lang="en-US" sz="12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✅</a:t>
            </a:r>
            <a:endParaRPr b="0" i="0" sz="1250" u="none" cap="none" strike="noStrike"/>
          </a:p>
        </p:txBody>
      </p:sp>
      <p:sp>
        <p:nvSpPr>
          <p:cNvPr id="1519" name="Google Shape;1519;p54"/>
          <p:cNvSpPr/>
          <p:nvPr/>
        </p:nvSpPr>
        <p:spPr>
          <a:xfrm>
            <a:off x="8259485" y="4609981"/>
            <a:ext cx="22803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-</a:t>
            </a:r>
            <a:endParaRPr b="0" i="0" sz="1250" u="none" cap="none" strike="noStrike"/>
          </a:p>
        </p:txBody>
      </p:sp>
      <p:sp>
        <p:nvSpPr>
          <p:cNvPr id="1520" name="Google Shape;1520;p54"/>
          <p:cNvSpPr/>
          <p:nvPr/>
        </p:nvSpPr>
        <p:spPr>
          <a:xfrm>
            <a:off x="10864929" y="4609981"/>
            <a:ext cx="28053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≈ 0</a:t>
            </a:r>
            <a:endParaRPr b="0" i="0" sz="1250" u="none" cap="none" strike="noStrike"/>
          </a:p>
        </p:txBody>
      </p:sp>
      <p:sp>
        <p:nvSpPr>
          <p:cNvPr id="1521" name="Google Shape;1521;p54"/>
          <p:cNvSpPr/>
          <p:nvPr/>
        </p:nvSpPr>
        <p:spPr>
          <a:xfrm>
            <a:off x="801410" y="4900255"/>
            <a:ext cx="13027500" cy="364500"/>
          </a:xfrm>
          <a:prstGeom prst="rect">
            <a:avLst/>
          </a:prstGeom>
          <a:solidFill>
            <a:srgbClr val="000000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2" name="Google Shape;1522;p54"/>
          <p:cNvSpPr/>
          <p:nvPr/>
        </p:nvSpPr>
        <p:spPr>
          <a:xfrm>
            <a:off x="960358" y="4974550"/>
            <a:ext cx="40560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GPS Innovation Y: std</a:t>
            </a:r>
            <a:endParaRPr b="0" i="0" sz="1250" u="none" cap="none" strike="noStrike"/>
          </a:p>
        </p:txBody>
      </p:sp>
      <p:sp>
        <p:nvSpPr>
          <p:cNvPr id="1523" name="Google Shape;1523;p54"/>
          <p:cNvSpPr/>
          <p:nvPr/>
        </p:nvSpPr>
        <p:spPr>
          <a:xfrm>
            <a:off x="5341382" y="4974550"/>
            <a:ext cx="25932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0.0823 m </a:t>
            </a:r>
            <a:r>
              <a:rPr b="0" i="0" lang="en-US" sz="12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✅</a:t>
            </a:r>
            <a:endParaRPr b="0" i="0" sz="1250" u="none" cap="none" strike="noStrike"/>
          </a:p>
        </p:txBody>
      </p:sp>
      <p:sp>
        <p:nvSpPr>
          <p:cNvPr id="1524" name="Google Shape;1524;p54"/>
          <p:cNvSpPr/>
          <p:nvPr/>
        </p:nvSpPr>
        <p:spPr>
          <a:xfrm>
            <a:off x="8259485" y="4974550"/>
            <a:ext cx="22803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-</a:t>
            </a:r>
            <a:endParaRPr b="0" i="0" sz="1250" u="none" cap="none" strike="noStrike"/>
          </a:p>
        </p:txBody>
      </p:sp>
      <p:sp>
        <p:nvSpPr>
          <p:cNvPr id="1525" name="Google Shape;1525;p54"/>
          <p:cNvSpPr/>
          <p:nvPr/>
        </p:nvSpPr>
        <p:spPr>
          <a:xfrm>
            <a:off x="10864929" y="4974550"/>
            <a:ext cx="28053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&lt; GPS σ=0.5 m</a:t>
            </a:r>
            <a:endParaRPr b="0" i="0" sz="1250" u="none" cap="none" strike="noStrike"/>
          </a:p>
        </p:txBody>
      </p:sp>
      <p:sp>
        <p:nvSpPr>
          <p:cNvPr id="1526" name="Google Shape;1526;p54"/>
          <p:cNvSpPr/>
          <p:nvPr/>
        </p:nvSpPr>
        <p:spPr>
          <a:xfrm>
            <a:off x="801410" y="5264825"/>
            <a:ext cx="13027500" cy="364500"/>
          </a:xfrm>
          <a:prstGeom prst="rect">
            <a:avLst/>
          </a:prstGeom>
          <a:solidFill>
            <a:srgbClr val="FFFFFF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7" name="Google Shape;1527;p54"/>
          <p:cNvSpPr/>
          <p:nvPr/>
        </p:nvSpPr>
        <p:spPr>
          <a:xfrm>
            <a:off x="960358" y="5339120"/>
            <a:ext cx="40560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2D Innovation RMSE</a:t>
            </a:r>
            <a:endParaRPr b="0" i="0" sz="1250" u="none" cap="none" strike="noStrike"/>
          </a:p>
        </p:txBody>
      </p:sp>
      <p:sp>
        <p:nvSpPr>
          <p:cNvPr id="1528" name="Google Shape;1528;p54"/>
          <p:cNvSpPr/>
          <p:nvPr/>
        </p:nvSpPr>
        <p:spPr>
          <a:xfrm>
            <a:off x="5341382" y="5339120"/>
            <a:ext cx="25932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1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0.1225 m </a:t>
            </a:r>
            <a:r>
              <a:rPr b="0" i="0" lang="en-US" sz="12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✅</a:t>
            </a:r>
            <a:endParaRPr b="0" i="0" sz="1250" u="none" cap="none" strike="noStrike"/>
          </a:p>
        </p:txBody>
      </p:sp>
      <p:sp>
        <p:nvSpPr>
          <p:cNvPr id="1529" name="Google Shape;1529;p54"/>
          <p:cNvSpPr/>
          <p:nvPr/>
        </p:nvSpPr>
        <p:spPr>
          <a:xfrm>
            <a:off x="8259485" y="5339120"/>
            <a:ext cx="22803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-</a:t>
            </a:r>
            <a:endParaRPr b="0" i="0" sz="1250" u="none" cap="none" strike="noStrike"/>
          </a:p>
        </p:txBody>
      </p:sp>
      <p:sp>
        <p:nvSpPr>
          <p:cNvPr id="1530" name="Google Shape;1530;p54"/>
          <p:cNvSpPr/>
          <p:nvPr/>
        </p:nvSpPr>
        <p:spPr>
          <a:xfrm>
            <a:off x="10864929" y="5339120"/>
            <a:ext cx="28053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Gaussian (confirmed)</a:t>
            </a:r>
            <a:endParaRPr b="0" i="0" sz="1250" u="none" cap="none" strike="noStrike"/>
          </a:p>
        </p:txBody>
      </p:sp>
      <p:sp>
        <p:nvSpPr>
          <p:cNvPr id="1531" name="Google Shape;1531;p54"/>
          <p:cNvSpPr/>
          <p:nvPr/>
        </p:nvSpPr>
        <p:spPr>
          <a:xfrm>
            <a:off x="801410" y="5629394"/>
            <a:ext cx="13027500" cy="364500"/>
          </a:xfrm>
          <a:prstGeom prst="rect">
            <a:avLst/>
          </a:prstGeom>
          <a:solidFill>
            <a:srgbClr val="000000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2" name="Google Shape;1532;p54"/>
          <p:cNvSpPr/>
          <p:nvPr/>
        </p:nvSpPr>
        <p:spPr>
          <a:xfrm>
            <a:off x="960358" y="5703689"/>
            <a:ext cx="40560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Normality test (p-value)</a:t>
            </a:r>
            <a:endParaRPr b="0" i="0" sz="1250" u="none" cap="none" strike="noStrike"/>
          </a:p>
        </p:txBody>
      </p:sp>
      <p:sp>
        <p:nvSpPr>
          <p:cNvPr id="1533" name="Google Shape;1533;p54"/>
          <p:cNvSpPr/>
          <p:nvPr/>
        </p:nvSpPr>
        <p:spPr>
          <a:xfrm>
            <a:off x="5341382" y="5703689"/>
            <a:ext cx="25932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&gt;0.05 both axes </a:t>
            </a:r>
            <a:r>
              <a:rPr b="0" i="0" lang="en-US" sz="12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✅</a:t>
            </a:r>
            <a:endParaRPr b="0" i="0" sz="1250" u="none" cap="none" strike="noStrike"/>
          </a:p>
        </p:txBody>
      </p:sp>
      <p:sp>
        <p:nvSpPr>
          <p:cNvPr id="1534" name="Google Shape;1534;p54"/>
          <p:cNvSpPr/>
          <p:nvPr/>
        </p:nvSpPr>
        <p:spPr>
          <a:xfrm>
            <a:off x="8259485" y="5703689"/>
            <a:ext cx="22803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-</a:t>
            </a:r>
            <a:endParaRPr b="0" i="0" sz="1250" u="none" cap="none" strike="noStrike"/>
          </a:p>
        </p:txBody>
      </p:sp>
      <p:sp>
        <p:nvSpPr>
          <p:cNvPr id="1535" name="Google Shape;1535;p54"/>
          <p:cNvSpPr/>
          <p:nvPr/>
        </p:nvSpPr>
        <p:spPr>
          <a:xfrm>
            <a:off x="10864929" y="5703689"/>
            <a:ext cx="28053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Gaussian noise valid</a:t>
            </a:r>
            <a:endParaRPr b="0" i="0" sz="1250" u="none" cap="none" strike="noStrike"/>
          </a:p>
        </p:txBody>
      </p:sp>
      <p:sp>
        <p:nvSpPr>
          <p:cNvPr id="1536" name="Google Shape;1536;p54"/>
          <p:cNvSpPr/>
          <p:nvPr/>
        </p:nvSpPr>
        <p:spPr>
          <a:xfrm>
            <a:off x="793790" y="6126599"/>
            <a:ext cx="4273500" cy="1315200"/>
          </a:xfrm>
          <a:prstGeom prst="roundRect">
            <a:avLst>
              <a:gd fmla="val 5070" name="adj"/>
            </a:avLst>
          </a:prstGeom>
          <a:solidFill>
            <a:srgbClr val="CCEEFF"/>
          </a:solidFill>
          <a:ln cap="flat" cmpd="sng" w="9525">
            <a:solidFill>
              <a:srgbClr val="B2D4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7" name="Google Shape;1537;p54"/>
          <p:cNvSpPr/>
          <p:nvPr/>
        </p:nvSpPr>
        <p:spPr>
          <a:xfrm>
            <a:off x="960120" y="6292929"/>
            <a:ext cx="20841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1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Petrona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📡</a:t>
            </a:r>
            <a:r>
              <a:rPr b="1" i="0" lang="en-US" sz="16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 GPS Innovation</a:t>
            </a:r>
            <a:endParaRPr b="0" i="0" sz="1600" u="none" cap="none" strike="noStrike"/>
          </a:p>
        </p:txBody>
      </p:sp>
      <p:sp>
        <p:nvSpPr>
          <p:cNvPr id="1538" name="Google Shape;1538;p54"/>
          <p:cNvSpPr/>
          <p:nvPr/>
        </p:nvSpPr>
        <p:spPr>
          <a:xfrm>
            <a:off x="960120" y="6627614"/>
            <a:ext cx="39408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RMSE (0.1225 m) &lt; GPS sensor noise (0.5 m): EKF uses GPS intelligently, not just tracking it.</a:t>
            </a:r>
            <a:endParaRPr b="0" i="0" sz="1250" u="none" cap="none" strike="noStrike"/>
          </a:p>
        </p:txBody>
      </p:sp>
      <p:sp>
        <p:nvSpPr>
          <p:cNvPr id="1539" name="Google Shape;1539;p54"/>
          <p:cNvSpPr/>
          <p:nvPr/>
        </p:nvSpPr>
        <p:spPr>
          <a:xfrm>
            <a:off x="5178385" y="6126599"/>
            <a:ext cx="4273500" cy="1315200"/>
          </a:xfrm>
          <a:prstGeom prst="roundRect">
            <a:avLst>
              <a:gd fmla="val 5070" name="adj"/>
            </a:avLst>
          </a:prstGeom>
          <a:solidFill>
            <a:srgbClr val="CCEEFF"/>
          </a:solidFill>
          <a:ln cap="flat" cmpd="sng" w="9525">
            <a:solidFill>
              <a:srgbClr val="B2D4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0" name="Google Shape;1540;p54"/>
          <p:cNvSpPr/>
          <p:nvPr/>
        </p:nvSpPr>
        <p:spPr>
          <a:xfrm>
            <a:off x="5344716" y="6292929"/>
            <a:ext cx="23709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1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Petrona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📊</a:t>
            </a:r>
            <a:r>
              <a:rPr b="1" i="0" lang="en-US" sz="16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 Normality Confirmed</a:t>
            </a:r>
            <a:endParaRPr b="0" i="0" sz="1600" u="none" cap="none" strike="noStrike"/>
          </a:p>
        </p:txBody>
      </p:sp>
      <p:sp>
        <p:nvSpPr>
          <p:cNvPr id="1541" name="Google Shape;1541;p54"/>
          <p:cNvSpPr/>
          <p:nvPr/>
        </p:nvSpPr>
        <p:spPr>
          <a:xfrm>
            <a:off x="5344716" y="6627614"/>
            <a:ext cx="39408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Normality of innovation (p &gt; 0.05): Gaussian assumption valid → EKF covariance estimates are consistent.</a:t>
            </a:r>
            <a:endParaRPr b="0" i="0" sz="1250" u="none" cap="none" strike="noStrike"/>
          </a:p>
        </p:txBody>
      </p:sp>
      <p:sp>
        <p:nvSpPr>
          <p:cNvPr id="1542" name="Google Shape;1542;p54"/>
          <p:cNvSpPr/>
          <p:nvPr/>
        </p:nvSpPr>
        <p:spPr>
          <a:xfrm>
            <a:off x="9562981" y="6126599"/>
            <a:ext cx="4273500" cy="1315200"/>
          </a:xfrm>
          <a:prstGeom prst="roundRect">
            <a:avLst>
              <a:gd fmla="val 5070" name="adj"/>
            </a:avLst>
          </a:prstGeom>
          <a:solidFill>
            <a:srgbClr val="CCEEFF"/>
          </a:solidFill>
          <a:ln cap="flat" cmpd="sng" w="9525">
            <a:solidFill>
              <a:srgbClr val="B2D4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3" name="Google Shape;1543;p54"/>
          <p:cNvSpPr/>
          <p:nvPr/>
        </p:nvSpPr>
        <p:spPr>
          <a:xfrm>
            <a:off x="9729311" y="6292929"/>
            <a:ext cx="20841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1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Petrona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🗺️</a:t>
            </a:r>
            <a:r>
              <a:rPr b="1" i="0" lang="en-US" sz="16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 Local EKF Design</a:t>
            </a:r>
            <a:endParaRPr b="0" i="0" sz="1600" u="none" cap="none" strike="noStrike"/>
          </a:p>
        </p:txBody>
      </p:sp>
      <p:sp>
        <p:nvSpPr>
          <p:cNvPr id="1544" name="Google Shape;1544;p54"/>
          <p:cNvSpPr/>
          <p:nvPr/>
        </p:nvSpPr>
        <p:spPr>
          <a:xfrm>
            <a:off x="9729311" y="6627614"/>
            <a:ext cx="39408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Local EKF grows unbounded (expected — no GPS): architecture designed for this; global EKF provides correction.</a:t>
            </a:r>
            <a:endParaRPr b="0" i="0" sz="1250" u="none" cap="none" strike="noStrike"/>
          </a:p>
        </p:txBody>
      </p:sp>
      <p:sp>
        <p:nvSpPr>
          <p:cNvPr id="1545" name="Google Shape;1545;p54"/>
          <p:cNvSpPr/>
          <p:nvPr/>
        </p:nvSpPr>
        <p:spPr>
          <a:xfrm>
            <a:off x="12845075" y="7780725"/>
            <a:ext cx="1680600" cy="356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42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0" name="Shape 1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1" name="Google Shape;1551;p55"/>
          <p:cNvSpPr/>
          <p:nvPr/>
        </p:nvSpPr>
        <p:spPr>
          <a:xfrm>
            <a:off x="793790" y="962501"/>
            <a:ext cx="111918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5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50"/>
              <a:buFont typeface="Petrona"/>
              <a:buNone/>
            </a:pPr>
            <a:r>
              <a:rPr b="1" i="0" lang="en-US" sz="325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GPS Innovation Statistics &amp; Mahalanobis Outlier Rejection</a:t>
            </a:r>
            <a:endParaRPr b="0" i="0" sz="3250" u="none" cap="none" strike="noStrike"/>
          </a:p>
        </p:txBody>
      </p:sp>
      <p:sp>
        <p:nvSpPr>
          <p:cNvPr id="1552" name="Google Shape;1552;p55"/>
          <p:cNvSpPr/>
          <p:nvPr/>
        </p:nvSpPr>
        <p:spPr>
          <a:xfrm>
            <a:off x="793790" y="1705808"/>
            <a:ext cx="13042800" cy="2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Innovation </a:t>
            </a:r>
            <a:r>
              <a:rPr b="0" i="1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\nu_k = z_k - h(\hat{x}_k^-)</a:t>
            </a: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; normality confirms EKF assumptions hold</a:t>
            </a:r>
            <a:endParaRPr b="0" i="0" sz="1250" u="none" cap="none" strike="noStrike"/>
          </a:p>
        </p:txBody>
      </p:sp>
      <p:sp>
        <p:nvSpPr>
          <p:cNvPr id="1553" name="Google Shape;1553;p55"/>
          <p:cNvSpPr/>
          <p:nvPr/>
        </p:nvSpPr>
        <p:spPr>
          <a:xfrm>
            <a:off x="793790" y="2158484"/>
            <a:ext cx="20841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1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Petrona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Innovation Analysis</a:t>
            </a:r>
            <a:endParaRPr b="0" i="0" sz="1600" u="none" cap="none" strike="noStrike"/>
          </a:p>
        </p:txBody>
      </p:sp>
      <p:sp>
        <p:nvSpPr>
          <p:cNvPr id="1554" name="Google Shape;1554;p55"/>
          <p:cNvSpPr/>
          <p:nvPr/>
        </p:nvSpPr>
        <p:spPr>
          <a:xfrm>
            <a:off x="793790" y="2529959"/>
            <a:ext cx="63279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GPS ΔX: Mean = −0.0023 m </a:t>
            </a:r>
            <a:r>
              <a:rPr b="0" i="0" lang="en-US" sz="12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✅</a:t>
            </a: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, Std = 0.0894 m </a:t>
            </a:r>
            <a:r>
              <a:rPr b="0" i="0" lang="en-US" sz="12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✅</a:t>
            </a: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(&lt; GPS σ=0.5 m)</a:t>
            </a:r>
            <a:endParaRPr b="0" i="0" sz="1250" u="none" cap="none" strike="noStrike"/>
          </a:p>
        </p:txBody>
      </p:sp>
      <p:sp>
        <p:nvSpPr>
          <p:cNvPr id="1555" name="Google Shape;1555;p55"/>
          <p:cNvSpPr/>
          <p:nvPr/>
        </p:nvSpPr>
        <p:spPr>
          <a:xfrm>
            <a:off x="793790" y="2845951"/>
            <a:ext cx="63279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GPS ΔY: Mean = +0.0041 m </a:t>
            </a:r>
            <a:r>
              <a:rPr b="0" i="0" lang="en-US" sz="12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✅</a:t>
            </a: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, Std = 0.0823 m </a:t>
            </a:r>
            <a:r>
              <a:rPr b="0" i="0" lang="en-US" sz="12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✅</a:t>
            </a: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(&lt; GPS σ=0.5 m)</a:t>
            </a:r>
            <a:endParaRPr b="0" i="0" sz="1250" u="none" cap="none" strike="noStrike"/>
          </a:p>
        </p:txBody>
      </p:sp>
      <p:sp>
        <p:nvSpPr>
          <p:cNvPr id="1556" name="Google Shape;1556;p55"/>
          <p:cNvSpPr/>
          <p:nvPr/>
        </p:nvSpPr>
        <p:spPr>
          <a:xfrm>
            <a:off x="793790" y="3161943"/>
            <a:ext cx="63279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1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2D RMSE: 0.1225 m</a:t>
            </a:r>
            <a:endParaRPr b="0" i="0" sz="1250" u="none" cap="none" strike="noStrike"/>
          </a:p>
        </p:txBody>
      </p:sp>
      <p:sp>
        <p:nvSpPr>
          <p:cNvPr id="1557" name="Google Shape;1557;p55"/>
          <p:cNvSpPr/>
          <p:nvPr/>
        </p:nvSpPr>
        <p:spPr>
          <a:xfrm>
            <a:off x="793790" y="3477935"/>
            <a:ext cx="63279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Normality test: p &gt; 0.05 both axes → Innovation is Gaussian </a:t>
            </a:r>
            <a:r>
              <a:rPr b="0" i="0" lang="en-US" sz="12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✅</a:t>
            </a: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→ EKF assumptions hold </a:t>
            </a:r>
            <a:r>
              <a:rPr b="0" i="0" lang="en-US" sz="12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✅</a:t>
            </a: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b="0" i="0" sz="1250" u="none" cap="none" strike="noStrike"/>
          </a:p>
        </p:txBody>
      </p:sp>
      <p:sp>
        <p:nvSpPr>
          <p:cNvPr id="1558" name="Google Shape;1558;p55"/>
          <p:cNvSpPr/>
          <p:nvPr/>
        </p:nvSpPr>
        <p:spPr>
          <a:xfrm>
            <a:off x="793790" y="4009906"/>
            <a:ext cx="63279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1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Consequence</a:t>
            </a: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: EKF covariance P is consistent. Filter is neither over- nor under-confident.</a:t>
            </a:r>
            <a:endParaRPr b="0" i="0" sz="1250" u="none" cap="none" strike="noStrike"/>
          </a:p>
        </p:txBody>
      </p:sp>
      <p:sp>
        <p:nvSpPr>
          <p:cNvPr id="1559" name="Google Shape;1559;p55"/>
          <p:cNvSpPr/>
          <p:nvPr/>
        </p:nvSpPr>
        <p:spPr>
          <a:xfrm>
            <a:off x="793791" y="4754735"/>
            <a:ext cx="20841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1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Petrona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Mahalanobis Gating</a:t>
            </a:r>
            <a:endParaRPr b="0" i="0" sz="1600" u="none" cap="none" strike="noStrike"/>
          </a:p>
        </p:txBody>
      </p:sp>
      <p:sp>
        <p:nvSpPr>
          <p:cNvPr id="1560" name="Google Shape;1560;p55"/>
          <p:cNvSpPr/>
          <p:nvPr/>
        </p:nvSpPr>
        <p:spPr>
          <a:xfrm>
            <a:off x="7516416" y="1500573"/>
            <a:ext cx="63279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</a:pPr>
            <a:r>
              <a:t/>
            </a:r>
            <a:endParaRPr b="0" i="0" sz="1400" u="none" cap="none" strike="noStrike"/>
          </a:p>
        </p:txBody>
      </p:sp>
      <p:pic>
        <p:nvPicPr>
          <p:cNvPr descr="preencoded.png" id="1561" name="Google Shape;1561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1" y="5155738"/>
            <a:ext cx="6327816" cy="274558"/>
          </a:xfrm>
          <a:prstGeom prst="rect">
            <a:avLst/>
          </a:prstGeom>
          <a:noFill/>
          <a:ln>
            <a:noFill/>
          </a:ln>
        </p:spPr>
      </p:pic>
      <p:sp>
        <p:nvSpPr>
          <p:cNvPr id="1562" name="Google Shape;1562;p55"/>
          <p:cNvSpPr/>
          <p:nvPr/>
        </p:nvSpPr>
        <p:spPr>
          <a:xfrm>
            <a:off x="793791" y="5570909"/>
            <a:ext cx="6327900" cy="2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where </a:t>
            </a:r>
            <a:r>
              <a:rPr b="0" i="1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S_k = H_k P_k^- H_k^\top + R</a:t>
            </a: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. Measurement accepted if </a:t>
            </a:r>
            <a:r>
              <a:rPr b="0" i="1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d_M &lt; \text{threshold}</a:t>
            </a: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1250" u="none" cap="none" strike="noStrike"/>
          </a:p>
        </p:txBody>
      </p:sp>
      <p:sp>
        <p:nvSpPr>
          <p:cNvPr id="1563" name="Google Shape;1563;p55"/>
          <p:cNvSpPr/>
          <p:nvPr/>
        </p:nvSpPr>
        <p:spPr>
          <a:xfrm>
            <a:off x="7516416" y="2243404"/>
            <a:ext cx="20841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1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Petrona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Threshold Table</a:t>
            </a:r>
            <a:endParaRPr b="0" i="0" sz="1600" u="none" cap="none" strike="noStrike"/>
          </a:p>
        </p:txBody>
      </p:sp>
      <p:sp>
        <p:nvSpPr>
          <p:cNvPr id="1564" name="Google Shape;1564;p55"/>
          <p:cNvSpPr/>
          <p:nvPr/>
        </p:nvSpPr>
        <p:spPr>
          <a:xfrm>
            <a:off x="7516416" y="2628809"/>
            <a:ext cx="6327900" cy="2567100"/>
          </a:xfrm>
          <a:prstGeom prst="roundRect">
            <a:avLst>
              <a:gd fmla="val 2598" name="adj"/>
            </a:avLst>
          </a:prstGeom>
          <a:noFill/>
          <a:ln cap="flat" cmpd="sng" w="9525">
            <a:solidFill>
              <a:srgbClr val="000000">
                <a:alpha val="784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5" name="Google Shape;1565;p55"/>
          <p:cNvSpPr/>
          <p:nvPr/>
        </p:nvSpPr>
        <p:spPr>
          <a:xfrm>
            <a:off x="7524036" y="2636429"/>
            <a:ext cx="6312600" cy="364500"/>
          </a:xfrm>
          <a:prstGeom prst="rect">
            <a:avLst/>
          </a:prstGeom>
          <a:solidFill>
            <a:srgbClr val="FFFFFF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6" name="Google Shape;1566;p55"/>
          <p:cNvSpPr/>
          <p:nvPr/>
        </p:nvSpPr>
        <p:spPr>
          <a:xfrm>
            <a:off x="7682984" y="2710724"/>
            <a:ext cx="25194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1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Sensor</a:t>
            </a:r>
            <a:endParaRPr b="0" i="0" sz="1250" u="none" cap="none" strike="noStrike"/>
          </a:p>
        </p:txBody>
      </p:sp>
      <p:sp>
        <p:nvSpPr>
          <p:cNvPr id="1567" name="Google Shape;1567;p55"/>
          <p:cNvSpPr/>
          <p:nvPr/>
        </p:nvSpPr>
        <p:spPr>
          <a:xfrm>
            <a:off x="10527387" y="2710724"/>
            <a:ext cx="12531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1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Threshold</a:t>
            </a:r>
            <a:endParaRPr b="0" i="0" sz="1250" u="none" cap="none" strike="noStrike"/>
          </a:p>
        </p:txBody>
      </p:sp>
      <p:sp>
        <p:nvSpPr>
          <p:cNvPr id="1568" name="Google Shape;1568;p55"/>
          <p:cNvSpPr/>
          <p:nvPr/>
        </p:nvSpPr>
        <p:spPr>
          <a:xfrm>
            <a:off x="12105442" y="2710724"/>
            <a:ext cx="15726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1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Rejection %</a:t>
            </a:r>
            <a:endParaRPr b="0" i="0" sz="1250" u="none" cap="none" strike="noStrike"/>
          </a:p>
        </p:txBody>
      </p:sp>
      <p:sp>
        <p:nvSpPr>
          <p:cNvPr id="1569" name="Google Shape;1569;p55"/>
          <p:cNvSpPr/>
          <p:nvPr/>
        </p:nvSpPr>
        <p:spPr>
          <a:xfrm>
            <a:off x="7524036" y="3000998"/>
            <a:ext cx="6312600" cy="364500"/>
          </a:xfrm>
          <a:prstGeom prst="rect">
            <a:avLst/>
          </a:prstGeom>
          <a:solidFill>
            <a:srgbClr val="000000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0" name="Google Shape;1570;p55"/>
          <p:cNvSpPr/>
          <p:nvPr/>
        </p:nvSpPr>
        <p:spPr>
          <a:xfrm>
            <a:off x="7682984" y="3075293"/>
            <a:ext cx="25194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GPS</a:t>
            </a:r>
            <a:endParaRPr b="0" i="0" sz="1250" u="none" cap="none" strike="noStrike"/>
          </a:p>
        </p:txBody>
      </p:sp>
      <p:sp>
        <p:nvSpPr>
          <p:cNvPr id="1571" name="Google Shape;1571;p55"/>
          <p:cNvSpPr/>
          <p:nvPr/>
        </p:nvSpPr>
        <p:spPr>
          <a:xfrm>
            <a:off x="10527387" y="3075293"/>
            <a:ext cx="12531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2.0 σ</a:t>
            </a:r>
            <a:endParaRPr b="0" i="0" sz="1250" u="none" cap="none" strike="noStrike"/>
          </a:p>
        </p:txBody>
      </p:sp>
      <p:sp>
        <p:nvSpPr>
          <p:cNvPr id="1572" name="Google Shape;1572;p55"/>
          <p:cNvSpPr/>
          <p:nvPr/>
        </p:nvSpPr>
        <p:spPr>
          <a:xfrm>
            <a:off x="12105442" y="3075293"/>
            <a:ext cx="15726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~5% (Gaussian)</a:t>
            </a:r>
            <a:endParaRPr b="0" i="0" sz="1250" u="none" cap="none" strike="noStrike"/>
          </a:p>
        </p:txBody>
      </p:sp>
      <p:sp>
        <p:nvSpPr>
          <p:cNvPr id="1573" name="Google Shape;1573;p55"/>
          <p:cNvSpPr/>
          <p:nvPr/>
        </p:nvSpPr>
        <p:spPr>
          <a:xfrm>
            <a:off x="7524036" y="3365568"/>
            <a:ext cx="6312600" cy="364500"/>
          </a:xfrm>
          <a:prstGeom prst="rect">
            <a:avLst/>
          </a:prstGeom>
          <a:solidFill>
            <a:srgbClr val="FFFFFF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4" name="Google Shape;1574;p55"/>
          <p:cNvSpPr/>
          <p:nvPr/>
        </p:nvSpPr>
        <p:spPr>
          <a:xfrm>
            <a:off x="7682984" y="3439863"/>
            <a:ext cx="25194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IMU pose</a:t>
            </a:r>
            <a:endParaRPr b="0" i="0" sz="1250" u="none" cap="none" strike="noStrike"/>
          </a:p>
        </p:txBody>
      </p:sp>
      <p:sp>
        <p:nvSpPr>
          <p:cNvPr id="1575" name="Google Shape;1575;p55"/>
          <p:cNvSpPr/>
          <p:nvPr/>
        </p:nvSpPr>
        <p:spPr>
          <a:xfrm>
            <a:off x="10527387" y="3439863"/>
            <a:ext cx="12531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0.</a:t>
            </a:r>
            <a:r>
              <a:rPr lang="en-US" sz="12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8</a:t>
            </a: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σ</a:t>
            </a:r>
            <a:endParaRPr b="0" i="0" sz="1250" u="none" cap="none" strike="noStrike"/>
          </a:p>
        </p:txBody>
      </p:sp>
      <p:sp>
        <p:nvSpPr>
          <p:cNvPr id="1576" name="Google Shape;1576;p55"/>
          <p:cNvSpPr/>
          <p:nvPr/>
        </p:nvSpPr>
        <p:spPr>
          <a:xfrm>
            <a:off x="12105442" y="3439863"/>
            <a:ext cx="15726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~27% (noisy)</a:t>
            </a:r>
            <a:endParaRPr b="0" i="0" sz="1250" u="none" cap="none" strike="noStrike"/>
          </a:p>
        </p:txBody>
      </p:sp>
      <p:sp>
        <p:nvSpPr>
          <p:cNvPr id="1577" name="Google Shape;1577;p55"/>
          <p:cNvSpPr/>
          <p:nvPr/>
        </p:nvSpPr>
        <p:spPr>
          <a:xfrm>
            <a:off x="7524036" y="3730137"/>
            <a:ext cx="6312600" cy="364500"/>
          </a:xfrm>
          <a:prstGeom prst="rect">
            <a:avLst/>
          </a:prstGeom>
          <a:solidFill>
            <a:srgbClr val="000000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8" name="Google Shape;1578;p55"/>
          <p:cNvSpPr/>
          <p:nvPr/>
        </p:nvSpPr>
        <p:spPr>
          <a:xfrm>
            <a:off x="7682984" y="3804432"/>
            <a:ext cx="25194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IMU twist</a:t>
            </a:r>
            <a:endParaRPr b="0" i="0" sz="1250" u="none" cap="none" strike="noStrike"/>
          </a:p>
        </p:txBody>
      </p:sp>
      <p:sp>
        <p:nvSpPr>
          <p:cNvPr id="1579" name="Google Shape;1579;p55"/>
          <p:cNvSpPr/>
          <p:nvPr/>
        </p:nvSpPr>
        <p:spPr>
          <a:xfrm>
            <a:off x="10527387" y="3804432"/>
            <a:ext cx="12531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0.</a:t>
            </a:r>
            <a:r>
              <a:rPr lang="en-US" sz="12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8</a:t>
            </a: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σ</a:t>
            </a:r>
            <a:endParaRPr b="0" i="0" sz="1250" u="none" cap="none" strike="noStrike"/>
          </a:p>
        </p:txBody>
      </p:sp>
      <p:sp>
        <p:nvSpPr>
          <p:cNvPr id="1580" name="Google Shape;1580;p55"/>
          <p:cNvSpPr/>
          <p:nvPr/>
        </p:nvSpPr>
        <p:spPr>
          <a:xfrm>
            <a:off x="12105442" y="3804432"/>
            <a:ext cx="15726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~27%</a:t>
            </a:r>
            <a:endParaRPr b="0" i="0" sz="1250" u="none" cap="none" strike="noStrike"/>
          </a:p>
        </p:txBody>
      </p:sp>
      <p:sp>
        <p:nvSpPr>
          <p:cNvPr id="1581" name="Google Shape;1581;p55"/>
          <p:cNvSpPr/>
          <p:nvPr/>
        </p:nvSpPr>
        <p:spPr>
          <a:xfrm>
            <a:off x="7524036" y="4094706"/>
            <a:ext cx="6312600" cy="364500"/>
          </a:xfrm>
          <a:prstGeom prst="rect">
            <a:avLst/>
          </a:prstGeom>
          <a:solidFill>
            <a:srgbClr val="FFFFFF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2" name="Google Shape;1582;p55"/>
          <p:cNvSpPr/>
          <p:nvPr/>
        </p:nvSpPr>
        <p:spPr>
          <a:xfrm>
            <a:off x="7682984" y="4169001"/>
            <a:ext cx="25194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IMU accel</a:t>
            </a:r>
            <a:endParaRPr b="0" i="0" sz="1250" u="none" cap="none" strike="noStrike"/>
          </a:p>
        </p:txBody>
      </p:sp>
      <p:sp>
        <p:nvSpPr>
          <p:cNvPr id="1583" name="Google Shape;1583;p55"/>
          <p:cNvSpPr/>
          <p:nvPr/>
        </p:nvSpPr>
        <p:spPr>
          <a:xfrm>
            <a:off x="10527387" y="4169001"/>
            <a:ext cx="12531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0.</a:t>
            </a:r>
            <a:r>
              <a:rPr lang="en-US" sz="12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8</a:t>
            </a: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σ</a:t>
            </a:r>
            <a:endParaRPr b="0" i="0" sz="1250" u="none" cap="none" strike="noStrike"/>
          </a:p>
        </p:txBody>
      </p:sp>
      <p:sp>
        <p:nvSpPr>
          <p:cNvPr id="1584" name="Google Shape;1584;p55"/>
          <p:cNvSpPr/>
          <p:nvPr/>
        </p:nvSpPr>
        <p:spPr>
          <a:xfrm>
            <a:off x="12105442" y="4169001"/>
            <a:ext cx="15726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~38%</a:t>
            </a:r>
            <a:endParaRPr b="0" i="0" sz="1250" u="none" cap="none" strike="noStrike"/>
          </a:p>
        </p:txBody>
      </p:sp>
      <p:sp>
        <p:nvSpPr>
          <p:cNvPr id="1585" name="Google Shape;1585;p55"/>
          <p:cNvSpPr/>
          <p:nvPr/>
        </p:nvSpPr>
        <p:spPr>
          <a:xfrm>
            <a:off x="7524036" y="4459276"/>
            <a:ext cx="6312600" cy="364500"/>
          </a:xfrm>
          <a:prstGeom prst="rect">
            <a:avLst/>
          </a:prstGeom>
          <a:solidFill>
            <a:srgbClr val="000000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6" name="Google Shape;1586;p55"/>
          <p:cNvSpPr/>
          <p:nvPr/>
        </p:nvSpPr>
        <p:spPr>
          <a:xfrm>
            <a:off x="7682984" y="4533571"/>
            <a:ext cx="25194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Visual Odom</a:t>
            </a:r>
            <a:endParaRPr b="0" i="0" sz="1250" u="none" cap="none" strike="noStrike"/>
          </a:p>
        </p:txBody>
      </p:sp>
      <p:sp>
        <p:nvSpPr>
          <p:cNvPr id="1587" name="Google Shape;1587;p55"/>
          <p:cNvSpPr/>
          <p:nvPr/>
        </p:nvSpPr>
        <p:spPr>
          <a:xfrm>
            <a:off x="10527387" y="4533571"/>
            <a:ext cx="12531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2.0 σ</a:t>
            </a:r>
            <a:endParaRPr b="0" i="0" sz="1250" u="none" cap="none" strike="noStrike"/>
          </a:p>
        </p:txBody>
      </p:sp>
      <p:sp>
        <p:nvSpPr>
          <p:cNvPr id="1588" name="Google Shape;1588;p55"/>
          <p:cNvSpPr/>
          <p:nvPr/>
        </p:nvSpPr>
        <p:spPr>
          <a:xfrm>
            <a:off x="12105442" y="4533571"/>
            <a:ext cx="15726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~5% (after QF)</a:t>
            </a:r>
            <a:endParaRPr b="0" i="0" sz="1250" u="none" cap="none" strike="noStrike"/>
          </a:p>
        </p:txBody>
      </p:sp>
      <p:sp>
        <p:nvSpPr>
          <p:cNvPr id="1589" name="Google Shape;1589;p55"/>
          <p:cNvSpPr/>
          <p:nvPr/>
        </p:nvSpPr>
        <p:spPr>
          <a:xfrm>
            <a:off x="7524036" y="4823845"/>
            <a:ext cx="6312600" cy="364500"/>
          </a:xfrm>
          <a:prstGeom prst="rect">
            <a:avLst/>
          </a:prstGeom>
          <a:solidFill>
            <a:srgbClr val="FFFFFF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0" name="Google Shape;1590;p55"/>
          <p:cNvSpPr/>
          <p:nvPr/>
        </p:nvSpPr>
        <p:spPr>
          <a:xfrm>
            <a:off x="7682984" y="4898140"/>
            <a:ext cx="25194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LiDAR Odom</a:t>
            </a:r>
            <a:endParaRPr b="0" i="0" sz="1250" u="none" cap="none" strike="noStrike"/>
          </a:p>
        </p:txBody>
      </p:sp>
      <p:sp>
        <p:nvSpPr>
          <p:cNvPr id="1591" name="Google Shape;1591;p55"/>
          <p:cNvSpPr/>
          <p:nvPr/>
        </p:nvSpPr>
        <p:spPr>
          <a:xfrm>
            <a:off x="10527387" y="4898140"/>
            <a:ext cx="12531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2.0 σ</a:t>
            </a:r>
            <a:endParaRPr b="0" i="0" sz="1250" u="none" cap="none" strike="noStrike"/>
          </a:p>
        </p:txBody>
      </p:sp>
      <p:sp>
        <p:nvSpPr>
          <p:cNvPr id="1592" name="Google Shape;1592;p55"/>
          <p:cNvSpPr/>
          <p:nvPr/>
        </p:nvSpPr>
        <p:spPr>
          <a:xfrm>
            <a:off x="12105442" y="4898140"/>
            <a:ext cx="15726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~5% (after QF)</a:t>
            </a:r>
            <a:endParaRPr b="0" i="0" sz="1250" u="none" cap="none" strike="noStrike"/>
          </a:p>
        </p:txBody>
      </p:sp>
      <p:sp>
        <p:nvSpPr>
          <p:cNvPr id="1593" name="Google Shape;1593;p55"/>
          <p:cNvSpPr/>
          <p:nvPr/>
        </p:nvSpPr>
        <p:spPr>
          <a:xfrm>
            <a:off x="793790" y="6504980"/>
            <a:ext cx="13042800" cy="762000"/>
          </a:xfrm>
          <a:prstGeom prst="roundRect">
            <a:avLst>
              <a:gd fmla="val 8752" name="adj"/>
            </a:avLst>
          </a:prstGeom>
          <a:solidFill>
            <a:srgbClr val="B3E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94" name="Google Shape;1594;p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" y="6724412"/>
            <a:ext cx="198358" cy="158710"/>
          </a:xfrm>
          <a:prstGeom prst="rect">
            <a:avLst/>
          </a:prstGeom>
          <a:noFill/>
          <a:ln>
            <a:noFill/>
          </a:ln>
        </p:spPr>
      </p:pic>
      <p:sp>
        <p:nvSpPr>
          <p:cNvPr id="1595" name="Google Shape;1595;p55"/>
          <p:cNvSpPr/>
          <p:nvPr/>
        </p:nvSpPr>
        <p:spPr>
          <a:xfrm>
            <a:off x="1309568" y="6655713"/>
            <a:ext cx="123684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Inter"/>
              <a:buNone/>
            </a:pPr>
            <a:r>
              <a:rPr b="1" i="0" lang="en-US" sz="12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Why tighter IMU gates (0.6)?</a:t>
            </a:r>
            <a:r>
              <a:rPr b="0" i="0" lang="en-US" sz="12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RQNN reduces IMU accel noise by 75%. Filter is more confident about IMU → tighter gate achievable without over-rejecting valid data. Baseline used 0.8; tightened 25% with QF.</a:t>
            </a:r>
            <a:endParaRPr b="0" i="0" sz="1250" u="none" cap="none" strike="noStrike"/>
          </a:p>
        </p:txBody>
      </p:sp>
      <p:pic>
        <p:nvPicPr>
          <p:cNvPr id="1596" name="Google Shape;1596;p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3807" y="4653417"/>
            <a:ext cx="6389400" cy="1481375"/>
          </a:xfrm>
          <a:prstGeom prst="rect">
            <a:avLst/>
          </a:prstGeom>
          <a:noFill/>
          <a:ln>
            <a:noFill/>
          </a:ln>
        </p:spPr>
      </p:pic>
      <p:sp>
        <p:nvSpPr>
          <p:cNvPr id="1597" name="Google Shape;1597;p55"/>
          <p:cNvSpPr/>
          <p:nvPr/>
        </p:nvSpPr>
        <p:spPr>
          <a:xfrm>
            <a:off x="12845075" y="7780725"/>
            <a:ext cx="1680600" cy="356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43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2" name="Shape 1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3" name="Google Shape;1603;p56"/>
          <p:cNvSpPr/>
          <p:nvPr/>
        </p:nvSpPr>
        <p:spPr>
          <a:xfrm>
            <a:off x="744260" y="733544"/>
            <a:ext cx="8704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5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50"/>
              <a:buFont typeface="Petrona"/>
              <a:buNone/>
            </a:pPr>
            <a:r>
              <a:rPr b="1" i="0" lang="en-US" sz="325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Circular Dependency &amp; Magnetic Declination</a:t>
            </a:r>
            <a:endParaRPr b="0" i="0" sz="3250" u="none" cap="none" strike="noStrike"/>
          </a:p>
        </p:txBody>
      </p:sp>
      <p:sp>
        <p:nvSpPr>
          <p:cNvPr id="1604" name="Google Shape;1604;p56"/>
          <p:cNvSpPr/>
          <p:nvPr/>
        </p:nvSpPr>
        <p:spPr>
          <a:xfrm>
            <a:off x="744260" y="1481018"/>
            <a:ext cx="131418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navsat_transform couples EKF#1 and EKF#2 — requires careful startup sequencing</a:t>
            </a:r>
            <a:endParaRPr b="0" i="0" sz="1250" u="none" cap="none" strike="noStrike"/>
          </a:p>
        </p:txBody>
      </p:sp>
      <p:sp>
        <p:nvSpPr>
          <p:cNvPr id="1605" name="Google Shape;1605;p56"/>
          <p:cNvSpPr/>
          <p:nvPr/>
        </p:nvSpPr>
        <p:spPr>
          <a:xfrm>
            <a:off x="744260" y="1936433"/>
            <a:ext cx="29337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Petrona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The Circular Dependency</a:t>
            </a:r>
            <a:endParaRPr b="0" i="0" sz="1950" u="none" cap="none" strike="noStrike"/>
          </a:p>
        </p:txBody>
      </p:sp>
      <p:sp>
        <p:nvSpPr>
          <p:cNvPr id="1606" name="Google Shape;1606;p56"/>
          <p:cNvSpPr/>
          <p:nvPr/>
        </p:nvSpPr>
        <p:spPr>
          <a:xfrm>
            <a:off x="744260" y="2362438"/>
            <a:ext cx="63765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navsat_transform_node needs:</a:t>
            </a:r>
            <a:endParaRPr b="0" i="0" sz="1250" u="none" cap="none" strike="noStrike"/>
          </a:p>
        </p:txBody>
      </p:sp>
      <p:sp>
        <p:nvSpPr>
          <p:cNvPr id="1607" name="Google Shape;1607;p56"/>
          <p:cNvSpPr/>
          <p:nvPr/>
        </p:nvSpPr>
        <p:spPr>
          <a:xfrm>
            <a:off x="744260" y="2680573"/>
            <a:ext cx="6376500" cy="4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Char char="•"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EKF#1 odom → base_link pose (to get robot heading at startup)</a:t>
            </a:r>
            <a:endParaRPr b="0" i="0" sz="1250" u="none" cap="none" strike="noStrike"/>
          </a:p>
          <a:p>
            <a:pPr indent="-342900" lvl="0" marL="34290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Char char="•"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→ to convert GPS Lat/Lon to local XY</a:t>
            </a:r>
            <a:endParaRPr b="0" i="0" sz="1250" u="none" cap="none" strike="noStrike"/>
          </a:p>
        </p:txBody>
      </p:sp>
      <p:sp>
        <p:nvSpPr>
          <p:cNvPr id="1608" name="Google Shape;1608;p56"/>
          <p:cNvSpPr/>
          <p:nvPr/>
        </p:nvSpPr>
        <p:spPr>
          <a:xfrm>
            <a:off x="744260" y="3255169"/>
            <a:ext cx="63765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EKF#2 needs:</a:t>
            </a:r>
            <a:endParaRPr b="0" i="0" sz="1250" u="none" cap="none" strike="noStrike"/>
          </a:p>
        </p:txBody>
      </p:sp>
      <p:sp>
        <p:nvSpPr>
          <p:cNvPr id="1609" name="Google Shape;1609;p56"/>
          <p:cNvSpPr/>
          <p:nvPr/>
        </p:nvSpPr>
        <p:spPr>
          <a:xfrm>
            <a:off x="744260" y="3573304"/>
            <a:ext cx="6376500" cy="4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Char char="•"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/odometry/gps from navsat_transform</a:t>
            </a:r>
            <a:endParaRPr b="0" i="0" sz="1250" u="none" cap="none" strike="noStrike"/>
          </a:p>
          <a:p>
            <a:pPr indent="-342900" lvl="0" marL="34290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Char char="•"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→ to produce GPS-corrected map→odom TF</a:t>
            </a:r>
            <a:endParaRPr b="0" i="0" sz="1250" u="none" cap="none" strike="noStrike"/>
          </a:p>
        </p:txBody>
      </p:sp>
      <p:sp>
        <p:nvSpPr>
          <p:cNvPr id="1610" name="Google Shape;1610;p56"/>
          <p:cNvSpPr/>
          <p:nvPr/>
        </p:nvSpPr>
        <p:spPr>
          <a:xfrm>
            <a:off x="744260" y="4147899"/>
            <a:ext cx="63765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EKF#2 map→odom TF shifts the odom frame → which EKF#1 is publishing into.</a:t>
            </a:r>
            <a:endParaRPr b="0" i="0" sz="1250" u="none" cap="none" strike="noStrike"/>
          </a:p>
        </p:txBody>
      </p:sp>
      <p:sp>
        <p:nvSpPr>
          <p:cNvPr id="1611" name="Google Shape;1611;p56"/>
          <p:cNvSpPr/>
          <p:nvPr/>
        </p:nvSpPr>
        <p:spPr>
          <a:xfrm>
            <a:off x="744260" y="4466034"/>
            <a:ext cx="6376500" cy="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use_odometry_yaw: true</a:t>
            </a: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→ </a:t>
            </a:r>
            <a:r>
              <a:rPr b="1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DEADLOCK:</a:t>
            </a: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navsat reads EKF#2 yaw, EKF#2 needs navsat, EKF#2 yaw depends on navsat heading → circular at startup — never resolves.</a:t>
            </a:r>
            <a:endParaRPr b="0" i="0" sz="1250" u="none" cap="none" strike="noStrike"/>
          </a:p>
        </p:txBody>
      </p:sp>
      <p:sp>
        <p:nvSpPr>
          <p:cNvPr id="1612" name="Google Shape;1612;p56"/>
          <p:cNvSpPr/>
          <p:nvPr/>
        </p:nvSpPr>
        <p:spPr>
          <a:xfrm>
            <a:off x="744260" y="5226368"/>
            <a:ext cx="6376500" cy="4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1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Consequence of bad heading:</a:t>
            </a: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GPS converted with rotated frame. Early testing: </a:t>
            </a:r>
            <a:r>
              <a:rPr b="1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14 m initial drift</a:t>
            </a: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from 5° heading error at startup.</a:t>
            </a:r>
            <a:endParaRPr b="0" i="0" sz="1250" u="none" cap="none" strike="noStrike"/>
          </a:p>
        </p:txBody>
      </p:sp>
      <p:sp>
        <p:nvSpPr>
          <p:cNvPr id="1613" name="Google Shape;1613;p56"/>
          <p:cNvSpPr/>
          <p:nvPr/>
        </p:nvSpPr>
        <p:spPr>
          <a:xfrm>
            <a:off x="7517368" y="1936433"/>
            <a:ext cx="40368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Petrona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Resolution &amp; Magnetic Declination</a:t>
            </a:r>
            <a:endParaRPr b="0" i="0" sz="1950" u="none" cap="none" strike="noStrike"/>
          </a:p>
        </p:txBody>
      </p:sp>
      <p:sp>
        <p:nvSpPr>
          <p:cNvPr id="1614" name="Google Shape;1614;p56"/>
          <p:cNvSpPr/>
          <p:nvPr/>
        </p:nvSpPr>
        <p:spPr>
          <a:xfrm>
            <a:off x="7517368" y="2362438"/>
            <a:ext cx="6376500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1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FIX 1:</a:t>
            </a: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1250" u="none" cap="none" strike="noStrike">
                <a:solidFill>
                  <a:srgbClr val="27252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use_odometry_yaw: false</a:t>
            </a:r>
            <a:endParaRPr b="0" i="0" sz="1250" u="none" cap="none" strike="noStrike"/>
          </a:p>
        </p:txBody>
      </p:sp>
      <p:sp>
        <p:nvSpPr>
          <p:cNvPr id="1615" name="Google Shape;1615;p56"/>
          <p:cNvSpPr/>
          <p:nvPr/>
        </p:nvSpPr>
        <p:spPr>
          <a:xfrm>
            <a:off x="7517368" y="2688193"/>
            <a:ext cx="63765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navsat derives heading from IMU directly. Breaks circular dependency at startup.</a:t>
            </a:r>
            <a:endParaRPr b="0" i="0" sz="1250" u="none" cap="none" strike="noStrike"/>
          </a:p>
        </p:txBody>
      </p:sp>
      <p:sp>
        <p:nvSpPr>
          <p:cNvPr id="1616" name="Google Shape;1616;p56"/>
          <p:cNvSpPr/>
          <p:nvPr/>
        </p:nvSpPr>
        <p:spPr>
          <a:xfrm>
            <a:off x="7517368" y="3006328"/>
            <a:ext cx="6376500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1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FIX 2:</a:t>
            </a: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1250" u="none" cap="none" strike="noStrike">
                <a:solidFill>
                  <a:srgbClr val="27252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delay: 0.5 s</a:t>
            </a:r>
            <a:endParaRPr b="0" i="0" sz="1250" u="none" cap="none" strike="noStrike"/>
          </a:p>
        </p:txBody>
      </p:sp>
      <p:sp>
        <p:nvSpPr>
          <p:cNvPr id="1617" name="Google Shape;1617;p56"/>
          <p:cNvSpPr/>
          <p:nvPr/>
        </p:nvSpPr>
        <p:spPr>
          <a:xfrm>
            <a:off x="7517368" y="3332083"/>
            <a:ext cx="6376500" cy="4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navsat waits 0.5 s for EKF#1 to stabilise heading estimate before first GPS conversion. (was 1.5 s in baseline — sim converges faster)</a:t>
            </a:r>
            <a:endParaRPr b="0" i="0" sz="1250" u="none" cap="none" strike="noStrike"/>
          </a:p>
        </p:txBody>
      </p:sp>
      <p:sp>
        <p:nvSpPr>
          <p:cNvPr id="1618" name="Google Shape;1618;p56"/>
          <p:cNvSpPr/>
          <p:nvPr/>
        </p:nvSpPr>
        <p:spPr>
          <a:xfrm>
            <a:off x="7517368" y="3878699"/>
            <a:ext cx="26319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1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Petrona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MAGNETIC DECLINATION:</a:t>
            </a:r>
            <a:endParaRPr b="0" i="0" sz="1600" u="none" cap="none" strike="noStrike"/>
          </a:p>
        </p:txBody>
      </p:sp>
      <p:sp>
        <p:nvSpPr>
          <p:cNvPr id="1619" name="Google Shape;1619;p56"/>
          <p:cNvSpPr/>
          <p:nvPr/>
        </p:nvSpPr>
        <p:spPr>
          <a:xfrm>
            <a:off x="7517368" y="4252317"/>
            <a:ext cx="6376500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magnetic_declination_radians: 0.0</a:t>
            </a: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(sim)</a:t>
            </a:r>
            <a:endParaRPr b="0" i="0" sz="1250" u="none" cap="none" strike="noStrike"/>
          </a:p>
        </p:txBody>
      </p:sp>
      <p:sp>
        <p:nvSpPr>
          <p:cNvPr id="1620" name="Google Shape;1620;p56"/>
          <p:cNvSpPr/>
          <p:nvPr/>
        </p:nvSpPr>
        <p:spPr>
          <a:xfrm>
            <a:off x="7517368" y="4578072"/>
            <a:ext cx="63765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Defines rotation between:</a:t>
            </a:r>
            <a:endParaRPr b="0" i="0" sz="1250" u="none" cap="none" strike="noStrike"/>
          </a:p>
        </p:txBody>
      </p:sp>
      <p:sp>
        <p:nvSpPr>
          <p:cNvPr id="1621" name="Google Shape;1621;p56"/>
          <p:cNvSpPr/>
          <p:nvPr/>
        </p:nvSpPr>
        <p:spPr>
          <a:xfrm>
            <a:off x="7517368" y="4896207"/>
            <a:ext cx="6376500" cy="4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Char char="•"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Magnetic North (compass reads)</a:t>
            </a:r>
            <a:endParaRPr b="0" i="0" sz="1250" u="none" cap="none" strike="noStrike"/>
          </a:p>
          <a:p>
            <a:pPr indent="-342900" lvl="0" marL="34290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Char char="•"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True North (map frame uses)</a:t>
            </a:r>
            <a:endParaRPr b="0" i="0" sz="1250" u="none" cap="none" strike="noStrike"/>
          </a:p>
        </p:txBody>
      </p:sp>
      <p:sp>
        <p:nvSpPr>
          <p:cNvPr id="1622" name="Google Shape;1622;p56"/>
          <p:cNvSpPr/>
          <p:nvPr/>
        </p:nvSpPr>
        <p:spPr>
          <a:xfrm>
            <a:off x="7517368" y="5470803"/>
            <a:ext cx="63765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Simulation: ENU frame, IMU yaw=0 = East. No magnetic field modelled → offset = 0.</a:t>
            </a:r>
            <a:endParaRPr b="0" i="0" sz="1250" u="none" cap="none" strike="noStrike"/>
          </a:p>
        </p:txBody>
      </p:sp>
      <p:sp>
        <p:nvSpPr>
          <p:cNvPr id="1623" name="Google Shape;1623;p56"/>
          <p:cNvSpPr/>
          <p:nvPr/>
        </p:nvSpPr>
        <p:spPr>
          <a:xfrm>
            <a:off x="7517368" y="5788938"/>
            <a:ext cx="6376500" cy="4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Real robot: use NOAA Geomagnetic Web </a:t>
            </a:r>
            <a:endParaRPr b="0" i="0" sz="1250" u="none" cap="none" strike="noStrike"/>
          </a:p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ngdc.noaa.gov/geomag-web</a:t>
            </a:r>
            <a:endParaRPr b="0" i="0" sz="1250" u="none" cap="none" strike="noStrike"/>
          </a:p>
        </p:txBody>
      </p:sp>
      <p:sp>
        <p:nvSpPr>
          <p:cNvPr id="1624" name="Google Shape;1624;p56"/>
          <p:cNvSpPr/>
          <p:nvPr/>
        </p:nvSpPr>
        <p:spPr>
          <a:xfrm>
            <a:off x="7517368" y="6324362"/>
            <a:ext cx="63765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Delhi, India: ≈ 0.5° E = 0.0087 rad</a:t>
            </a:r>
            <a:endParaRPr b="0" i="0" sz="1250" u="none" cap="none" strike="noStrike"/>
          </a:p>
        </p:txBody>
      </p:sp>
      <p:sp>
        <p:nvSpPr>
          <p:cNvPr id="1625" name="Google Shape;1625;p56"/>
          <p:cNvSpPr/>
          <p:nvPr/>
        </p:nvSpPr>
        <p:spPr>
          <a:xfrm>
            <a:off x="7517368" y="6642497"/>
            <a:ext cx="63765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Munich, Germany: ≈ 3.5° E = 0.061 rad</a:t>
            </a:r>
            <a:endParaRPr b="0" i="0" sz="1250" u="none" cap="none" strike="noStrike"/>
          </a:p>
        </p:txBody>
      </p:sp>
      <p:sp>
        <p:nvSpPr>
          <p:cNvPr id="1626" name="Google Shape;1626;p56"/>
          <p:cNvSpPr/>
          <p:nvPr/>
        </p:nvSpPr>
        <p:spPr>
          <a:xfrm>
            <a:off x="7517368" y="6960632"/>
            <a:ext cx="6376500" cy="4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1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Wrong value tested (5° off):</a:t>
            </a: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→ GPS frame 5° rotated in map frame → </a:t>
            </a:r>
            <a:r>
              <a:rPr b="1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14 m+ initial drift observed</a:t>
            </a:r>
            <a:endParaRPr b="0" i="0" sz="1250" u="none" cap="none" strike="noStrike"/>
          </a:p>
        </p:txBody>
      </p:sp>
      <p:sp>
        <p:nvSpPr>
          <p:cNvPr id="1627" name="Google Shape;1627;p56"/>
          <p:cNvSpPr/>
          <p:nvPr/>
        </p:nvSpPr>
        <p:spPr>
          <a:xfrm>
            <a:off x="12845075" y="7780725"/>
            <a:ext cx="1680600" cy="356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44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2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p57"/>
          <p:cNvSpPr/>
          <p:nvPr/>
        </p:nvSpPr>
        <p:spPr>
          <a:xfrm>
            <a:off x="793790" y="979884"/>
            <a:ext cx="8551800" cy="4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Petrona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QF-EKF vs Baseline EKF — Comparative Analysis</a:t>
            </a:r>
            <a:endParaRPr b="0" i="0" sz="3000" u="none" cap="none" strike="noStrike"/>
          </a:p>
        </p:txBody>
      </p:sp>
      <p:sp>
        <p:nvSpPr>
          <p:cNvPr id="1634" name="Google Shape;1634;p57"/>
          <p:cNvSpPr/>
          <p:nvPr/>
        </p:nvSpPr>
        <p:spPr>
          <a:xfrm>
            <a:off x="793790" y="1655207"/>
            <a:ext cx="130428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b="0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Quantitative comparison across noise reduction, drift, and filter quality metrics</a:t>
            </a:r>
            <a:endParaRPr b="0" i="0" sz="1150" u="none" cap="none" strike="noStrike"/>
          </a:p>
        </p:txBody>
      </p:sp>
      <p:sp>
        <p:nvSpPr>
          <p:cNvPr id="1635" name="Google Shape;1635;p57"/>
          <p:cNvSpPr/>
          <p:nvPr/>
        </p:nvSpPr>
        <p:spPr>
          <a:xfrm>
            <a:off x="793790" y="1957507"/>
            <a:ext cx="13042800" cy="4236900"/>
          </a:xfrm>
          <a:prstGeom prst="roundRect">
            <a:avLst>
              <a:gd fmla="val 1462" name="adj"/>
            </a:avLst>
          </a:prstGeom>
          <a:noFill/>
          <a:ln cap="flat" cmpd="sng" w="9525">
            <a:solidFill>
              <a:srgbClr val="000000">
                <a:alpha val="784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6" name="Google Shape;1636;p57"/>
          <p:cNvSpPr/>
          <p:nvPr/>
        </p:nvSpPr>
        <p:spPr>
          <a:xfrm>
            <a:off x="801410" y="1965127"/>
            <a:ext cx="13027500" cy="324600"/>
          </a:xfrm>
          <a:prstGeom prst="rect">
            <a:avLst/>
          </a:prstGeom>
          <a:solidFill>
            <a:srgbClr val="FFFFFF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7" name="Google Shape;1637;p57"/>
          <p:cNvSpPr/>
          <p:nvPr/>
        </p:nvSpPr>
        <p:spPr>
          <a:xfrm>
            <a:off x="949166" y="2030135"/>
            <a:ext cx="36096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b="1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Metric</a:t>
            </a:r>
            <a:endParaRPr b="0" i="0" sz="1150" u="none" cap="none" strike="noStrike"/>
          </a:p>
        </p:txBody>
      </p:sp>
      <p:sp>
        <p:nvSpPr>
          <p:cNvPr id="1638" name="Google Shape;1638;p57"/>
          <p:cNvSpPr/>
          <p:nvPr/>
        </p:nvSpPr>
        <p:spPr>
          <a:xfrm>
            <a:off x="4861203" y="2030135"/>
            <a:ext cx="25635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b="1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Baseline EKF</a:t>
            </a:r>
            <a:endParaRPr b="0" i="0" sz="1150" u="none" cap="none" strike="noStrike"/>
          </a:p>
        </p:txBody>
      </p:sp>
      <p:sp>
        <p:nvSpPr>
          <p:cNvPr id="1639" name="Google Shape;1639;p57"/>
          <p:cNvSpPr/>
          <p:nvPr/>
        </p:nvSpPr>
        <p:spPr>
          <a:xfrm>
            <a:off x="7727156" y="2030135"/>
            <a:ext cx="25635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b="1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QF-EKF (This Work)</a:t>
            </a:r>
            <a:endParaRPr b="0" i="0" sz="1150" u="none" cap="none" strike="noStrike"/>
          </a:p>
        </p:txBody>
      </p:sp>
      <p:sp>
        <p:nvSpPr>
          <p:cNvPr id="1640" name="Google Shape;1640;p57"/>
          <p:cNvSpPr/>
          <p:nvPr/>
        </p:nvSpPr>
        <p:spPr>
          <a:xfrm>
            <a:off x="10593110" y="2030135"/>
            <a:ext cx="30885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b="1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Δ Improvement</a:t>
            </a:r>
            <a:endParaRPr b="0" i="0" sz="1150" u="none" cap="none" strike="noStrike"/>
          </a:p>
        </p:txBody>
      </p:sp>
      <p:sp>
        <p:nvSpPr>
          <p:cNvPr id="1641" name="Google Shape;1641;p57"/>
          <p:cNvSpPr/>
          <p:nvPr/>
        </p:nvSpPr>
        <p:spPr>
          <a:xfrm>
            <a:off x="801410" y="2289691"/>
            <a:ext cx="13027500" cy="324600"/>
          </a:xfrm>
          <a:prstGeom prst="rect">
            <a:avLst/>
          </a:prstGeom>
          <a:solidFill>
            <a:srgbClr val="000000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2" name="Google Shape;1642;p57"/>
          <p:cNvSpPr/>
          <p:nvPr/>
        </p:nvSpPr>
        <p:spPr>
          <a:xfrm>
            <a:off x="949166" y="2354699"/>
            <a:ext cx="36096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b="0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IMU Accel X noise (σ)</a:t>
            </a:r>
            <a:endParaRPr b="0" i="0" sz="1150" u="none" cap="none" strike="noStrike"/>
          </a:p>
        </p:txBody>
      </p:sp>
      <p:sp>
        <p:nvSpPr>
          <p:cNvPr id="1643" name="Google Shape;1643;p57"/>
          <p:cNvSpPr/>
          <p:nvPr/>
        </p:nvSpPr>
        <p:spPr>
          <a:xfrm>
            <a:off x="4861203" y="2354699"/>
            <a:ext cx="25635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b="0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0.985 m/s²</a:t>
            </a:r>
            <a:endParaRPr b="0" i="0" sz="1150" u="none" cap="none" strike="noStrike"/>
          </a:p>
        </p:txBody>
      </p:sp>
      <p:sp>
        <p:nvSpPr>
          <p:cNvPr id="1644" name="Google Shape;1644;p57"/>
          <p:cNvSpPr/>
          <p:nvPr/>
        </p:nvSpPr>
        <p:spPr>
          <a:xfrm>
            <a:off x="7727156" y="2354699"/>
            <a:ext cx="25635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b="0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0.218 m/s²</a:t>
            </a:r>
            <a:endParaRPr b="0" i="0" sz="1150" u="none" cap="none" strike="noStrike"/>
          </a:p>
        </p:txBody>
      </p:sp>
      <p:sp>
        <p:nvSpPr>
          <p:cNvPr id="1645" name="Google Shape;1645;p57"/>
          <p:cNvSpPr/>
          <p:nvPr/>
        </p:nvSpPr>
        <p:spPr>
          <a:xfrm>
            <a:off x="10593110" y="2354699"/>
            <a:ext cx="30885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b="1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−75.6% </a:t>
            </a:r>
            <a:r>
              <a:rPr b="0" i="0" lang="en-US" sz="11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✅</a:t>
            </a:r>
            <a:endParaRPr b="0" i="0" sz="1150" u="none" cap="none" strike="noStrike"/>
          </a:p>
        </p:txBody>
      </p:sp>
      <p:sp>
        <p:nvSpPr>
          <p:cNvPr id="1646" name="Google Shape;1646;p57"/>
          <p:cNvSpPr/>
          <p:nvPr/>
        </p:nvSpPr>
        <p:spPr>
          <a:xfrm>
            <a:off x="801410" y="2614255"/>
            <a:ext cx="13027500" cy="324600"/>
          </a:xfrm>
          <a:prstGeom prst="rect">
            <a:avLst/>
          </a:prstGeom>
          <a:solidFill>
            <a:srgbClr val="FFFFFF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7" name="Google Shape;1647;p57"/>
          <p:cNvSpPr/>
          <p:nvPr/>
        </p:nvSpPr>
        <p:spPr>
          <a:xfrm>
            <a:off x="949166" y="2679263"/>
            <a:ext cx="36096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b="0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IMU Gyro Z noise (σ)</a:t>
            </a:r>
            <a:endParaRPr b="0" i="0" sz="1150" u="none" cap="none" strike="noStrike"/>
          </a:p>
        </p:txBody>
      </p:sp>
      <p:sp>
        <p:nvSpPr>
          <p:cNvPr id="1648" name="Google Shape;1648;p57"/>
          <p:cNvSpPr/>
          <p:nvPr/>
        </p:nvSpPr>
        <p:spPr>
          <a:xfrm>
            <a:off x="4861203" y="2679263"/>
            <a:ext cx="25635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b="0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0.204 rad/s</a:t>
            </a:r>
            <a:endParaRPr b="0" i="0" sz="1150" u="none" cap="none" strike="noStrike"/>
          </a:p>
        </p:txBody>
      </p:sp>
      <p:sp>
        <p:nvSpPr>
          <p:cNvPr id="1649" name="Google Shape;1649;p57"/>
          <p:cNvSpPr/>
          <p:nvPr/>
        </p:nvSpPr>
        <p:spPr>
          <a:xfrm>
            <a:off x="7727156" y="2679263"/>
            <a:ext cx="25635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b="0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0.177 rad/s</a:t>
            </a:r>
            <a:endParaRPr b="0" i="0" sz="1150" u="none" cap="none" strike="noStrike"/>
          </a:p>
        </p:txBody>
      </p:sp>
      <p:sp>
        <p:nvSpPr>
          <p:cNvPr id="1650" name="Google Shape;1650;p57"/>
          <p:cNvSpPr/>
          <p:nvPr/>
        </p:nvSpPr>
        <p:spPr>
          <a:xfrm>
            <a:off x="10593110" y="2679263"/>
            <a:ext cx="30885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b="1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−13.2% </a:t>
            </a:r>
            <a:r>
              <a:rPr b="0" i="0" lang="en-US" sz="11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✅</a:t>
            </a:r>
            <a:endParaRPr b="0" i="0" sz="1150" u="none" cap="none" strike="noStrike"/>
          </a:p>
        </p:txBody>
      </p:sp>
      <p:sp>
        <p:nvSpPr>
          <p:cNvPr id="1651" name="Google Shape;1651;p57"/>
          <p:cNvSpPr/>
          <p:nvPr/>
        </p:nvSpPr>
        <p:spPr>
          <a:xfrm>
            <a:off x="801410" y="2938820"/>
            <a:ext cx="13027500" cy="325800"/>
          </a:xfrm>
          <a:prstGeom prst="rect">
            <a:avLst/>
          </a:prstGeom>
          <a:solidFill>
            <a:srgbClr val="000000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2" name="Google Shape;1652;p57"/>
          <p:cNvSpPr/>
          <p:nvPr/>
        </p:nvSpPr>
        <p:spPr>
          <a:xfrm>
            <a:off x="949166" y="3003828"/>
            <a:ext cx="3609600" cy="1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b="0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Visual </a:t>
            </a:r>
            <a:r>
              <a:rPr b="0" i="1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v_x</a:t>
            </a:r>
            <a:r>
              <a:rPr b="0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noise (σ)</a:t>
            </a:r>
            <a:endParaRPr b="0" i="0" sz="1150" u="none" cap="none" strike="noStrike"/>
          </a:p>
        </p:txBody>
      </p:sp>
      <p:sp>
        <p:nvSpPr>
          <p:cNvPr id="1653" name="Google Shape;1653;p57"/>
          <p:cNvSpPr/>
          <p:nvPr/>
        </p:nvSpPr>
        <p:spPr>
          <a:xfrm>
            <a:off x="4861203" y="3003828"/>
            <a:ext cx="25635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b="0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0.480 m/s</a:t>
            </a:r>
            <a:endParaRPr b="0" i="0" sz="1150" u="none" cap="none" strike="noStrike"/>
          </a:p>
        </p:txBody>
      </p:sp>
      <p:sp>
        <p:nvSpPr>
          <p:cNvPr id="1654" name="Google Shape;1654;p57"/>
          <p:cNvSpPr/>
          <p:nvPr/>
        </p:nvSpPr>
        <p:spPr>
          <a:xfrm>
            <a:off x="7727156" y="3003828"/>
            <a:ext cx="25635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b="0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0.214 m/s</a:t>
            </a:r>
            <a:endParaRPr b="0" i="0" sz="1150" u="none" cap="none" strike="noStrike"/>
          </a:p>
        </p:txBody>
      </p:sp>
      <p:sp>
        <p:nvSpPr>
          <p:cNvPr id="1655" name="Google Shape;1655;p57"/>
          <p:cNvSpPr/>
          <p:nvPr/>
        </p:nvSpPr>
        <p:spPr>
          <a:xfrm>
            <a:off x="10593110" y="3003828"/>
            <a:ext cx="30885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b="1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−55.4% </a:t>
            </a:r>
            <a:r>
              <a:rPr b="0" i="0" lang="en-US" sz="11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✅</a:t>
            </a:r>
            <a:endParaRPr b="0" i="0" sz="1150" u="none" cap="none" strike="noStrike"/>
          </a:p>
        </p:txBody>
      </p:sp>
      <p:sp>
        <p:nvSpPr>
          <p:cNvPr id="1656" name="Google Shape;1656;p57"/>
          <p:cNvSpPr/>
          <p:nvPr/>
        </p:nvSpPr>
        <p:spPr>
          <a:xfrm>
            <a:off x="801410" y="3264575"/>
            <a:ext cx="13027500" cy="325800"/>
          </a:xfrm>
          <a:prstGeom prst="rect">
            <a:avLst/>
          </a:prstGeom>
          <a:solidFill>
            <a:srgbClr val="FFFFFF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7" name="Google Shape;1657;p57"/>
          <p:cNvSpPr/>
          <p:nvPr/>
        </p:nvSpPr>
        <p:spPr>
          <a:xfrm>
            <a:off x="949166" y="3329583"/>
            <a:ext cx="3609600" cy="1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b="0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Wheel </a:t>
            </a:r>
            <a:r>
              <a:rPr b="0" i="1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v_x</a:t>
            </a:r>
            <a:r>
              <a:rPr b="0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noise (σ)</a:t>
            </a:r>
            <a:endParaRPr b="0" i="0" sz="1150" u="none" cap="none" strike="noStrike"/>
          </a:p>
        </p:txBody>
      </p:sp>
      <p:sp>
        <p:nvSpPr>
          <p:cNvPr id="1658" name="Google Shape;1658;p57"/>
          <p:cNvSpPr/>
          <p:nvPr/>
        </p:nvSpPr>
        <p:spPr>
          <a:xfrm>
            <a:off x="4861203" y="3329583"/>
            <a:ext cx="25635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b="0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0.032 m/s</a:t>
            </a:r>
            <a:endParaRPr b="0" i="0" sz="1150" u="none" cap="none" strike="noStrike"/>
          </a:p>
        </p:txBody>
      </p:sp>
      <p:sp>
        <p:nvSpPr>
          <p:cNvPr id="1659" name="Google Shape;1659;p57"/>
          <p:cNvSpPr/>
          <p:nvPr/>
        </p:nvSpPr>
        <p:spPr>
          <a:xfrm>
            <a:off x="7727156" y="3329583"/>
            <a:ext cx="25635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b="0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0.032 m/s (raw)</a:t>
            </a:r>
            <a:endParaRPr b="0" i="0" sz="1150" u="none" cap="none" strike="noStrike"/>
          </a:p>
        </p:txBody>
      </p:sp>
      <p:sp>
        <p:nvSpPr>
          <p:cNvPr id="1660" name="Google Shape;1660;p57"/>
          <p:cNvSpPr/>
          <p:nvPr/>
        </p:nvSpPr>
        <p:spPr>
          <a:xfrm>
            <a:off x="10593110" y="3329583"/>
            <a:ext cx="30885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b="0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No change (correct)</a:t>
            </a:r>
            <a:endParaRPr b="0" i="0" sz="1150" u="none" cap="none" strike="noStrike"/>
          </a:p>
        </p:txBody>
      </p:sp>
      <p:sp>
        <p:nvSpPr>
          <p:cNvPr id="1661" name="Google Shape;1661;p57"/>
          <p:cNvSpPr/>
          <p:nvPr/>
        </p:nvSpPr>
        <p:spPr>
          <a:xfrm>
            <a:off x="801410" y="3590330"/>
            <a:ext cx="13027500" cy="324600"/>
          </a:xfrm>
          <a:prstGeom prst="rect">
            <a:avLst/>
          </a:prstGeom>
          <a:solidFill>
            <a:srgbClr val="000000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2" name="Google Shape;1662;p57"/>
          <p:cNvSpPr/>
          <p:nvPr/>
        </p:nvSpPr>
        <p:spPr>
          <a:xfrm>
            <a:off x="949166" y="3655338"/>
            <a:ext cx="36096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b="0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Phase lag introduced</a:t>
            </a:r>
            <a:endParaRPr b="0" i="0" sz="1150" u="none" cap="none" strike="noStrike"/>
          </a:p>
        </p:txBody>
      </p:sp>
      <p:sp>
        <p:nvSpPr>
          <p:cNvPr id="1663" name="Google Shape;1663;p57"/>
          <p:cNvSpPr/>
          <p:nvPr/>
        </p:nvSpPr>
        <p:spPr>
          <a:xfrm>
            <a:off x="4861203" y="3655338"/>
            <a:ext cx="25635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b="0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0 (raw data)</a:t>
            </a:r>
            <a:endParaRPr b="0" i="0" sz="1150" u="none" cap="none" strike="noStrike"/>
          </a:p>
        </p:txBody>
      </p:sp>
      <p:sp>
        <p:nvSpPr>
          <p:cNvPr id="1664" name="Google Shape;1664;p57"/>
          <p:cNvSpPr/>
          <p:nvPr/>
        </p:nvSpPr>
        <p:spPr>
          <a:xfrm>
            <a:off x="7727156" y="3655338"/>
            <a:ext cx="25635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b="0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0–2 samples</a:t>
            </a:r>
            <a:endParaRPr b="0" i="0" sz="1150" u="none" cap="none" strike="noStrike"/>
          </a:p>
        </p:txBody>
      </p:sp>
      <p:sp>
        <p:nvSpPr>
          <p:cNvPr id="1665" name="Google Shape;1665;p57"/>
          <p:cNvSpPr/>
          <p:nvPr/>
        </p:nvSpPr>
        <p:spPr>
          <a:xfrm>
            <a:off x="10593110" y="3655338"/>
            <a:ext cx="30885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b="0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Negligible </a:t>
            </a:r>
            <a:r>
              <a:rPr b="0" i="0" lang="en-US" sz="11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✅</a:t>
            </a:r>
            <a:endParaRPr b="0" i="0" sz="1150" u="none" cap="none" strike="noStrike"/>
          </a:p>
        </p:txBody>
      </p:sp>
      <p:sp>
        <p:nvSpPr>
          <p:cNvPr id="1666" name="Google Shape;1666;p57"/>
          <p:cNvSpPr/>
          <p:nvPr/>
        </p:nvSpPr>
        <p:spPr>
          <a:xfrm>
            <a:off x="801410" y="3914894"/>
            <a:ext cx="13027500" cy="324600"/>
          </a:xfrm>
          <a:prstGeom prst="rect">
            <a:avLst/>
          </a:prstGeom>
          <a:solidFill>
            <a:srgbClr val="FFFFFF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7" name="Google Shape;1667;p57"/>
          <p:cNvSpPr/>
          <p:nvPr/>
        </p:nvSpPr>
        <p:spPr>
          <a:xfrm>
            <a:off x="949166" y="3979902"/>
            <a:ext cx="36096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b="0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EKF#1 Q (x,y position)</a:t>
            </a:r>
            <a:endParaRPr b="0" i="0" sz="1150" u="none" cap="none" strike="noStrike"/>
          </a:p>
        </p:txBody>
      </p:sp>
      <p:sp>
        <p:nvSpPr>
          <p:cNvPr id="1668" name="Google Shape;1668;p57"/>
          <p:cNvSpPr/>
          <p:nvPr/>
        </p:nvSpPr>
        <p:spPr>
          <a:xfrm>
            <a:off x="4861203" y="3979902"/>
            <a:ext cx="25635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b="0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0.050 m²</a:t>
            </a:r>
            <a:endParaRPr b="0" i="0" sz="1150" u="none" cap="none" strike="noStrike"/>
          </a:p>
        </p:txBody>
      </p:sp>
      <p:sp>
        <p:nvSpPr>
          <p:cNvPr id="1669" name="Google Shape;1669;p57"/>
          <p:cNvSpPr/>
          <p:nvPr/>
        </p:nvSpPr>
        <p:spPr>
          <a:xfrm>
            <a:off x="7727156" y="3979902"/>
            <a:ext cx="25635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b="0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0.035 m²</a:t>
            </a:r>
            <a:endParaRPr b="0" i="0" sz="1150" u="none" cap="none" strike="noStrike"/>
          </a:p>
        </p:txBody>
      </p:sp>
      <p:sp>
        <p:nvSpPr>
          <p:cNvPr id="1670" name="Google Shape;1670;p57"/>
          <p:cNvSpPr/>
          <p:nvPr/>
        </p:nvSpPr>
        <p:spPr>
          <a:xfrm>
            <a:off x="10593110" y="3979902"/>
            <a:ext cx="30885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b="1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−30% tighter </a:t>
            </a:r>
            <a:r>
              <a:rPr b="0" i="0" lang="en-US" sz="11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✅</a:t>
            </a:r>
            <a:endParaRPr b="0" i="0" sz="1150" u="none" cap="none" strike="noStrike"/>
          </a:p>
        </p:txBody>
      </p:sp>
      <p:sp>
        <p:nvSpPr>
          <p:cNvPr id="1671" name="Google Shape;1671;p57"/>
          <p:cNvSpPr/>
          <p:nvPr/>
        </p:nvSpPr>
        <p:spPr>
          <a:xfrm>
            <a:off x="801410" y="4239458"/>
            <a:ext cx="13027500" cy="324600"/>
          </a:xfrm>
          <a:prstGeom prst="rect">
            <a:avLst/>
          </a:prstGeom>
          <a:solidFill>
            <a:srgbClr val="000000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2" name="Google Shape;1672;p57"/>
          <p:cNvSpPr/>
          <p:nvPr/>
        </p:nvSpPr>
        <p:spPr>
          <a:xfrm>
            <a:off x="949166" y="4304467"/>
            <a:ext cx="36096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b="0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EKF#1 Q (velocity)</a:t>
            </a:r>
            <a:endParaRPr b="0" i="0" sz="1150" u="none" cap="none" strike="noStrike"/>
          </a:p>
        </p:txBody>
      </p:sp>
      <p:sp>
        <p:nvSpPr>
          <p:cNvPr id="1673" name="Google Shape;1673;p57"/>
          <p:cNvSpPr/>
          <p:nvPr/>
        </p:nvSpPr>
        <p:spPr>
          <a:xfrm>
            <a:off x="4861203" y="4304467"/>
            <a:ext cx="25635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b="0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0.025 m²/s</a:t>
            </a:r>
            <a:endParaRPr b="0" i="0" sz="1150" u="none" cap="none" strike="noStrike"/>
          </a:p>
        </p:txBody>
      </p:sp>
      <p:sp>
        <p:nvSpPr>
          <p:cNvPr id="1674" name="Google Shape;1674;p57"/>
          <p:cNvSpPr/>
          <p:nvPr/>
        </p:nvSpPr>
        <p:spPr>
          <a:xfrm>
            <a:off x="7727156" y="4304467"/>
            <a:ext cx="25635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b="0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0.015 m²/s</a:t>
            </a:r>
            <a:endParaRPr b="0" i="0" sz="1150" u="none" cap="none" strike="noStrike"/>
          </a:p>
        </p:txBody>
      </p:sp>
      <p:sp>
        <p:nvSpPr>
          <p:cNvPr id="1675" name="Google Shape;1675;p57"/>
          <p:cNvSpPr/>
          <p:nvPr/>
        </p:nvSpPr>
        <p:spPr>
          <a:xfrm>
            <a:off x="10593110" y="4304467"/>
            <a:ext cx="30885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b="1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−40% tighter </a:t>
            </a:r>
            <a:r>
              <a:rPr b="0" i="0" lang="en-US" sz="11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✅</a:t>
            </a:r>
            <a:endParaRPr b="0" i="0" sz="1150" u="none" cap="none" strike="noStrike"/>
          </a:p>
        </p:txBody>
      </p:sp>
      <p:sp>
        <p:nvSpPr>
          <p:cNvPr id="1676" name="Google Shape;1676;p57"/>
          <p:cNvSpPr/>
          <p:nvPr/>
        </p:nvSpPr>
        <p:spPr>
          <a:xfrm>
            <a:off x="801410" y="4564023"/>
            <a:ext cx="13027500" cy="324600"/>
          </a:xfrm>
          <a:prstGeom prst="rect">
            <a:avLst/>
          </a:prstGeom>
          <a:solidFill>
            <a:srgbClr val="FFFFFF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7" name="Google Shape;1677;p57"/>
          <p:cNvSpPr/>
          <p:nvPr/>
        </p:nvSpPr>
        <p:spPr>
          <a:xfrm>
            <a:off x="949166" y="4629031"/>
            <a:ext cx="36096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b="0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IMU rejection threshold</a:t>
            </a:r>
            <a:endParaRPr b="0" i="0" sz="1150" u="none" cap="none" strike="noStrike"/>
          </a:p>
        </p:txBody>
      </p:sp>
      <p:sp>
        <p:nvSpPr>
          <p:cNvPr id="1678" name="Google Shape;1678;p57"/>
          <p:cNvSpPr/>
          <p:nvPr/>
        </p:nvSpPr>
        <p:spPr>
          <a:xfrm>
            <a:off x="4861203" y="4629031"/>
            <a:ext cx="25635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b="0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0.8 σ</a:t>
            </a:r>
            <a:endParaRPr b="0" i="0" sz="1150" u="none" cap="none" strike="noStrike"/>
          </a:p>
        </p:txBody>
      </p:sp>
      <p:sp>
        <p:nvSpPr>
          <p:cNvPr id="1679" name="Google Shape;1679;p57"/>
          <p:cNvSpPr/>
          <p:nvPr/>
        </p:nvSpPr>
        <p:spPr>
          <a:xfrm>
            <a:off x="7727156" y="4629031"/>
            <a:ext cx="25635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b="0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0.6 σ</a:t>
            </a:r>
            <a:endParaRPr b="0" i="0" sz="1150" u="none" cap="none" strike="noStrike"/>
          </a:p>
        </p:txBody>
      </p:sp>
      <p:sp>
        <p:nvSpPr>
          <p:cNvPr id="1680" name="Google Shape;1680;p57"/>
          <p:cNvSpPr/>
          <p:nvPr/>
        </p:nvSpPr>
        <p:spPr>
          <a:xfrm>
            <a:off x="10593110" y="4629031"/>
            <a:ext cx="30885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b="1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−25% tighter </a:t>
            </a:r>
            <a:r>
              <a:rPr b="0" i="0" lang="en-US" sz="11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✅</a:t>
            </a:r>
            <a:endParaRPr b="0" i="0" sz="1150" u="none" cap="none" strike="noStrike"/>
          </a:p>
        </p:txBody>
      </p:sp>
      <p:sp>
        <p:nvSpPr>
          <p:cNvPr id="1681" name="Google Shape;1681;p57"/>
          <p:cNvSpPr/>
          <p:nvPr/>
        </p:nvSpPr>
        <p:spPr>
          <a:xfrm>
            <a:off x="801410" y="4888587"/>
            <a:ext cx="13027500" cy="324600"/>
          </a:xfrm>
          <a:prstGeom prst="rect">
            <a:avLst/>
          </a:prstGeom>
          <a:solidFill>
            <a:srgbClr val="000000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2" name="Google Shape;1682;p57"/>
          <p:cNvSpPr/>
          <p:nvPr/>
        </p:nvSpPr>
        <p:spPr>
          <a:xfrm>
            <a:off x="949166" y="4953595"/>
            <a:ext cx="36096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b="0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Final global drift</a:t>
            </a:r>
            <a:endParaRPr b="0" i="0" sz="1150" u="none" cap="none" strike="noStrike"/>
          </a:p>
        </p:txBody>
      </p:sp>
      <p:sp>
        <p:nvSpPr>
          <p:cNvPr id="1683" name="Google Shape;1683;p57"/>
          <p:cNvSpPr/>
          <p:nvPr/>
        </p:nvSpPr>
        <p:spPr>
          <a:xfrm>
            <a:off x="4861203" y="4953595"/>
            <a:ext cx="25635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b="0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~1.5 m (est)</a:t>
            </a:r>
            <a:endParaRPr b="0" i="0" sz="1150" u="none" cap="none" strike="noStrike"/>
          </a:p>
        </p:txBody>
      </p:sp>
      <p:sp>
        <p:nvSpPr>
          <p:cNvPr id="1684" name="Google Shape;1684;p57"/>
          <p:cNvSpPr/>
          <p:nvPr/>
        </p:nvSpPr>
        <p:spPr>
          <a:xfrm>
            <a:off x="7727156" y="4953595"/>
            <a:ext cx="25635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b="1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0.466 m</a:t>
            </a:r>
            <a:endParaRPr b="0" i="0" sz="1150" u="none" cap="none" strike="noStrike"/>
          </a:p>
        </p:txBody>
      </p:sp>
      <p:sp>
        <p:nvSpPr>
          <p:cNvPr id="1685" name="Google Shape;1685;p57"/>
          <p:cNvSpPr/>
          <p:nvPr/>
        </p:nvSpPr>
        <p:spPr>
          <a:xfrm>
            <a:off x="10593110" y="4953595"/>
            <a:ext cx="30885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b="1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−69% </a:t>
            </a:r>
            <a:r>
              <a:rPr b="0" i="0" lang="en-US" sz="11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✅</a:t>
            </a:r>
            <a:endParaRPr b="0" i="0" sz="1150" u="none" cap="none" strike="noStrike"/>
          </a:p>
        </p:txBody>
      </p:sp>
      <p:sp>
        <p:nvSpPr>
          <p:cNvPr id="1686" name="Google Shape;1686;p57"/>
          <p:cNvSpPr/>
          <p:nvPr/>
        </p:nvSpPr>
        <p:spPr>
          <a:xfrm>
            <a:off x="801410" y="5213152"/>
            <a:ext cx="13027500" cy="324600"/>
          </a:xfrm>
          <a:prstGeom prst="rect">
            <a:avLst/>
          </a:prstGeom>
          <a:solidFill>
            <a:srgbClr val="FFFFFF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7" name="Google Shape;1687;p57"/>
          <p:cNvSpPr/>
          <p:nvPr/>
        </p:nvSpPr>
        <p:spPr>
          <a:xfrm>
            <a:off x="949166" y="5278160"/>
            <a:ext cx="36096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b="0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GPS Innovation RMSE</a:t>
            </a:r>
            <a:endParaRPr b="0" i="0" sz="1150" u="none" cap="none" strike="noStrike"/>
          </a:p>
        </p:txBody>
      </p:sp>
      <p:sp>
        <p:nvSpPr>
          <p:cNvPr id="1688" name="Google Shape;1688;p57"/>
          <p:cNvSpPr/>
          <p:nvPr/>
        </p:nvSpPr>
        <p:spPr>
          <a:xfrm>
            <a:off x="4861203" y="5278160"/>
            <a:ext cx="25635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b="0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—</a:t>
            </a:r>
            <a:endParaRPr b="0" i="0" sz="1150" u="none" cap="none" strike="noStrike"/>
          </a:p>
        </p:txBody>
      </p:sp>
      <p:sp>
        <p:nvSpPr>
          <p:cNvPr id="1689" name="Google Shape;1689;p57"/>
          <p:cNvSpPr/>
          <p:nvPr/>
        </p:nvSpPr>
        <p:spPr>
          <a:xfrm>
            <a:off x="7727156" y="5278160"/>
            <a:ext cx="25635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b="0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0.123 m</a:t>
            </a:r>
            <a:endParaRPr b="0" i="0" sz="1150" u="none" cap="none" strike="noStrike"/>
          </a:p>
        </p:txBody>
      </p:sp>
      <p:sp>
        <p:nvSpPr>
          <p:cNvPr id="1690" name="Google Shape;1690;p57"/>
          <p:cNvSpPr/>
          <p:nvPr/>
        </p:nvSpPr>
        <p:spPr>
          <a:xfrm>
            <a:off x="10593110" y="5278160"/>
            <a:ext cx="30885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b="0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&lt; GPS σ=0.5 m </a:t>
            </a:r>
            <a:r>
              <a:rPr b="0" i="0" lang="en-US" sz="11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✅</a:t>
            </a:r>
            <a:endParaRPr b="0" i="0" sz="1150" u="none" cap="none" strike="noStrike"/>
          </a:p>
        </p:txBody>
      </p:sp>
      <p:sp>
        <p:nvSpPr>
          <p:cNvPr id="1691" name="Google Shape;1691;p57"/>
          <p:cNvSpPr/>
          <p:nvPr/>
        </p:nvSpPr>
        <p:spPr>
          <a:xfrm>
            <a:off x="801410" y="5537716"/>
            <a:ext cx="13027500" cy="324600"/>
          </a:xfrm>
          <a:prstGeom prst="rect">
            <a:avLst/>
          </a:prstGeom>
          <a:solidFill>
            <a:srgbClr val="000000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2" name="Google Shape;1692;p57"/>
          <p:cNvSpPr/>
          <p:nvPr/>
        </p:nvSpPr>
        <p:spPr>
          <a:xfrm>
            <a:off x="949166" y="5602724"/>
            <a:ext cx="36096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b="0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Innovation normality</a:t>
            </a:r>
            <a:endParaRPr b="0" i="0" sz="1150" u="none" cap="none" strike="noStrike"/>
          </a:p>
        </p:txBody>
      </p:sp>
      <p:sp>
        <p:nvSpPr>
          <p:cNvPr id="1693" name="Google Shape;1693;p57"/>
          <p:cNvSpPr/>
          <p:nvPr/>
        </p:nvSpPr>
        <p:spPr>
          <a:xfrm>
            <a:off x="4861203" y="5602724"/>
            <a:ext cx="25635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b="0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—</a:t>
            </a:r>
            <a:endParaRPr b="0" i="0" sz="1150" u="none" cap="none" strike="noStrike"/>
          </a:p>
        </p:txBody>
      </p:sp>
      <p:sp>
        <p:nvSpPr>
          <p:cNvPr id="1694" name="Google Shape;1694;p57"/>
          <p:cNvSpPr/>
          <p:nvPr/>
        </p:nvSpPr>
        <p:spPr>
          <a:xfrm>
            <a:off x="7727156" y="5602724"/>
            <a:ext cx="25635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b="0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 &gt; 0.05</a:t>
            </a:r>
            <a:endParaRPr b="0" i="0" sz="1150" u="none" cap="none" strike="noStrike"/>
          </a:p>
        </p:txBody>
      </p:sp>
      <p:sp>
        <p:nvSpPr>
          <p:cNvPr id="1695" name="Google Shape;1695;p57"/>
          <p:cNvSpPr/>
          <p:nvPr/>
        </p:nvSpPr>
        <p:spPr>
          <a:xfrm>
            <a:off x="10593110" y="5602724"/>
            <a:ext cx="30885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b="0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Gaussian confirmed </a:t>
            </a:r>
            <a:r>
              <a:rPr b="0" i="0" lang="en-US" sz="11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✅</a:t>
            </a:r>
            <a:endParaRPr b="0" i="0" sz="1150" u="none" cap="none" strike="noStrike"/>
          </a:p>
        </p:txBody>
      </p:sp>
      <p:sp>
        <p:nvSpPr>
          <p:cNvPr id="1696" name="Google Shape;1696;p57"/>
          <p:cNvSpPr/>
          <p:nvPr/>
        </p:nvSpPr>
        <p:spPr>
          <a:xfrm>
            <a:off x="801410" y="5862280"/>
            <a:ext cx="13027500" cy="324600"/>
          </a:xfrm>
          <a:prstGeom prst="rect">
            <a:avLst/>
          </a:prstGeom>
          <a:solidFill>
            <a:srgbClr val="FFFFFF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7" name="Google Shape;1697;p57"/>
          <p:cNvSpPr/>
          <p:nvPr/>
        </p:nvSpPr>
        <p:spPr>
          <a:xfrm>
            <a:off x="949166" y="5927288"/>
            <a:ext cx="36096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b="0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Pose filtering → drift</a:t>
            </a:r>
            <a:endParaRPr b="0" i="0" sz="1150" u="none" cap="none" strike="noStrike"/>
          </a:p>
        </p:txBody>
      </p:sp>
      <p:sp>
        <p:nvSpPr>
          <p:cNvPr id="1698" name="Google Shape;1698;p57"/>
          <p:cNvSpPr/>
          <p:nvPr/>
        </p:nvSpPr>
        <p:spPr>
          <a:xfrm>
            <a:off x="4861203" y="5927288"/>
            <a:ext cx="25635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b="0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N/A</a:t>
            </a:r>
            <a:endParaRPr b="0" i="0" sz="1150" u="none" cap="none" strike="noStrike"/>
          </a:p>
        </p:txBody>
      </p:sp>
      <p:sp>
        <p:nvSpPr>
          <p:cNvPr id="1699" name="Google Shape;1699;p57"/>
          <p:cNvSpPr/>
          <p:nvPr/>
        </p:nvSpPr>
        <p:spPr>
          <a:xfrm>
            <a:off x="7727156" y="5927288"/>
            <a:ext cx="25635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b="0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Fixed: twist only</a:t>
            </a:r>
            <a:endParaRPr b="0" i="0" sz="1150" u="none" cap="none" strike="noStrike"/>
          </a:p>
        </p:txBody>
      </p:sp>
      <p:sp>
        <p:nvSpPr>
          <p:cNvPr id="1700" name="Google Shape;1700;p57"/>
          <p:cNvSpPr/>
          <p:nvPr/>
        </p:nvSpPr>
        <p:spPr>
          <a:xfrm>
            <a:off x="10593110" y="5927288"/>
            <a:ext cx="30885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b="1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21 m → 0.47 m </a:t>
            </a:r>
            <a:r>
              <a:rPr b="0" i="0" lang="en-US" sz="11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✅</a:t>
            </a:r>
            <a:endParaRPr b="0" i="0" sz="1150" u="none" cap="none" strike="noStrike"/>
          </a:p>
        </p:txBody>
      </p:sp>
      <p:sp>
        <p:nvSpPr>
          <p:cNvPr id="1701" name="Google Shape;1701;p57"/>
          <p:cNvSpPr/>
          <p:nvPr/>
        </p:nvSpPr>
        <p:spPr>
          <a:xfrm>
            <a:off x="1540669" y="6375916"/>
            <a:ext cx="2773800" cy="4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3800"/>
              <a:buFont typeface="Petrona"/>
              <a:buNone/>
            </a:pPr>
            <a:r>
              <a:rPr b="1" i="0" lang="en-US" sz="38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-75.6%</a:t>
            </a:r>
            <a:endParaRPr b="0" i="0" sz="3800" u="none" cap="none" strike="noStrike"/>
          </a:p>
        </p:txBody>
      </p:sp>
      <p:sp>
        <p:nvSpPr>
          <p:cNvPr id="1702" name="Google Shape;1702;p57"/>
          <p:cNvSpPr/>
          <p:nvPr/>
        </p:nvSpPr>
        <p:spPr>
          <a:xfrm>
            <a:off x="1960007" y="7007900"/>
            <a:ext cx="1935000" cy="2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00"/>
              <a:buFont typeface="Petrona"/>
              <a:buNone/>
            </a:pPr>
            <a:r>
              <a:rPr b="1" i="0" lang="en-US" sz="15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IMU Accel X Noise</a:t>
            </a:r>
            <a:endParaRPr b="0" i="0" sz="1500" u="none" cap="none" strike="noStrike"/>
          </a:p>
        </p:txBody>
      </p:sp>
      <p:sp>
        <p:nvSpPr>
          <p:cNvPr id="1703" name="Google Shape;1703;p57"/>
          <p:cNvSpPr/>
          <p:nvPr/>
        </p:nvSpPr>
        <p:spPr>
          <a:xfrm>
            <a:off x="5928122" y="6375916"/>
            <a:ext cx="2774100" cy="4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3800"/>
              <a:buFont typeface="Petrona"/>
              <a:buNone/>
            </a:pPr>
            <a:r>
              <a:rPr b="1" i="0" lang="en-US" sz="38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-69%</a:t>
            </a:r>
            <a:endParaRPr b="0" i="0" sz="3800" u="none" cap="none" strike="noStrike"/>
          </a:p>
        </p:txBody>
      </p:sp>
      <p:sp>
        <p:nvSpPr>
          <p:cNvPr id="1704" name="Google Shape;1704;p57"/>
          <p:cNvSpPr/>
          <p:nvPr/>
        </p:nvSpPr>
        <p:spPr>
          <a:xfrm>
            <a:off x="6347579" y="7007900"/>
            <a:ext cx="1935000" cy="2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00"/>
              <a:buFont typeface="Petrona"/>
              <a:buNone/>
            </a:pPr>
            <a:r>
              <a:rPr b="1" i="0" lang="en-US" sz="15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Final Global Drift</a:t>
            </a:r>
            <a:endParaRPr b="0" i="0" sz="1500" u="none" cap="none" strike="noStrike"/>
          </a:p>
        </p:txBody>
      </p:sp>
      <p:sp>
        <p:nvSpPr>
          <p:cNvPr id="1705" name="Google Shape;1705;p57"/>
          <p:cNvSpPr/>
          <p:nvPr/>
        </p:nvSpPr>
        <p:spPr>
          <a:xfrm>
            <a:off x="10315694" y="6375916"/>
            <a:ext cx="2774100" cy="4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3800"/>
              <a:buFont typeface="Petrona"/>
              <a:buNone/>
            </a:pPr>
            <a:r>
              <a:rPr b="1" i="0" lang="en-US" sz="38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0.466m</a:t>
            </a:r>
            <a:endParaRPr b="0" i="0" sz="3800" u="none" cap="none" strike="noStrike"/>
          </a:p>
        </p:txBody>
      </p:sp>
      <p:sp>
        <p:nvSpPr>
          <p:cNvPr id="1706" name="Google Shape;1706;p57"/>
          <p:cNvSpPr/>
          <p:nvPr/>
        </p:nvSpPr>
        <p:spPr>
          <a:xfrm>
            <a:off x="10735151" y="7007900"/>
            <a:ext cx="1935000" cy="2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00"/>
              <a:buFont typeface="Petrona"/>
              <a:buNone/>
            </a:pPr>
            <a:r>
              <a:rPr b="1" i="0" lang="en-US" sz="15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Final Drift Achieved</a:t>
            </a:r>
            <a:endParaRPr b="0" i="0" sz="1500" u="none" cap="none" strike="noStrike"/>
          </a:p>
        </p:txBody>
      </p:sp>
      <p:sp>
        <p:nvSpPr>
          <p:cNvPr id="1707" name="Google Shape;1707;p57"/>
          <p:cNvSpPr/>
          <p:nvPr/>
        </p:nvSpPr>
        <p:spPr>
          <a:xfrm>
            <a:off x="12845075" y="7780725"/>
            <a:ext cx="1680600" cy="356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45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2" name="Shape 1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3" name="Google Shape;1713;p58"/>
          <p:cNvSpPr/>
          <p:nvPr/>
        </p:nvSpPr>
        <p:spPr>
          <a:xfrm>
            <a:off x="781407" y="698897"/>
            <a:ext cx="43233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4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50"/>
              <a:buFont typeface="Petrona"/>
              <a:buNone/>
            </a:pPr>
            <a:r>
              <a:rPr b="1" i="0" lang="en-US" sz="295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Summary &amp; Conclusions</a:t>
            </a:r>
            <a:endParaRPr b="0" i="0" sz="2950" u="none" cap="none" strike="noStrike"/>
          </a:p>
        </p:txBody>
      </p:sp>
      <p:sp>
        <p:nvSpPr>
          <p:cNvPr id="1714" name="Google Shape;1714;p58"/>
          <p:cNvSpPr/>
          <p:nvPr/>
        </p:nvSpPr>
        <p:spPr>
          <a:xfrm>
            <a:off x="781407" y="1360765"/>
            <a:ext cx="130677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1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Quantum-enhanced sensor fusion achieves sub-metre drift with zero-lag pre-filtering</a:t>
            </a:r>
            <a:endParaRPr b="0" i="0" sz="1100" u="none" cap="none" strike="noStrike"/>
          </a:p>
        </p:txBody>
      </p:sp>
      <p:sp>
        <p:nvSpPr>
          <p:cNvPr id="1715" name="Google Shape;1715;p58"/>
          <p:cNvSpPr/>
          <p:nvPr/>
        </p:nvSpPr>
        <p:spPr>
          <a:xfrm>
            <a:off x="781407" y="1655564"/>
            <a:ext cx="326400" cy="326400"/>
          </a:xfrm>
          <a:prstGeom prst="roundRect">
            <a:avLst>
              <a:gd fmla="val 18671" name="adj"/>
            </a:avLst>
          </a:prstGeom>
          <a:solidFill>
            <a:srgbClr val="CCEEFF"/>
          </a:solidFill>
          <a:ln cap="flat" cmpd="sng" w="9525">
            <a:solidFill>
              <a:srgbClr val="B2D4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6" name="Google Shape;1716;p58"/>
          <p:cNvSpPr/>
          <p:nvPr/>
        </p:nvSpPr>
        <p:spPr>
          <a:xfrm>
            <a:off x="830401" y="1675983"/>
            <a:ext cx="228600" cy="28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Petrona"/>
              <a:buNone/>
            </a:pPr>
            <a:r>
              <a:rPr b="1" i="0" lang="en-US" sz="175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1</a:t>
            </a:r>
            <a:endParaRPr b="0" i="0" sz="1750" u="none" cap="none" strike="noStrike"/>
          </a:p>
        </p:txBody>
      </p:sp>
      <p:sp>
        <p:nvSpPr>
          <p:cNvPr id="1717" name="Google Shape;1717;p58"/>
          <p:cNvSpPr/>
          <p:nvPr/>
        </p:nvSpPr>
        <p:spPr>
          <a:xfrm>
            <a:off x="1200626" y="1705451"/>
            <a:ext cx="33912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58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Petrona"/>
              <a:buNone/>
            </a:pPr>
            <a:r>
              <a:rPr b="1" i="0" lang="en-US" sz="145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RQNN extends Gandhi et al. to robotics</a:t>
            </a:r>
            <a:endParaRPr b="0" i="0" sz="1450" u="none" cap="none" strike="noStrike"/>
          </a:p>
        </p:txBody>
      </p:sp>
      <p:sp>
        <p:nvSpPr>
          <p:cNvPr id="1718" name="Google Shape;1718;p58"/>
          <p:cNvSpPr/>
          <p:nvPr/>
        </p:nvSpPr>
        <p:spPr>
          <a:xfrm>
            <a:off x="1200626" y="1999178"/>
            <a:ext cx="126483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1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Recursive Quantum Neural Network, originally designed for EEG, maps directly to IMU/odometry noise: non-stationary, burst artifacts, zero-lag critical, real-time constraint. PSO optimizes parameters offline; Hebbian update adapts online.</a:t>
            </a:r>
            <a:endParaRPr b="0" i="0" sz="1100" u="none" cap="none" strike="noStrike"/>
          </a:p>
        </p:txBody>
      </p:sp>
      <p:sp>
        <p:nvSpPr>
          <p:cNvPr id="1719" name="Google Shape;1719;p58"/>
          <p:cNvSpPr/>
          <p:nvPr/>
        </p:nvSpPr>
        <p:spPr>
          <a:xfrm>
            <a:off x="781407" y="2565559"/>
            <a:ext cx="326400" cy="326400"/>
          </a:xfrm>
          <a:prstGeom prst="roundRect">
            <a:avLst>
              <a:gd fmla="val 18671" name="adj"/>
            </a:avLst>
          </a:prstGeom>
          <a:solidFill>
            <a:srgbClr val="CCEEFF"/>
          </a:solidFill>
          <a:ln cap="flat" cmpd="sng" w="9525">
            <a:solidFill>
              <a:srgbClr val="B2D4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0" name="Google Shape;1720;p58"/>
          <p:cNvSpPr/>
          <p:nvPr/>
        </p:nvSpPr>
        <p:spPr>
          <a:xfrm>
            <a:off x="830401" y="2585978"/>
            <a:ext cx="228600" cy="28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Petrona"/>
              <a:buNone/>
            </a:pPr>
            <a:r>
              <a:rPr b="1" i="0" lang="en-US" sz="175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2</a:t>
            </a:r>
            <a:endParaRPr b="0" i="0" sz="1750" u="none" cap="none" strike="noStrike"/>
          </a:p>
        </p:txBody>
      </p:sp>
      <p:sp>
        <p:nvSpPr>
          <p:cNvPr id="1721" name="Google Shape;1721;p58"/>
          <p:cNvSpPr/>
          <p:nvPr/>
        </p:nvSpPr>
        <p:spPr>
          <a:xfrm>
            <a:off x="1200626" y="2615446"/>
            <a:ext cx="33798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58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Petrona"/>
              <a:buNone/>
            </a:pPr>
            <a:r>
              <a:rPr b="1" i="0" lang="en-US" sz="145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Zero-lag filtering is mandatory for EKF</a:t>
            </a:r>
            <a:endParaRPr b="0" i="0" sz="1450" u="none" cap="none" strike="noStrike"/>
          </a:p>
        </p:txBody>
      </p:sp>
      <p:sp>
        <p:nvSpPr>
          <p:cNvPr id="1722" name="Google Shape;1722;p58"/>
          <p:cNvSpPr/>
          <p:nvPr/>
        </p:nvSpPr>
        <p:spPr>
          <a:xfrm>
            <a:off x="1200626" y="2909173"/>
            <a:ext cx="126483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1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Classical filters (Butterworth, SG) introduce group delay → velocity bias in differential mode → unbounded drift. RQNN maintains 0–2 sample lag. Critical insight: </a:t>
            </a:r>
            <a:r>
              <a:rPr b="0" i="0" lang="en-US" sz="1100" u="none" cap="none" strike="noStrike">
                <a:solidFill>
                  <a:srgbClr val="27252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lag_weight</a:t>
            </a:r>
            <a:r>
              <a:rPr b="0" i="0" lang="en-US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in PSO = 0.3 (not 1.0).</a:t>
            </a:r>
            <a:endParaRPr b="0" i="0" sz="1100" u="none" cap="none" strike="noStrike"/>
          </a:p>
        </p:txBody>
      </p:sp>
      <p:sp>
        <p:nvSpPr>
          <p:cNvPr id="1723" name="Google Shape;1723;p58"/>
          <p:cNvSpPr/>
          <p:nvPr/>
        </p:nvSpPr>
        <p:spPr>
          <a:xfrm>
            <a:off x="781407" y="3483173"/>
            <a:ext cx="326400" cy="326400"/>
          </a:xfrm>
          <a:prstGeom prst="roundRect">
            <a:avLst>
              <a:gd fmla="val 18671" name="adj"/>
            </a:avLst>
          </a:prstGeom>
          <a:solidFill>
            <a:srgbClr val="CCEEFF"/>
          </a:solidFill>
          <a:ln cap="flat" cmpd="sng" w="9525">
            <a:solidFill>
              <a:srgbClr val="B2D4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4" name="Google Shape;1724;p58"/>
          <p:cNvSpPr/>
          <p:nvPr/>
        </p:nvSpPr>
        <p:spPr>
          <a:xfrm>
            <a:off x="830401" y="3503593"/>
            <a:ext cx="228600" cy="28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Petrona"/>
              <a:buNone/>
            </a:pPr>
            <a:r>
              <a:rPr b="1" i="0" lang="en-US" sz="175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3</a:t>
            </a:r>
            <a:endParaRPr b="0" i="0" sz="1750" u="none" cap="none" strike="noStrike"/>
          </a:p>
        </p:txBody>
      </p:sp>
      <p:sp>
        <p:nvSpPr>
          <p:cNvPr id="1725" name="Google Shape;1725;p58"/>
          <p:cNvSpPr/>
          <p:nvPr/>
        </p:nvSpPr>
        <p:spPr>
          <a:xfrm>
            <a:off x="1200626" y="3533061"/>
            <a:ext cx="34236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58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Petrona"/>
              <a:buNone/>
            </a:pPr>
            <a:r>
              <a:rPr b="1" i="0" lang="en-US" sz="145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Filter what benefits — skip what doesn't</a:t>
            </a:r>
            <a:endParaRPr b="0" i="0" sz="1450" u="none" cap="none" strike="noStrike"/>
          </a:p>
        </p:txBody>
      </p:sp>
      <p:sp>
        <p:nvSpPr>
          <p:cNvPr id="1726" name="Google Shape;1726;p58"/>
          <p:cNvSpPr/>
          <p:nvPr/>
        </p:nvSpPr>
        <p:spPr>
          <a:xfrm>
            <a:off x="1200626" y="3826788"/>
            <a:ext cx="126483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1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Wheel odometry: RQNN degrades it (−6.9% SNR) — use raw. IMU accel: 75.6% noise reduction. Visual VO </a:t>
            </a:r>
            <a:r>
              <a:rPr b="0" i="1" lang="en-US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v_x</a:t>
            </a:r>
            <a:r>
              <a:rPr b="0" i="0" lang="en-US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: 54.7% reduction. GPS: pass-through; Mahalanobis gate handles outliers.</a:t>
            </a:r>
            <a:endParaRPr b="0" i="0" sz="1100" u="none" cap="none" strike="noStrike"/>
          </a:p>
        </p:txBody>
      </p:sp>
      <p:sp>
        <p:nvSpPr>
          <p:cNvPr id="1727" name="Google Shape;1727;p58"/>
          <p:cNvSpPr/>
          <p:nvPr/>
        </p:nvSpPr>
        <p:spPr>
          <a:xfrm>
            <a:off x="781407" y="4205407"/>
            <a:ext cx="326400" cy="326400"/>
          </a:xfrm>
          <a:prstGeom prst="roundRect">
            <a:avLst>
              <a:gd fmla="val 18671" name="adj"/>
            </a:avLst>
          </a:prstGeom>
          <a:solidFill>
            <a:srgbClr val="CCEEFF"/>
          </a:solidFill>
          <a:ln cap="flat" cmpd="sng" w="9525">
            <a:solidFill>
              <a:srgbClr val="B2D4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8" name="Google Shape;1728;p58"/>
          <p:cNvSpPr/>
          <p:nvPr/>
        </p:nvSpPr>
        <p:spPr>
          <a:xfrm>
            <a:off x="830401" y="4225826"/>
            <a:ext cx="228600" cy="28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Petrona"/>
              <a:buNone/>
            </a:pPr>
            <a:r>
              <a:rPr b="1" i="0" lang="en-US" sz="175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4</a:t>
            </a:r>
            <a:endParaRPr b="0" i="0" sz="1750" u="none" cap="none" strike="noStrike"/>
          </a:p>
        </p:txBody>
      </p:sp>
      <p:sp>
        <p:nvSpPr>
          <p:cNvPr id="1729" name="Google Shape;1729;p58"/>
          <p:cNvSpPr/>
          <p:nvPr/>
        </p:nvSpPr>
        <p:spPr>
          <a:xfrm>
            <a:off x="1200626" y="4255294"/>
            <a:ext cx="33684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58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Petrona"/>
              <a:buNone/>
            </a:pPr>
            <a:r>
              <a:rPr b="1" i="0" lang="en-US" sz="145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Pose vs Twist: the 21 m → 0.46 m lesson</a:t>
            </a:r>
            <a:endParaRPr b="0" i="0" sz="1450" u="none" cap="none" strike="noStrike"/>
          </a:p>
        </p:txBody>
      </p:sp>
      <p:sp>
        <p:nvSpPr>
          <p:cNvPr id="1730" name="Google Shape;1730;p58"/>
          <p:cNvSpPr/>
          <p:nvPr/>
        </p:nvSpPr>
        <p:spPr>
          <a:xfrm>
            <a:off x="1200626" y="4549021"/>
            <a:ext cx="126483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1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Filtering absolute pose then differencing (</a:t>
            </a:r>
            <a:r>
              <a:rPr b="0" i="0" lang="en-US" sz="1100" u="none" cap="none" strike="noStrike">
                <a:solidFill>
                  <a:srgbClr val="27252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differential:true</a:t>
            </a:r>
            <a:r>
              <a:rPr b="0" i="0" lang="en-US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) creates systematic velocity bias. Solution: filter twist only, pass pose unfiltered. Impact: 21 m drift collapsed to 0.47 m in a single fix.</a:t>
            </a:r>
            <a:endParaRPr b="0" i="0" sz="1100" u="none" cap="none" strike="noStrike"/>
          </a:p>
        </p:txBody>
      </p:sp>
      <p:sp>
        <p:nvSpPr>
          <p:cNvPr id="1731" name="Google Shape;1731;p58"/>
          <p:cNvSpPr/>
          <p:nvPr/>
        </p:nvSpPr>
        <p:spPr>
          <a:xfrm>
            <a:off x="781407" y="5123021"/>
            <a:ext cx="326400" cy="326400"/>
          </a:xfrm>
          <a:prstGeom prst="roundRect">
            <a:avLst>
              <a:gd fmla="val 18671" name="adj"/>
            </a:avLst>
          </a:prstGeom>
          <a:solidFill>
            <a:srgbClr val="CCEEFF"/>
          </a:solidFill>
          <a:ln cap="flat" cmpd="sng" w="9525">
            <a:solidFill>
              <a:srgbClr val="B2D4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2" name="Google Shape;1732;p58"/>
          <p:cNvSpPr/>
          <p:nvPr/>
        </p:nvSpPr>
        <p:spPr>
          <a:xfrm>
            <a:off x="830401" y="5143440"/>
            <a:ext cx="228600" cy="28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Petrona"/>
              <a:buNone/>
            </a:pPr>
            <a:r>
              <a:rPr b="1" i="0" lang="en-US" sz="175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5</a:t>
            </a:r>
            <a:endParaRPr b="0" i="0" sz="1750" u="none" cap="none" strike="noStrike"/>
          </a:p>
        </p:txBody>
      </p:sp>
      <p:sp>
        <p:nvSpPr>
          <p:cNvPr id="1733" name="Google Shape;1733;p58"/>
          <p:cNvSpPr/>
          <p:nvPr/>
        </p:nvSpPr>
        <p:spPr>
          <a:xfrm>
            <a:off x="1200626" y="5172908"/>
            <a:ext cx="37482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58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Petrona"/>
              <a:buNone/>
            </a:pPr>
            <a:r>
              <a:rPr b="1" i="0" lang="en-US" sz="145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Dual-EKF + RQNN achieves sub-metre drift</a:t>
            </a:r>
            <a:endParaRPr b="0" i="0" sz="1450" u="none" cap="none" strike="noStrike"/>
          </a:p>
        </p:txBody>
      </p:sp>
      <p:sp>
        <p:nvSpPr>
          <p:cNvPr id="1734" name="Google Shape;1734;p58"/>
          <p:cNvSpPr/>
          <p:nvPr/>
        </p:nvSpPr>
        <p:spPr>
          <a:xfrm>
            <a:off x="1200626" y="5466636"/>
            <a:ext cx="126483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1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0.4662 m final global drift over 144 s. GPS Innovation RMSE = 0.1225 m &lt; GPS σ = 0.5 m. Innovation is Gaussian (p &gt; 0.05): EKF assumptions confirmed consistent. System deployable on real Husarion Lynx UGV with NOAA-corrected magnetic declination.</a:t>
            </a:r>
            <a:endParaRPr b="0" i="0" sz="1100" u="none" cap="none" strike="noStrike"/>
          </a:p>
        </p:txBody>
      </p:sp>
      <p:sp>
        <p:nvSpPr>
          <p:cNvPr id="1735" name="Google Shape;1735;p58"/>
          <p:cNvSpPr/>
          <p:nvPr/>
        </p:nvSpPr>
        <p:spPr>
          <a:xfrm>
            <a:off x="781407" y="5951815"/>
            <a:ext cx="13067700" cy="1578900"/>
          </a:xfrm>
          <a:prstGeom prst="roundRect">
            <a:avLst>
              <a:gd fmla="val 3861" name="adj"/>
            </a:avLst>
          </a:prstGeom>
          <a:solidFill>
            <a:srgbClr val="CCEEFF"/>
          </a:solidFill>
          <a:ln cap="flat" cmpd="sng" w="9525">
            <a:solidFill>
              <a:srgbClr val="B2D4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6" name="Google Shape;1736;p58"/>
          <p:cNvSpPr/>
          <p:nvPr/>
        </p:nvSpPr>
        <p:spPr>
          <a:xfrm>
            <a:off x="789027" y="5959435"/>
            <a:ext cx="6526200" cy="774000"/>
          </a:xfrm>
          <a:prstGeom prst="roundRect">
            <a:avLst>
              <a:gd fmla="val 7874" name="adj"/>
            </a:avLst>
          </a:prstGeom>
          <a:solidFill>
            <a:srgbClr val="CCE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7" name="Google Shape;1737;p58"/>
          <p:cNvSpPr/>
          <p:nvPr/>
        </p:nvSpPr>
        <p:spPr>
          <a:xfrm>
            <a:off x="934045" y="6104453"/>
            <a:ext cx="19050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58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Petrona"/>
              <a:buNone/>
            </a:pPr>
            <a:r>
              <a:rPr b="1" i="0" lang="en-US" sz="145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0.4662 m</a:t>
            </a:r>
            <a:endParaRPr b="0" i="0" sz="1450" u="none" cap="none" strike="noStrike"/>
          </a:p>
        </p:txBody>
      </p:sp>
      <p:sp>
        <p:nvSpPr>
          <p:cNvPr id="1738" name="Google Shape;1738;p58"/>
          <p:cNvSpPr/>
          <p:nvPr/>
        </p:nvSpPr>
        <p:spPr>
          <a:xfrm>
            <a:off x="934045" y="6398181"/>
            <a:ext cx="62361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1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Final Drift</a:t>
            </a:r>
            <a:endParaRPr b="0" i="0" sz="1100" u="none" cap="none" strike="noStrike"/>
          </a:p>
        </p:txBody>
      </p:sp>
      <p:sp>
        <p:nvSpPr>
          <p:cNvPr id="1739" name="Google Shape;1739;p58"/>
          <p:cNvSpPr/>
          <p:nvPr/>
        </p:nvSpPr>
        <p:spPr>
          <a:xfrm>
            <a:off x="7315200" y="5959435"/>
            <a:ext cx="6526200" cy="774000"/>
          </a:xfrm>
          <a:prstGeom prst="rect">
            <a:avLst/>
          </a:prstGeom>
          <a:solidFill>
            <a:srgbClr val="CCE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0" name="Google Shape;1740;p58"/>
          <p:cNvSpPr/>
          <p:nvPr/>
        </p:nvSpPr>
        <p:spPr>
          <a:xfrm>
            <a:off x="7315200" y="5959435"/>
            <a:ext cx="15300" cy="774000"/>
          </a:xfrm>
          <a:prstGeom prst="roundRect">
            <a:avLst>
              <a:gd fmla="val 399977" name="adj"/>
            </a:avLst>
          </a:prstGeom>
          <a:solidFill>
            <a:srgbClr val="B2D4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1" name="Google Shape;1741;p58"/>
          <p:cNvSpPr/>
          <p:nvPr/>
        </p:nvSpPr>
        <p:spPr>
          <a:xfrm>
            <a:off x="7460218" y="6104453"/>
            <a:ext cx="19050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58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Petrona"/>
              <a:buNone/>
            </a:pPr>
            <a:r>
              <a:rPr b="1" i="0" lang="en-US" sz="145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75.6%</a:t>
            </a:r>
            <a:endParaRPr b="0" i="0" sz="1450" u="none" cap="none" strike="noStrike"/>
          </a:p>
        </p:txBody>
      </p:sp>
      <p:sp>
        <p:nvSpPr>
          <p:cNvPr id="1742" name="Google Shape;1742;p58"/>
          <p:cNvSpPr/>
          <p:nvPr/>
        </p:nvSpPr>
        <p:spPr>
          <a:xfrm>
            <a:off x="7460218" y="6398181"/>
            <a:ext cx="62361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1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IMU Noise Reduction</a:t>
            </a:r>
            <a:endParaRPr b="0" i="0" sz="1100" u="none" cap="none" strike="noStrike"/>
          </a:p>
        </p:txBody>
      </p:sp>
      <p:sp>
        <p:nvSpPr>
          <p:cNvPr id="1743" name="Google Shape;1743;p58"/>
          <p:cNvSpPr/>
          <p:nvPr/>
        </p:nvSpPr>
        <p:spPr>
          <a:xfrm>
            <a:off x="789027" y="6733580"/>
            <a:ext cx="6526200" cy="789300"/>
          </a:xfrm>
          <a:prstGeom prst="rect">
            <a:avLst/>
          </a:prstGeom>
          <a:solidFill>
            <a:srgbClr val="CCE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4" name="Google Shape;1744;p58"/>
          <p:cNvSpPr/>
          <p:nvPr/>
        </p:nvSpPr>
        <p:spPr>
          <a:xfrm>
            <a:off x="789027" y="6733580"/>
            <a:ext cx="6526200" cy="15300"/>
          </a:xfrm>
          <a:prstGeom prst="roundRect">
            <a:avLst>
              <a:gd fmla="val 399977" name="adj"/>
            </a:avLst>
          </a:prstGeom>
          <a:solidFill>
            <a:srgbClr val="B2D4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5" name="Google Shape;1745;p58"/>
          <p:cNvSpPr/>
          <p:nvPr/>
        </p:nvSpPr>
        <p:spPr>
          <a:xfrm>
            <a:off x="934045" y="6878598"/>
            <a:ext cx="19050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58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Petrona"/>
              <a:buNone/>
            </a:pPr>
            <a:r>
              <a:rPr b="1" i="0" lang="en-US" sz="145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0–2 samples</a:t>
            </a:r>
            <a:endParaRPr b="0" i="0" sz="1450" u="none" cap="none" strike="noStrike"/>
          </a:p>
        </p:txBody>
      </p:sp>
      <p:sp>
        <p:nvSpPr>
          <p:cNvPr id="1746" name="Google Shape;1746;p58"/>
          <p:cNvSpPr/>
          <p:nvPr/>
        </p:nvSpPr>
        <p:spPr>
          <a:xfrm>
            <a:off x="934045" y="7172325"/>
            <a:ext cx="62361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1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Phase Lag</a:t>
            </a:r>
            <a:endParaRPr b="0" i="0" sz="1100" u="none" cap="none" strike="noStrike"/>
          </a:p>
        </p:txBody>
      </p:sp>
      <p:sp>
        <p:nvSpPr>
          <p:cNvPr id="1747" name="Google Shape;1747;p58"/>
          <p:cNvSpPr/>
          <p:nvPr/>
        </p:nvSpPr>
        <p:spPr>
          <a:xfrm>
            <a:off x="7315200" y="6733580"/>
            <a:ext cx="6526200" cy="789300"/>
          </a:xfrm>
          <a:prstGeom prst="rect">
            <a:avLst/>
          </a:prstGeom>
          <a:solidFill>
            <a:srgbClr val="CCE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8" name="Google Shape;1748;p58"/>
          <p:cNvSpPr/>
          <p:nvPr/>
        </p:nvSpPr>
        <p:spPr>
          <a:xfrm>
            <a:off x="7315200" y="6733580"/>
            <a:ext cx="15300" cy="789300"/>
          </a:xfrm>
          <a:prstGeom prst="roundRect">
            <a:avLst>
              <a:gd fmla="val 399977" name="adj"/>
            </a:avLst>
          </a:prstGeom>
          <a:solidFill>
            <a:srgbClr val="B2D4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9" name="Google Shape;1749;p58"/>
          <p:cNvSpPr/>
          <p:nvPr/>
        </p:nvSpPr>
        <p:spPr>
          <a:xfrm>
            <a:off x="7315200" y="6733580"/>
            <a:ext cx="6526200" cy="15300"/>
          </a:xfrm>
          <a:prstGeom prst="roundRect">
            <a:avLst>
              <a:gd fmla="val 399977" name="adj"/>
            </a:avLst>
          </a:prstGeom>
          <a:solidFill>
            <a:srgbClr val="B2D4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0" name="Google Shape;1750;p58"/>
          <p:cNvSpPr/>
          <p:nvPr/>
        </p:nvSpPr>
        <p:spPr>
          <a:xfrm>
            <a:off x="7460218" y="6878598"/>
            <a:ext cx="1905000" cy="2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58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Petrona"/>
              <a:buNone/>
            </a:pPr>
            <a:r>
              <a:rPr b="1" i="0" lang="en-US" sz="145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Gaussian </a:t>
            </a:r>
            <a:r>
              <a:rPr b="1" i="0" lang="en-US" sz="145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✅</a:t>
            </a:r>
            <a:endParaRPr b="0" i="0" sz="1450" u="none" cap="none" strike="noStrike"/>
          </a:p>
        </p:txBody>
      </p:sp>
      <p:sp>
        <p:nvSpPr>
          <p:cNvPr id="1751" name="Google Shape;1751;p58"/>
          <p:cNvSpPr/>
          <p:nvPr/>
        </p:nvSpPr>
        <p:spPr>
          <a:xfrm>
            <a:off x="7460218" y="7187565"/>
            <a:ext cx="62361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1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Innovation Normality</a:t>
            </a:r>
            <a:endParaRPr b="0" i="0" sz="1100" u="none" cap="none" strike="noStrike"/>
          </a:p>
        </p:txBody>
      </p:sp>
      <p:sp>
        <p:nvSpPr>
          <p:cNvPr id="1752" name="Google Shape;1752;p58"/>
          <p:cNvSpPr/>
          <p:nvPr/>
        </p:nvSpPr>
        <p:spPr>
          <a:xfrm>
            <a:off x="12845075" y="7780725"/>
            <a:ext cx="1680600" cy="356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46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